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Name ifBash once. Then give the promise and do not read the slide.</a:t>
            </a:r>
          </a:p>
          <a:p>
            <a:endParaRPr lang="en-IN" dirty="0"/>
          </a:p>
          <a:p>
            <a:r>
              <a:rPr lang="en-IN" dirty="0"/>
              <a:t>"Owns" means three concrete things, and each gets its own slide later:</a:t>
            </a:r>
          </a:p>
          <a:p>
            <a:r>
              <a:rPr lang="en-IN" dirty="0"/>
              <a:t>- The college's name is on every screen.</a:t>
            </a:r>
          </a:p>
          <a:p>
            <a:r>
              <a:rPr lang="en-IN" dirty="0"/>
              <a:t>- The college's degree register decides who counts as an alumnus.</a:t>
            </a:r>
          </a:p>
          <a:p>
            <a:r>
              <a:rPr lang="en-IN" dirty="0"/>
              <a:t>- The college's administrator holds the member-data permissions. ifBash's own account cannot search, open or export member profiles. It can read the audit log, and slide 10 says exactly what that shows.</a:t>
            </a:r>
          </a:p>
          <a:p>
            <a:endParaRPr lang="en-IN" dirty="0"/>
          </a:p>
          <a:p>
            <a:r>
              <a:rPr lang="en-IN" dirty="0"/>
              <a:t>Say that everything they will see runs today on sample data, in a fictional demo college. Then say that you will be exact about what is still to come.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Ask the room three questions before you move on:</a:t>
            </a:r>
          </a:p>
          <a:p>
            <a:r>
              <a:rPr lang="en-IN" dirty="0"/>
              <a:t>1. Does the college use an alumni platform today, or did it use one before?</a:t>
            </a:r>
          </a:p>
          <a:p>
            <a:r>
              <a:rPr lang="en-IN" dirty="0"/>
              <a:t>2. Does anyone hold an export of that member list?</a:t>
            </a:r>
          </a:p>
          <a:p>
            <a:r>
              <a:rPr lang="en-IN" dirty="0"/>
              <a:t>3. Who in the college could find a 2015 graduate's current email this week?</a:t>
            </a:r>
          </a:p>
          <a:p>
            <a:endParaRPr lang="en-IN" dirty="0"/>
          </a:p>
          <a:p>
            <a:r>
              <a:rPr lang="en-IN" dirty="0"/>
              <a:t>Keep the DPDP point plain and do not give legal advice. The college decides why member data is collected, so the college is accountable for it. Do not name competitors on this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Most alumni portals only know about graduates. This one knows about the students who become them.</a:t>
            </a:r>
          </a:p>
          <a:p>
            <a:endParaRPr lang="en-IN" dirty="0"/>
          </a:p>
          <a:p>
            <a:r>
              <a:rPr lang="en-IN" dirty="0"/>
              <a:t>The request limits are not decoration. Hundreds of students writing freely to thousands of alumni is how an alumni network goes quiet. The server checks the limits on every request, so the app cannot bypass them.</a:t>
            </a:r>
          </a:p>
          <a:p>
            <a:endParaRPr lang="en-IN" dirty="0"/>
          </a:p>
          <a:p>
            <a:r>
              <a:rPr lang="en-IN" dirty="0"/>
              <a:t>If someone asks how students get their accounts, say it now: accounts come from the placement cell's final-year roll list, not from an open sign-up form. The tool that imports that list is not built yet, which is why step 01 carries the "Coming next" tag.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roles can combine. An alumnus who now teaches and heads a department holds three roles and gets exactly the union of the three.</a:t>
            </a:r>
          </a:p>
          <a:p>
            <a:endParaRPr lang="en-IN" dirty="0"/>
          </a:p>
          <a:p>
            <a:r>
              <a:rPr lang="en-IN" dirty="0"/>
              <a:t>- Finance reconciles giving and has no access to the directory at all.</a:t>
            </a:r>
          </a:p>
          <a:p>
            <a:r>
              <a:rPr lang="en-IN" dirty="0"/>
              <a:t>- The college administrator holds roles, branding, bulk export and the yearly rollover.</a:t>
            </a:r>
          </a:p>
          <a:p>
            <a:r>
              <a:rPr lang="en-IN" dirty="0"/>
              <a:t>- ifBash's own role gets its own slide (10).</a:t>
            </a:r>
          </a:p>
          <a:p>
            <a:endParaRPr lang="en-IN" dirty="0"/>
          </a:p>
          <a:p>
            <a:r>
              <a:rPr lang="en-IN" dirty="0"/>
              <a:t>The point for this room is that nobody gets access just because they are staff. Each role has only the access its work needs.</a:t>
            </a:r>
          </a:p>
          <a:p>
            <a:endParaRPr lang="en-IN" dirty="0"/>
          </a:p>
          <a:p>
            <a:r>
              <a:rPr lang="en-IN" dirty="0"/>
              <a:t>On "decide who sees your email and phone": the member's own setting governs every other member. The one exception is the college administrator, who can see contact details to keep the college's records. A bulk export by the administrator needs a written reason and is logged.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screens are from Tamarind Grove University, a fictional demo college. Say so once, clearly. The photo in the banner is illustrative stock.</a:t>
            </a:r>
          </a:p>
          <a:p>
            <a:endParaRPr lang="en-IN" dirty="0"/>
          </a:p>
          <a:p>
            <a:r>
              <a:rPr lang="en-IN" dirty="0"/>
              <a:t>- Top (home): the banner says "3 people are waiting for your reply" and has a Reply button. Below it are events, news and the "Give back to Tamarind" switches for mentoring, referrals and speaking. The alumnus's email and phone stay under their own privacy setting, whatever they switch on there.</a:t>
            </a:r>
          </a:p>
          <a:p>
            <a:r>
              <a:rPr lang="en-IN" dirty="0"/>
              <a:t>- Bottom (directory): the "Start here" shortcuts are your batch, your branch, near you, and open to mentoring. The 214 is demo data.</a:t>
            </a:r>
          </a:p>
          <a:p>
            <a:endParaRPr lang="en-IN" dirty="0"/>
          </a:p>
          <a:p>
            <a:r>
              <a:rPr lang="en-IN" dirty="0"/>
              <a:t>Every page you see here also comes in dark mode, worked out from the same colours. Hold that for slide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Phone (student home): "25 CSE alumni are open to mentoring. Ask before you apply." The allowance reads "4 requests available, 9 left this month". The limits come from the settings (five open, ten a month); the counts shown are demo data. The tab bar at the bottom holds Home, Mentorship, Requests, Jobs and More.</a:t>
            </a:r>
          </a:p>
          <a:p>
            <a:r>
              <a:rPr lang="en-IN" dirty="0"/>
              <a:t>- Top right (requests): the alumnus's side of the same requests. Each one shows the message, when it was sent and a closing date, with Accept, Decline and Block.</a:t>
            </a:r>
          </a:p>
          <a:p>
            <a:r>
              <a:rPr lang="en-IN" dirty="0"/>
              <a:t>- Bottom right (job): "Your way in" names the alumnus who posted the job. The apply panel says the poster sees the name, branch, batch and note, never the phone or email.</a:t>
            </a:r>
          </a:p>
          <a:p>
            <a:endParaRPr lang="en-IN" dirty="0"/>
          </a:p>
          <a:p>
            <a:r>
              <a:rPr lang="en-IN" dirty="0"/>
              <a:t>Be exact about closing. Each request is stamped with a date 14 days out, but nothing closes it yet, so an unanswered request keeps one of the student's five open slots until someone answers. Automatic closing is on the "Coming next" slide. The requests page still says a request "closes by itself after 14 days"; that line is cropped out of this slide, so do not open that page live until the product matches it.</a:t>
            </a:r>
          </a:p>
          <a:p>
            <a:endParaRPr lang="en-IN" dirty="0"/>
          </a:p>
          <a:p>
            <a:r>
              <a:rPr lang="en-IN" dirty="0"/>
              <a:t>The "Demo data" badge is hidden at phone width on purpose. If someone notices, say so. What a student sees about an alumnus's contact details is on slide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Phone (pass): the pass carries the check-in code, with Add to calendar and Directions.</a:t>
            </a:r>
          </a:p>
          <a:p>
            <a:r>
              <a:rPr lang="en-IN" dirty="0"/>
              <a:t>- Top right (event list): each event shows its seat state: "Only 2 left", "Full, ask for a seat" and "Alumni only".</a:t>
            </a:r>
          </a:p>
          <a:p>
            <a:r>
              <a:rPr lang="en-IN" dirty="0"/>
              <a:t>- Bottom right (door mode): the screen for a volunteer at a registration table. Search by name, batch or pass code, then Check in.</a:t>
            </a:r>
          </a:p>
          <a:p>
            <a:endParaRPr lang="en-IN" dirty="0"/>
          </a:p>
          <a:p>
            <a:r>
              <a:rPr lang="en-IN" dirty="0"/>
              <a:t>Ticket prices are shown and recorded today. Collecting money online needs Razorpay, which is on the "Coming next" list, so do not demo a payment. The event detail page and the full check-in desk are backups if anyone asks.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code is the same in both frames. Only the college's file differs: colours, typefaces, corner shape, photos and wording.</a:t>
            </a:r>
          </a:p>
          <a:p>
            <a:endParaRPr lang="en-IN" dirty="0"/>
          </a:p>
          <a:p>
            <a:r>
              <a:rPr lang="en-IN" dirty="0"/>
              <a:t>Both colleges are fictional. Tamarind Grove's photos are illustrative stock, and the people in them do not endorse the portal. Northgate's file has no photos, so its sign-in page shows a solid band in its own colour. That is what a real college sees before its photos arrive. Northgate's landing page is also switched off in the same file, which is why it opens straight on sign-in.</a:t>
            </a:r>
          </a:p>
          <a:p>
            <a:endParaRPr lang="en-IN" dirty="0"/>
          </a:p>
          <a:p>
            <a:r>
              <a:rPr lang="en-IN" dirty="0"/>
              <a:t>Adding a college takes three things: that file, one line in a registry and a subdomain. No screen, component or stylesheet is touched. ifBash is named in only two places: a "Powered by" line, which is itself a field in the file, and the privacy page.</a:t>
            </a:r>
          </a:p>
          <a:p>
            <a:endParaRPr lang="en-IN" dirty="0"/>
          </a:p>
          <a:p>
            <a:r>
              <a:rPr lang="en-IN" dirty="0"/>
              <a:t>On video: the file takes a 10 to 20 second silent loop, shown on desktop only. No demo college has one wired in yet. Show the slot, and do not promise a clip we have not shown.</a:t>
            </a:r>
          </a:p>
          <a:p>
            <a:endParaRPr lang="en-IN" dirty="0"/>
          </a:p>
          <a:p>
            <a:r>
              <a:rPr lang="en-IN" dirty="0"/>
              <a:t>If the college admin role comes up, the branding studio lets them preview and publish changes.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Without the register, every registration is a judgement call with no evidence behind it. With it, most registrations are a lookup.</a:t>
            </a:r>
          </a:p>
          <a:p>
            <a:endParaRPr lang="en-IN" dirty="0"/>
          </a:p>
          <a:p>
            <a:r>
              <a:rPr lang="en-IN" dirty="0"/>
              <a:t>The screen is a close call. Ramya registered under her married surname, and the register holds the name on her mark sheet. Roll number, branch, year of passing and admission year all match; the name is marked "Close", and the score is 75%. A person at the college approves, asks for a document, or rejects. The matcher does not decide this one.</a:t>
            </a:r>
          </a:p>
          <a:p>
            <a:endParaRPr lang="en-IN" dirty="0"/>
          </a:p>
          <a:p>
            <a:r>
              <a:rPr lang="en-IN" dirty="0"/>
              <a:t>A changed name, a supplementary exam or a lateral entry is not turned away. The college corrects the member record. The register itself is read-only: errors in it go back to the examinations branch, and come back as a corrected file.</a:t>
            </a:r>
          </a:p>
          <a:p>
            <a:endParaRPr lang="en-IN" dirty="0"/>
          </a:p>
          <a:p>
            <a:r>
              <a:rPr lang="en-IN" dirty="0"/>
              <a:t>The register loads with a dry run first. The dry run shows what will be added and what will be rejected before anything is written.</a:t>
            </a:r>
          </a:p>
          <a:p>
            <a:endParaRPr lang="en-IN" dirty="0"/>
          </a:p>
          <a:p>
            <a:r>
              <a:rPr lang="en-IN" dirty="0"/>
              <a:t>The matcher has been tested against married surnames, initials, transliteration, junk roll numbers, twins and an impostor. Its thresholds are provisional. They are tuned against each college's real register when it arrives.</a:t>
            </a:r>
          </a:p>
          <a:p>
            <a:endParaRPr lang="en-IN" dirty="0"/>
          </a:p>
          <a:p>
            <a:r>
              <a:rPr lang="en-IN" dirty="0"/>
              <a:t>Tell them the register is the longest-lead item, and ask the examinations branch for it this week.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Hiding a button is presentation. These rules are permissions, checked on the server on every request. The database schema separates colleges with row-level security, so isolation does not depend on application code remembering to filter.</a:t>
            </a:r>
          </a:p>
          <a:p>
            <a:endParaRPr lang="en-IN" dirty="0"/>
          </a:p>
          <a:p>
            <a:r>
              <a:rPr lang="en-IN" dirty="0"/>
              <a:t>- The contact card reads "Vandana shares this with Tamarind alumni and faculty". That is the two-yes rule on screen: the viewer is entitled, and the owner consented. The email and phone are blurred on the slide because they are generated demo values that could belong to a real person.</a:t>
            </a:r>
          </a:p>
          <a:p>
            <a:endParaRPr lang="en-IN" dirty="0"/>
          </a:p>
          <a:p>
            <a:r>
              <a:rPr lang="en-IN" dirty="0"/>
              <a:t>The one exception to the two-yes rule is the college administrator, who sees every member's contact details. The administrator's bulk export needs a written reason and goes into the audit log.</a:t>
            </a:r>
          </a:p>
          <a:p>
            <a:endParaRPr lang="en-IN" dirty="0"/>
          </a:p>
          <a:p>
            <a:r>
              <a:rPr lang="en-IN" dirty="0"/>
              <a:t>Be exact about ifBash. Our account has no permission to open a profile, search the directory, export contacts or see a data request, and automated tests hold that line. It can read the audit log, because someone has to be able to answer "who did what" during an incident. Audit entries keep the record an action changed: after an edit, a member's name, roll number, branch, batch, employer and city; for a registration, the applicant's email address. Say this before they find it. We found a gap here once and closed it, and the tests exist so it stays closed.</a:t>
            </a:r>
          </a:p>
          <a:p>
            <a:endParaRPr lang="en-IN" dirty="0"/>
          </a:p>
          <a:p>
            <a:r>
              <a:rPr lang="en-IN" dirty="0"/>
              <a:t>Consent is recorded along with the version of the privacy notice the member agreed to.</a:t>
            </a:r>
          </a:p>
          <a:p>
            <a:endParaRPr lang="en-IN" dirty="0"/>
          </a:p>
          <a:p>
            <a:r>
              <a:rPr lang="en-IN" dirty="0"/>
              <a:t>On data residency: the database and file storage are specified for AWS Mumbai (ap-south-1). The services that deliver email and WhatsApp messages, and where those services process them, are agreed with each college and named in its privacy notice.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Top (Today): the alumni cell operator's home. The reach grid shows, batch by batch, how much of the register has joined. Each batch that is furthest behind has a "Write to this batch" link.</a:t>
            </a:r>
          </a:p>
          <a:p>
            <a:r>
              <a:rPr lang="en-IN" dirty="0"/>
              <a:t>- Bottom (messages): the composer picks the audience by cohort, branch, city and batch range.</a:t>
            </a:r>
          </a:p>
          <a:p>
            <a:endParaRPr lang="en-IN" dirty="0"/>
          </a:p>
          <a:p>
            <a:r>
              <a:rPr lang="en-IN" dirty="0"/>
              <a:t>Today the composer drafts copy for WhatsApp groups. Email delivery and sending through the WhatsApp Business API are coming next. Do not open this demo college's channel card live: its file switches WhatsApp on, so the card describes template sending that is not built yet.</a:t>
            </a:r>
          </a:p>
          <a:p>
            <a:endParaRPr lang="en-IN" dirty="0"/>
          </a:p>
          <a:p>
            <a:r>
              <a:rPr lang="en-IN" dirty="0"/>
              <a:t>The alumni cell operator deliberately has no bulk export, no roles, no branding and no DPDP queue. Those belong to the college administrator. Staff leave, and an exportable directory would leave with them.</a:t>
            </a:r>
          </a:p>
          <a:p>
            <a:endParaRPr lang="en-IN" dirty="0"/>
          </a:p>
          <a:p>
            <a:r>
              <a:rPr lang="en-IN" dirty="0"/>
              <a:t>The audit log records who changed what and when, with the record before and after. The administrator also has a coverage report: the register against who has joined, by year of passing.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There are no dates on purpose. Two things set the pace: when the register arrives, and the college calendar. After that, once a year after convocation, the final-year batch moves to alumni in one reviewed step (slide 3).</a:t>
            </a:r>
          </a:p>
          <a:p>
            <a:endParaRPr lang="en-IN" dirty="0"/>
          </a:p>
          <a:p>
            <a:r>
              <a:rPr lang="en-IN" dirty="0"/>
              <a:t>- Phase 2: pick a recent batch. Their contacts are fresh, and any errors in the register surface early and in small numbers. The register is read-only in the portal: the alumni cell corrects member records, and register errors go back to the examinations branch, which sends a corrected file.</a:t>
            </a:r>
          </a:p>
          <a:p>
            <a:r>
              <a:rPr lang="en-IN" dirty="0"/>
              <a:t>- Phase 4: WhatsApp groups are where Indian alumni actually read. Batch groups already exist, and the portal already makes share links and copy-ready messages for them.</a:t>
            </a:r>
          </a:p>
          <a:p>
            <a:endParaRPr lang="en-IN" dirty="0"/>
          </a:p>
          <a:p>
            <a:r>
              <a:rPr lang="en-IN" dirty="0"/>
              <a:t>The export from a previous platform is urgent if that contract has lapsed, because a vendor may not keep data for long. Ask about it today. Say plainly that the tool to import it is not built yet: get the file now, and it is loaded when the importer is ready.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Option A suits a college without a team to run servers.</a:t>
            </a:r>
          </a:p>
          <a:p>
            <a:r>
              <a:rPr lang="en-IN" dirty="0"/>
              <a:t>- Option B suits a college whose policy keeps every system in-house.</a:t>
            </a:r>
          </a:p>
          <a:p>
            <a:endParaRPr lang="en-IN" dirty="0"/>
          </a:p>
          <a:p>
            <a:r>
              <a:rPr lang="en-IN" dirty="0"/>
              <a:t>Say this plainly for Option B. Everything slide 10 promises runs on the server, in our code: the permission checks, the separation between colleges in the database, the contact rules, the request limits and the audit log. A front end on its own carries none of it. If your backend runs the portal, your backend has to enforce those same rules, so scope that with your IT team before choosing.</a:t>
            </a:r>
          </a:p>
          <a:p>
            <a:endParaRPr lang="en-IN" dirty="0"/>
          </a:p>
          <a:p>
            <a:r>
              <a:rPr lang="en-IN" dirty="0"/>
              <a:t>The price depends on the option, which is why pricing comes after this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Demonstration mode is the portal running on sample data, and it is what they have been watching.</a:t>
            </a:r>
          </a:p>
          <a:p>
            <a:endParaRPr lang="en-IN" dirty="0"/>
          </a:p>
          <a:p>
            <a:r>
              <a:rPr lang="en-IN" dirty="0"/>
              <a:t>Today, forms check permissions, apply the limits and write the audit entry. They do not yet save to a live database. That is the first item under "Coming next".</a:t>
            </a:r>
          </a:p>
          <a:p>
            <a:endParaRPr lang="en-IN" dirty="0"/>
          </a:p>
          <a:p>
            <a:r>
              <a:rPr lang="en-IN" dirty="0"/>
              <a:t>The list is the main pieces, not a promise that nothing else will come up. Invite them to ask where each item stands against their own timeline. Do not give dates that ifBash has not committed 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Do not say a number until the owner has filled the blanks.</a:t>
            </a:r>
          </a:p>
          <a:p>
            <a:endParaRPr lang="en-IN" dirty="0"/>
          </a:p>
          <a:p>
            <a:r>
              <a:rPr lang="en-IN" dirty="0"/>
              <a:t>The ifBash ops rate card is for consulting day rates. It does not apply here, so do not quote from it.</a:t>
            </a:r>
          </a:p>
          <a:p>
            <a:endParaRPr lang="en-IN" dirty="0"/>
          </a:p>
          <a:p>
            <a:r>
              <a:rPr lang="en-IN" dirty="0"/>
              <a:t>If they press, repeat that the price is quoted after a conversation about two things: the college's size and the deployment option.</a:t>
            </a:r>
          </a:p>
          <a:p>
            <a:endParaRPr lang="en-IN" dirty="0"/>
          </a:p>
          <a:p>
            <a:r>
              <a:rPr lang="en-IN" dirty="0"/>
              <a:t>Slide 2 said hosted platforms lapse and keep the member list. Answer it here before they ask. The administrator's export works today and is logged. The exit handover (what file, in what format, within how many days) is not agreed yet, so offer to write it into the contract rather than promising terms on the 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Name the next step and who owns each part:</a:t>
            </a:r>
          </a:p>
          <a:p>
            <a:r>
              <a:rPr lang="en-IN" dirty="0"/>
              <a:t>- Who sends the crest and colours.</a:t>
            </a:r>
          </a:p>
          <a:p>
            <a:r>
              <a:rPr lang="en-IN" dirty="0"/>
              <a:t>- Who asks the examinations branch for the register.</a:t>
            </a:r>
          </a:p>
          <a:p>
            <a:r>
              <a:rPr lang="en-IN" dirty="0"/>
              <a:t>- When the demo in their own colours happens.</a:t>
            </a:r>
          </a:p>
          <a:p>
            <a:endParaRPr lang="en-IN" dirty="0"/>
          </a:p>
          <a:p>
            <a:r>
              <a:rPr lang="en-IN" dirty="0"/>
              <a:t>When they write, three facts are enough: the college's name, their role, and roughly how many alumni the college has. Then stop talking.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132A"/>
        </a:solidFill>
      </p:bgPr>
    </p:bg>
    <p:spTree>
      <p:nvGrpSpPr>
        <p:cNvPr id="1" name=""/>
        <p:cNvGrpSpPr/>
        <p:nvPr/>
      </p:nvGrpSpPr>
      <p:grpSpPr>
        <a:xfrm>
          <a:off x="0" y="0"/>
          <a:ext cx="0" cy="0"/>
          <a:chOff x="0" y="0"/>
          <a:chExt cx="0" cy="0"/>
        </a:xfrm>
      </p:grpSpPr>
      <p:pic>
        <p:nvPicPr>
          <p:cNvPr id="2" name="Image 0" descr="ifBash">    </p:cNvPr>
          <p:cNvPicPr>
            <a:picLocks noChangeAspect="1"/>
          </p:cNvPicPr>
          <p:nvPr/>
        </p:nvPicPr>
        <p:blipFill>
          <a:blip r:embed="rId1"/>
          <a:stretch>
            <a:fillRect/>
          </a:stretch>
        </p:blipFill>
        <p:spPr>
          <a:xfrm>
            <a:off x="825520" y="761970"/>
            <a:ext cx="1777959" cy="529803"/>
          </a:xfrm>
          <a:prstGeom prst="rect">
            <a:avLst/>
          </a:prstGeom>
        </p:spPr>
      </p:pic>
      <p:sp>
        <p:nvSpPr>
          <p:cNvPr id="3" name="Text 0"/>
          <p:cNvSpPr txBox="1"/>
          <p:nvPr/>
        </p:nvSpPr>
        <p:spPr>
          <a:xfrm>
            <a:off x="825520" y="1982602"/>
            <a:ext cx="10541020" cy="215890"/>
          </a:xfrm>
          <a:prstGeom prst="rect">
            <a:avLst/>
          </a:prstGeom>
          <a:noFill/>
          <a:ln/>
        </p:spPr>
        <p:txBody>
          <a:bodyPr wrap="none" lIns="0" tIns="0" rIns="0" bIns="0" rtlCol="0" anchor="t"/>
          <a:lstStyle/>
          <a:p>
            <a:pPr algn="l" indent="0" marL="0">
              <a:lnSpc>
                <a:spcPts val="1560"/>
              </a:lnSpc>
              <a:buNone/>
            </a:pPr>
            <a:r>
              <a:rPr lang="en-IN" altLang="en-US" cap="all" sz="1300" spc="312" kern="0" dirty="0">
                <a:solidFill>
                  <a:srgbClr val="E88AA3"/>
                </a:solidFill>
                <a:latin typeface="Consolas" pitchFamily="34" charset="0"/>
                <a:ea typeface="Consolas" pitchFamily="34" charset="-122"/>
                <a:cs typeface="Consolas" pitchFamily="34" charset="-120"/>
              </a:rPr>
              <a:t>Alumni portal for Indian engineering colleges</a:t>
            </a:r>
            <a:endParaRPr lang="en-US" sz="1300" dirty="0"/>
          </a:p>
        </p:txBody>
      </p:sp>
      <p:sp>
        <p:nvSpPr>
          <p:cNvPr id="4" name="Text 1"/>
          <p:cNvSpPr txBox="1"/>
          <p:nvPr/>
        </p:nvSpPr>
        <p:spPr>
          <a:xfrm>
            <a:off x="825520" y="2439802"/>
            <a:ext cx="9061887" cy="1422441"/>
          </a:xfrm>
          <a:prstGeom prst="rect">
            <a:avLst/>
          </a:prstGeom>
          <a:noFill/>
          <a:ln/>
        </p:spPr>
        <p:txBody>
          <a:bodyPr wrap="square" lIns="0" tIns="0" rIns="0" bIns="0" rtlCol="0" anchor="t"/>
          <a:lstStyle/>
          <a:p>
            <a:pPr algn="l" indent="0" marL="0">
              <a:lnSpc>
                <a:spcPts val="5600"/>
              </a:lnSpc>
              <a:buNone/>
            </a:pPr>
            <a:r>
              <a:rPr lang="en-IN" altLang="en-US" sz="5600" b="1" spc="-142" kern="0" dirty="0">
                <a:solidFill>
                  <a:srgbClr val="FBF8F4"/>
                </a:solidFill>
                <a:latin typeface="+mj-lt" pitchFamily="34" charset="0"/>
                <a:ea typeface="+mj-ea" pitchFamily="34" charset="-122"/>
                <a:cs typeface="+mj-cs" pitchFamily="34" charset="-120"/>
              </a:rPr>
              <a:t>The alumni network your college actually owns.</a:t>
            </a:r>
            <a:endParaRPr lang="en-US" sz="5600" dirty="0"/>
          </a:p>
        </p:txBody>
      </p:sp>
      <p:sp>
        <p:nvSpPr>
          <p:cNvPr id="5" name="Text 2"/>
          <p:cNvSpPr txBox="1"/>
          <p:nvPr/>
        </p:nvSpPr>
        <p:spPr>
          <a:xfrm>
            <a:off x="825520" y="4103461"/>
            <a:ext cx="5933267" cy="971550"/>
          </a:xfrm>
          <a:prstGeom prst="rect">
            <a:avLst/>
          </a:prstGeom>
          <a:noFill/>
          <a:ln/>
        </p:spPr>
        <p:txBody>
          <a:bodyPr wrap="square" lIns="0" tIns="0" rIns="0" bIns="0" rtlCol="0" anchor="t"/>
          <a:lstStyle/>
          <a:p>
            <a:pPr algn="l" indent="0" marL="0">
              <a:lnSpc>
                <a:spcPts val="2550"/>
              </a:lnSpc>
              <a:buNone/>
            </a:pPr>
            <a:r>
              <a:rPr lang="en-IN" altLang="en-US" sz="1700" dirty="0">
                <a:solidFill>
                  <a:srgbClr val="A9B0B8"/>
                </a:solidFill>
                <a:latin typeface="+mn-lt" pitchFamily="34" charset="0"/>
                <a:ea typeface="+mn-ea" pitchFamily="34" charset="-122"/>
                <a:cs typeface="+mn-cs" pitchFamily="34" charset="-120"/>
              </a:rPr>
              <a:t>One network for your final-year students and alumni, in your college’s name and colours, checked against your degree register.</a:t>
            </a:r>
            <a:endParaRPr lang="en-US" sz="1700" dirty="0"/>
          </a:p>
        </p:txBody>
      </p:sp>
      <p:sp>
        <p:nvSpPr>
          <p:cNvPr id="6" name="Shape 3"/>
          <p:cNvSpPr/>
          <p:nvPr/>
        </p:nvSpPr>
        <p:spPr>
          <a:xfrm>
            <a:off x="825520" y="5768950"/>
            <a:ext cx="10541020" cy="0"/>
          </a:xfrm>
          <a:prstGeom prst="line">
            <a:avLst/>
          </a:prstGeom>
          <a:noFill/>
          <a:ln w="6350">
            <a:solidFill>
              <a:srgbClr val="3A2842"/>
            </a:solidFill>
            <a:prstDash val="solid"/>
          </a:ln>
        </p:spPr>
      </p:sp>
      <p:sp>
        <p:nvSpPr>
          <p:cNvPr id="7" name="Text 4"/>
          <p:cNvSpPr txBox="1"/>
          <p:nvPr/>
        </p:nvSpPr>
        <p:spPr>
          <a:xfrm>
            <a:off x="825520" y="5975330"/>
            <a:ext cx="6688836" cy="184160"/>
          </a:xfrm>
          <a:prstGeom prst="rect">
            <a:avLst/>
          </a:prstGeom>
          <a:noFill/>
          <a:ln/>
        </p:spPr>
        <p:txBody>
          <a:bodyPr wrap="none" lIns="0" tIns="0" rIns="0" bIns="0" rtlCol="0" anchor="t"/>
          <a:lstStyle/>
          <a:p>
            <a:pPr algn="l" indent="0" marL="0">
              <a:lnSpc>
                <a:spcPts val="1320"/>
              </a:lnSpc>
              <a:buNone/>
            </a:pPr>
            <a:r>
              <a:rPr lang="en-IN" altLang="en-US" cap="all" sz="1100" spc="176" kern="0" dirty="0">
                <a:solidFill>
                  <a:srgbClr val="A9B0B8"/>
                </a:solidFill>
                <a:latin typeface="Consolas" pitchFamily="34" charset="0"/>
                <a:ea typeface="Consolas" pitchFamily="34" charset="-122"/>
                <a:cs typeface="Consolas" pitchFamily="34" charset="-120"/>
              </a:rPr>
              <a:t>Built by ifBash, Vijayawada · [Presenter, role] · [DD Mon YYYY]</a:t>
            </a:r>
            <a:endParaRPr lang="en-US" sz="1100" dirty="0"/>
          </a:p>
        </p:txBody>
      </p:sp>
      <p:sp>
        <p:nvSpPr>
          <p:cNvPr id="8" name="Text 5"/>
          <p:cNvSpPr txBox="1"/>
          <p:nvPr/>
        </p:nvSpPr>
        <p:spPr>
          <a:xfrm>
            <a:off x="10304739" y="5975330"/>
            <a:ext cx="1061710" cy="184160"/>
          </a:xfrm>
          <a:prstGeom prst="rect">
            <a:avLst/>
          </a:prstGeom>
          <a:noFill/>
          <a:ln/>
        </p:spPr>
        <p:txBody>
          <a:bodyPr wrap="none" lIns="0" tIns="0" rIns="0" bIns="0" rtlCol="0" anchor="t"/>
          <a:lstStyle/>
          <a:p>
            <a:pPr algn="l" indent="0" marL="0">
              <a:lnSpc>
                <a:spcPts val="1320"/>
              </a:lnSpc>
              <a:buNone/>
            </a:pPr>
            <a:r>
              <a:rPr lang="en-IN" altLang="en-US" cap="all" sz="1100" spc="176" kern="0" dirty="0">
                <a:solidFill>
                  <a:srgbClr val="A9B0B8"/>
                </a:solidFill>
                <a:latin typeface="Consolas" pitchFamily="34" charset="0"/>
                <a:ea typeface="Consolas" pitchFamily="34" charset="-122"/>
                <a:cs typeface="Consolas" pitchFamily="34" charset="-120"/>
              </a:rPr>
              <a:t>ifbash.com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The problem</a:t>
            </a:r>
            <a:endParaRPr lang="en-US" sz="1200" dirty="0"/>
          </a:p>
        </p:txBody>
      </p:sp>
      <p:sp>
        <p:nvSpPr>
          <p:cNvPr id="3" name="Text 1"/>
          <p:cNvSpPr txBox="1"/>
          <p:nvPr/>
        </p:nvSpPr>
        <p:spPr>
          <a:xfrm>
            <a:off x="761970" y="901690"/>
            <a:ext cx="10351008" cy="853318"/>
          </a:xfrm>
          <a:prstGeom prst="rect">
            <a:avLst/>
          </a:prstGeom>
          <a:noFill/>
          <a:ln/>
        </p:spPr>
        <p:txBody>
          <a:bodyPr wrap="square" lIns="0" tIns="0" rIns="0" bIns="0" rtlCol="0" anchor="t"/>
          <a:lstStyle/>
          <a:p>
            <a:pPr algn="l" indent="0" marL="0">
              <a:lnSpc>
                <a:spcPts val="3360"/>
              </a:lnSpc>
              <a:buNone/>
            </a:pPr>
            <a:r>
              <a:rPr lang="en-IN" altLang="en-US" sz="3200" b="1" spc="-74" kern="0" dirty="0">
                <a:solidFill>
                  <a:srgbClr val="2A1830"/>
                </a:solidFill>
                <a:latin typeface="+mj-lt" pitchFamily="34" charset="0"/>
                <a:ea typeface="+mj-ea" pitchFamily="34" charset="-122"/>
                <a:cs typeface="+mj-cs" pitchFamily="34" charset="-120"/>
              </a:rPr>
              <a:t>A college loses touch with each batch at convocation, and the usual fixes do not hold it.</a:t>
            </a:r>
            <a:endParaRPr lang="en-US" sz="3200" dirty="0"/>
          </a:p>
        </p:txBody>
      </p:sp>
      <p:sp>
        <p:nvSpPr>
          <p:cNvPr id="4" name="Shape 2"/>
          <p:cNvSpPr/>
          <p:nvPr/>
        </p:nvSpPr>
        <p:spPr>
          <a:xfrm>
            <a:off x="761970" y="5560649"/>
            <a:ext cx="10668030" cy="0"/>
          </a:xfrm>
          <a:prstGeom prst="line">
            <a:avLst/>
          </a:prstGeom>
          <a:noFill/>
          <a:ln w="6350">
            <a:solidFill>
              <a:srgbClr val="E8DED6"/>
            </a:solidFill>
            <a:prstDash val="solid"/>
          </a:ln>
        </p:spPr>
      </p:sp>
      <p:sp>
        <p:nvSpPr>
          <p:cNvPr id="5" name="Shape 3"/>
          <p:cNvSpPr/>
          <p:nvPr/>
        </p:nvSpPr>
        <p:spPr>
          <a:xfrm>
            <a:off x="761970" y="2106229"/>
            <a:ext cx="10668030" cy="0"/>
          </a:xfrm>
          <a:prstGeom prst="line">
            <a:avLst/>
          </a:prstGeom>
          <a:noFill/>
          <a:ln w="6350">
            <a:solidFill>
              <a:srgbClr val="E8DED6"/>
            </a:solidFill>
            <a:prstDash val="solid"/>
          </a:ln>
        </p:spPr>
      </p:sp>
      <p:sp>
        <p:nvSpPr>
          <p:cNvPr id="6" name="Text 4"/>
          <p:cNvSpPr txBox="1"/>
          <p:nvPr/>
        </p:nvSpPr>
        <p:spPr>
          <a:xfrm>
            <a:off x="761970" y="2261768"/>
            <a:ext cx="3556010" cy="265450"/>
          </a:xfrm>
          <a:prstGeom prst="rect">
            <a:avLst/>
          </a:prstGeom>
          <a:noFill/>
          <a:ln/>
        </p:spPr>
        <p:txBody>
          <a:bodyPr wrap="none" lIns="0" tIns="0" rIns="0" bIns="0" rtlCol="0" anchor="t"/>
          <a:lstStyle/>
          <a:p>
            <a:pPr algn="l" indent="0" marL="0">
              <a:lnSpc>
                <a:spcPts val="2090"/>
              </a:lnSpc>
              <a:buNone/>
            </a:pPr>
            <a:r>
              <a:rPr lang="en-IN" altLang="en-US" sz="1900" b="1" spc="-38" kern="0" dirty="0">
                <a:solidFill>
                  <a:srgbClr val="2A1830"/>
                </a:solidFill>
                <a:latin typeface="+mj-lt" pitchFamily="34" charset="0"/>
                <a:ea typeface="+mj-ea" pitchFamily="34" charset="-122"/>
                <a:cs typeface="+mj-cs" pitchFamily="34" charset="-120"/>
              </a:rPr>
              <a:t>Alumni drift.</a:t>
            </a:r>
            <a:endParaRPr lang="en-US" sz="1900" dirty="0"/>
          </a:p>
        </p:txBody>
      </p:sp>
      <p:sp>
        <p:nvSpPr>
          <p:cNvPr id="7" name="Text 5"/>
          <p:cNvSpPr txBox="1"/>
          <p:nvPr/>
        </p:nvSpPr>
        <p:spPr>
          <a:xfrm>
            <a:off x="4622841" y="2287189"/>
            <a:ext cx="7188190" cy="514350"/>
          </a:xfrm>
          <a:prstGeom prst="rect">
            <a:avLst/>
          </a:prstGeom>
          <a:noFill/>
          <a:ln/>
        </p:spPr>
        <p:txBody>
          <a:bodyPr wrap="square" lIns="0" tIns="0" rIns="0" bIns="0" rtlCol="0" anchor="t"/>
          <a:lstStyle/>
          <a:p>
            <a:pPr algn="l" indent="0" marL="0">
              <a:lnSpc>
                <a:spcPts val="2025"/>
              </a:lnSpc>
              <a:buNone/>
            </a:pPr>
            <a:r>
              <a:rPr lang="en-IN" altLang="en-US" sz="1350" dirty="0">
                <a:solidFill>
                  <a:srgbClr val="54455C"/>
                </a:solidFill>
                <a:latin typeface="+mn-lt" pitchFamily="34" charset="0"/>
                <a:ea typeface="+mn-ea" pitchFamily="34" charset="-122"/>
                <a:cs typeface="+mn-cs" pitchFamily="34" charset="-120"/>
              </a:rPr>
              <a:t>After convocation the college keeps a roll number and an old email address. Nothing brings the graduate back.</a:t>
            </a:r>
            <a:endParaRPr lang="en-US" sz="1350" dirty="0"/>
          </a:p>
        </p:txBody>
      </p:sp>
      <p:sp>
        <p:nvSpPr>
          <p:cNvPr id="8" name="Shape 6"/>
          <p:cNvSpPr/>
          <p:nvPr/>
        </p:nvSpPr>
        <p:spPr>
          <a:xfrm>
            <a:off x="761970" y="2969788"/>
            <a:ext cx="10668030" cy="0"/>
          </a:xfrm>
          <a:prstGeom prst="line">
            <a:avLst/>
          </a:prstGeom>
          <a:noFill/>
          <a:ln w="6350">
            <a:solidFill>
              <a:srgbClr val="E8DED6"/>
            </a:solidFill>
            <a:prstDash val="solid"/>
          </a:ln>
        </p:spPr>
      </p:sp>
      <p:sp>
        <p:nvSpPr>
          <p:cNvPr id="9" name="Text 7"/>
          <p:cNvSpPr txBox="1"/>
          <p:nvPr/>
        </p:nvSpPr>
        <p:spPr>
          <a:xfrm>
            <a:off x="761970" y="3125419"/>
            <a:ext cx="3556010" cy="265450"/>
          </a:xfrm>
          <a:prstGeom prst="rect">
            <a:avLst/>
          </a:prstGeom>
          <a:noFill/>
          <a:ln/>
        </p:spPr>
        <p:txBody>
          <a:bodyPr wrap="none" lIns="0" tIns="0" rIns="0" bIns="0" rtlCol="0" anchor="t"/>
          <a:lstStyle/>
          <a:p>
            <a:pPr algn="l" indent="0" marL="0">
              <a:lnSpc>
                <a:spcPts val="2090"/>
              </a:lnSpc>
              <a:buNone/>
            </a:pPr>
            <a:r>
              <a:rPr lang="en-IN" altLang="en-US" sz="1900" b="1" spc="-38" kern="0" dirty="0">
                <a:solidFill>
                  <a:srgbClr val="2A1830"/>
                </a:solidFill>
                <a:latin typeface="+mj-lt" pitchFamily="34" charset="0"/>
                <a:ea typeface="+mj-ea" pitchFamily="34" charset="-122"/>
                <a:cs typeface="+mj-cs" pitchFamily="34" charset="-120"/>
              </a:rPr>
              <a:t>Final-years need referrals.</a:t>
            </a:r>
            <a:endParaRPr lang="en-US" sz="1900" dirty="0"/>
          </a:p>
        </p:txBody>
      </p:sp>
      <p:sp>
        <p:nvSpPr>
          <p:cNvPr id="10" name="Text 8"/>
          <p:cNvSpPr txBox="1"/>
          <p:nvPr/>
        </p:nvSpPr>
        <p:spPr>
          <a:xfrm>
            <a:off x="4622841" y="3150748"/>
            <a:ext cx="7188190" cy="514350"/>
          </a:xfrm>
          <a:prstGeom prst="rect">
            <a:avLst/>
          </a:prstGeom>
          <a:noFill/>
          <a:ln/>
        </p:spPr>
        <p:txBody>
          <a:bodyPr wrap="square" lIns="0" tIns="0" rIns="0" bIns="0" rtlCol="0" anchor="t"/>
          <a:lstStyle/>
          <a:p>
            <a:pPr algn="l" indent="0" marL="0">
              <a:lnSpc>
                <a:spcPts val="2025"/>
              </a:lnSpc>
              <a:buNone/>
            </a:pPr>
            <a:r>
              <a:rPr lang="en-IN" altLang="en-US" sz="1350" dirty="0">
                <a:solidFill>
                  <a:srgbClr val="54455C"/>
                </a:solidFill>
                <a:latin typeface="+mn-lt" pitchFamily="34" charset="0"/>
                <a:ea typeface="+mn-ea" pitchFamily="34" charset="-122"/>
                <a:cs typeface="+mn-cs" pitchFamily="34" charset="-120"/>
              </a:rPr>
              <a:t>The people best placed to give them are recent graduates the college can no longer reach.</a:t>
            </a:r>
            <a:endParaRPr lang="en-US" sz="1350" dirty="0"/>
          </a:p>
        </p:txBody>
      </p:sp>
      <p:sp>
        <p:nvSpPr>
          <p:cNvPr id="11" name="Shape 9"/>
          <p:cNvSpPr/>
          <p:nvPr/>
        </p:nvSpPr>
        <p:spPr>
          <a:xfrm>
            <a:off x="761970" y="3833439"/>
            <a:ext cx="10668030" cy="0"/>
          </a:xfrm>
          <a:prstGeom prst="line">
            <a:avLst/>
          </a:prstGeom>
          <a:noFill/>
          <a:ln w="6350">
            <a:solidFill>
              <a:srgbClr val="E8DED6"/>
            </a:solidFill>
            <a:prstDash val="solid"/>
          </a:ln>
        </p:spPr>
      </p:sp>
      <p:sp>
        <p:nvSpPr>
          <p:cNvPr id="12" name="Text 10"/>
          <p:cNvSpPr txBox="1"/>
          <p:nvPr/>
        </p:nvSpPr>
        <p:spPr>
          <a:xfrm>
            <a:off x="761970" y="3988979"/>
            <a:ext cx="3556010" cy="265450"/>
          </a:xfrm>
          <a:prstGeom prst="rect">
            <a:avLst/>
          </a:prstGeom>
          <a:noFill/>
          <a:ln/>
        </p:spPr>
        <p:txBody>
          <a:bodyPr wrap="none" lIns="0" tIns="0" rIns="0" bIns="0" rtlCol="0" anchor="t"/>
          <a:lstStyle/>
          <a:p>
            <a:pPr algn="l" indent="0" marL="0">
              <a:lnSpc>
                <a:spcPts val="2090"/>
              </a:lnSpc>
              <a:buNone/>
            </a:pPr>
            <a:r>
              <a:rPr lang="en-IN" altLang="en-US" sz="1900" b="1" spc="-38" kern="0" dirty="0">
                <a:solidFill>
                  <a:srgbClr val="2A1830"/>
                </a:solidFill>
                <a:latin typeface="+mj-lt" pitchFamily="34" charset="0"/>
                <a:ea typeface="+mj-ea" pitchFamily="34" charset="-122"/>
                <a:cs typeface="+mj-cs" pitchFamily="34" charset="-120"/>
              </a:rPr>
              <a:t>Hosted platforms lapse.</a:t>
            </a:r>
            <a:endParaRPr lang="en-US" sz="1900" dirty="0"/>
          </a:p>
        </p:txBody>
      </p:sp>
      <p:sp>
        <p:nvSpPr>
          <p:cNvPr id="13" name="Text 11"/>
          <p:cNvSpPr txBox="1"/>
          <p:nvPr/>
        </p:nvSpPr>
        <p:spPr>
          <a:xfrm>
            <a:off x="4622841" y="4014399"/>
            <a:ext cx="7188190" cy="514350"/>
          </a:xfrm>
          <a:prstGeom prst="rect">
            <a:avLst/>
          </a:prstGeom>
          <a:noFill/>
          <a:ln/>
        </p:spPr>
        <p:txBody>
          <a:bodyPr wrap="square" lIns="0" tIns="0" rIns="0" bIns="0" rtlCol="0" anchor="t"/>
          <a:lstStyle/>
          <a:p>
            <a:pPr algn="l" indent="0" marL="0">
              <a:lnSpc>
                <a:spcPts val="2025"/>
              </a:lnSpc>
              <a:buNone/>
            </a:pPr>
            <a:r>
              <a:rPr lang="en-IN" altLang="en-US" sz="1350" dirty="0">
                <a:solidFill>
                  <a:srgbClr val="54455C"/>
                </a:solidFill>
                <a:latin typeface="+mn-lt" pitchFamily="34" charset="0"/>
                <a:ea typeface="+mn-ea" pitchFamily="34" charset="-122"/>
                <a:cs typeface="+mn-cs" pitchFamily="34" charset="-120"/>
              </a:rPr>
              <a:t>When the subscription ends, the member list stays with the vendor unless someone exported it in time.</a:t>
            </a:r>
            <a:endParaRPr lang="en-US" sz="1350" dirty="0"/>
          </a:p>
        </p:txBody>
      </p:sp>
      <p:sp>
        <p:nvSpPr>
          <p:cNvPr id="14" name="Shape 12"/>
          <p:cNvSpPr/>
          <p:nvPr/>
        </p:nvSpPr>
        <p:spPr>
          <a:xfrm>
            <a:off x="761970" y="4696998"/>
            <a:ext cx="10668030" cy="0"/>
          </a:xfrm>
          <a:prstGeom prst="line">
            <a:avLst/>
          </a:prstGeom>
          <a:noFill/>
          <a:ln w="6350">
            <a:solidFill>
              <a:srgbClr val="E8DED6"/>
            </a:solidFill>
            <a:prstDash val="solid"/>
          </a:ln>
        </p:spPr>
      </p:sp>
      <p:sp>
        <p:nvSpPr>
          <p:cNvPr id="15" name="Text 13"/>
          <p:cNvSpPr txBox="1"/>
          <p:nvPr/>
        </p:nvSpPr>
        <p:spPr>
          <a:xfrm>
            <a:off x="761970" y="4852629"/>
            <a:ext cx="3556010" cy="265450"/>
          </a:xfrm>
          <a:prstGeom prst="rect">
            <a:avLst/>
          </a:prstGeom>
          <a:noFill/>
          <a:ln/>
        </p:spPr>
        <p:txBody>
          <a:bodyPr wrap="none" lIns="0" tIns="0" rIns="0" bIns="0" rtlCol="0" anchor="t"/>
          <a:lstStyle/>
          <a:p>
            <a:pPr algn="l" indent="0" marL="0">
              <a:lnSpc>
                <a:spcPts val="2090"/>
              </a:lnSpc>
              <a:buNone/>
            </a:pPr>
            <a:r>
              <a:rPr lang="en-IN" altLang="en-US" sz="1900" b="1" spc="-38" kern="0" dirty="0">
                <a:solidFill>
                  <a:srgbClr val="2A1830"/>
                </a:solidFill>
                <a:latin typeface="+mj-lt" pitchFamily="34" charset="0"/>
                <a:ea typeface="+mj-ea" pitchFamily="34" charset="-122"/>
                <a:cs typeface="+mj-cs" pitchFamily="34" charset="-120"/>
              </a:rPr>
              <a:t>An open directory is a liability.</a:t>
            </a:r>
            <a:endParaRPr lang="en-US" sz="1900" dirty="0"/>
          </a:p>
        </p:txBody>
      </p:sp>
      <p:sp>
        <p:nvSpPr>
          <p:cNvPr id="16" name="Text 14"/>
          <p:cNvSpPr txBox="1"/>
          <p:nvPr/>
        </p:nvSpPr>
        <p:spPr>
          <a:xfrm>
            <a:off x="4622841" y="4877958"/>
            <a:ext cx="7188190" cy="514350"/>
          </a:xfrm>
          <a:prstGeom prst="rect">
            <a:avLst/>
          </a:prstGeom>
          <a:noFill/>
          <a:ln/>
        </p:spPr>
        <p:txBody>
          <a:bodyPr wrap="square" lIns="0" tIns="0" rIns="0" bIns="0" rtlCol="0" anchor="t"/>
          <a:lstStyle/>
          <a:p>
            <a:pPr algn="l" indent="0" marL="0">
              <a:lnSpc>
                <a:spcPts val="2025"/>
              </a:lnSpc>
              <a:buNone/>
            </a:pPr>
            <a:r>
              <a:rPr lang="en-IN" altLang="en-US" sz="1350" dirty="0">
                <a:solidFill>
                  <a:srgbClr val="54455C"/>
                </a:solidFill>
                <a:latin typeface="+mn-lt" pitchFamily="34" charset="0"/>
                <a:ea typeface="+mn-ea" pitchFamily="34" charset="-122"/>
                <a:cs typeface="+mn-cs" pitchFamily="34" charset="-120"/>
              </a:rPr>
              <a:t>A public list of names, batches and employers is easy to scrape. Under the DPDP Act, the college answers for it.</a:t>
            </a:r>
            <a:endParaRPr lang="en-US" sz="1350" dirty="0"/>
          </a:p>
        </p:txBody>
      </p:sp>
      <p:sp>
        <p:nvSpPr>
          <p:cNvPr id="17" name="Shape 15"/>
          <p:cNvSpPr/>
          <p:nvPr/>
        </p:nvSpPr>
        <p:spPr>
          <a:xfrm>
            <a:off x="761970" y="5915071"/>
            <a:ext cx="10668030" cy="0"/>
          </a:xfrm>
          <a:prstGeom prst="line">
            <a:avLst/>
          </a:prstGeom>
          <a:noFill/>
          <a:ln w="6350">
            <a:solidFill>
              <a:srgbClr val="E8DED6"/>
            </a:solidFill>
            <a:prstDash val="solid"/>
          </a:ln>
        </p:spPr>
      </p:sp>
      <p:pic>
        <p:nvPicPr>
          <p:cNvPr id="18" name="Image 0" descr="ifBash">    </p:cNvPr>
          <p:cNvPicPr>
            <a:picLocks noChangeAspect="1"/>
          </p:cNvPicPr>
          <p:nvPr/>
        </p:nvPicPr>
        <p:blipFill>
          <a:blip r:embed="rId1"/>
          <a:stretch>
            <a:fillRect/>
          </a:stretch>
        </p:blipFill>
        <p:spPr>
          <a:xfrm>
            <a:off x="761970" y="6045190"/>
            <a:ext cx="254020" cy="254020"/>
          </a:xfrm>
          <a:prstGeom prst="rect">
            <a:avLst/>
          </a:prstGeom>
        </p:spPr>
      </p:pic>
      <p:sp>
        <p:nvSpPr>
          <p:cNvPr id="19" name="Text 16"/>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132A"/>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E88AA3"/>
                </a:solidFill>
                <a:latin typeface="Consolas" pitchFamily="34" charset="0"/>
                <a:ea typeface="Consolas" pitchFamily="34" charset="-122"/>
                <a:cs typeface="Consolas" pitchFamily="34" charset="-120"/>
              </a:rPr>
              <a:t>Two cohorts, one network</a:t>
            </a:r>
            <a:endParaRPr lang="en-US" sz="1200" dirty="0"/>
          </a:p>
        </p:txBody>
      </p:sp>
      <p:sp>
        <p:nvSpPr>
          <p:cNvPr id="3" name="Text 1"/>
          <p:cNvSpPr txBox="1"/>
          <p:nvPr/>
        </p:nvSpPr>
        <p:spPr>
          <a:xfrm>
            <a:off x="761970" y="901690"/>
            <a:ext cx="8918692" cy="1240018"/>
          </a:xfrm>
          <a:prstGeom prst="rect">
            <a:avLst/>
          </a:prstGeom>
          <a:noFill/>
          <a:ln/>
        </p:spPr>
        <p:txBody>
          <a:bodyPr wrap="square" lIns="0" tIns="0" rIns="0" bIns="0" rtlCol="0" anchor="t"/>
          <a:lstStyle/>
          <a:p>
            <a:pPr algn="l" indent="0" marL="0">
              <a:lnSpc>
                <a:spcPts val="3255"/>
              </a:lnSpc>
              <a:buNone/>
            </a:pPr>
            <a:r>
              <a:rPr lang="en-IN" altLang="en-US" sz="3100" b="1" spc="-72" kern="0" dirty="0">
                <a:solidFill>
                  <a:srgbClr val="FBF8F4"/>
                </a:solidFill>
                <a:latin typeface="+mj-lt" pitchFamily="34" charset="0"/>
                <a:ea typeface="+mj-ea" pitchFamily="34" charset="-122"/>
                <a:cs typeface="+mj-cs" pitchFamily="34" charset="-120"/>
              </a:rPr>
              <a:t>Start with the final-year batch, and your graduates are already on the network when they leave.</a:t>
            </a:r>
            <a:endParaRPr lang="en-US" sz="3100" dirty="0"/>
          </a:p>
        </p:txBody>
      </p:sp>
      <p:sp>
        <p:nvSpPr>
          <p:cNvPr id="4" name="Shape 2"/>
          <p:cNvSpPr/>
          <p:nvPr/>
        </p:nvSpPr>
        <p:spPr>
          <a:xfrm>
            <a:off x="761970" y="2575133"/>
            <a:ext cx="10490180" cy="0"/>
          </a:xfrm>
          <a:prstGeom prst="line">
            <a:avLst/>
          </a:prstGeom>
          <a:noFill/>
          <a:ln w="6350">
            <a:solidFill>
              <a:srgbClr val="A9B0B8"/>
            </a:solidFill>
            <a:prstDash val="solid"/>
          </a:ln>
        </p:spPr>
      </p:sp>
      <p:sp>
        <p:nvSpPr>
          <p:cNvPr id="5" name="Shape 3"/>
          <p:cNvSpPr/>
          <p:nvPr/>
        </p:nvSpPr>
        <p:spPr>
          <a:xfrm>
            <a:off x="761970" y="2521184"/>
            <a:ext cx="101590" cy="101590"/>
          </a:xfrm>
          <a:prstGeom prst="rect">
            <a:avLst/>
          </a:prstGeom>
          <a:solidFill>
            <a:srgbClr val="FBF8F4"/>
          </a:solidFill>
          <a:ln/>
        </p:spPr>
      </p:sp>
      <p:sp>
        <p:nvSpPr>
          <p:cNvPr id="6" name="Text 4"/>
          <p:cNvSpPr txBox="1"/>
          <p:nvPr/>
        </p:nvSpPr>
        <p:spPr>
          <a:xfrm>
            <a:off x="761970" y="2781513"/>
            <a:ext cx="2489180" cy="215890"/>
          </a:xfrm>
          <a:prstGeom prst="rect">
            <a:avLst/>
          </a:prstGeom>
          <a:noFill/>
          <a:ln/>
        </p:spPr>
        <p:txBody>
          <a:bodyPr wrap="none" lIns="0" tIns="0" rIns="0" bIns="0" rtlCol="0" anchor="t"/>
          <a:lstStyle/>
          <a:p>
            <a:pPr algn="l" indent="0" marL="0">
              <a:lnSpc>
                <a:spcPts val="1560"/>
              </a:lnSpc>
              <a:buNone/>
            </a:pPr>
            <a:r>
              <a:rPr lang="en-IN" altLang="en-US" sz="1300" dirty="0">
                <a:solidFill>
                  <a:srgbClr val="7FC4A8"/>
                </a:solidFill>
                <a:latin typeface="Consolas" pitchFamily="34" charset="0"/>
                <a:ea typeface="Consolas" pitchFamily="34" charset="-122"/>
                <a:cs typeface="Consolas" pitchFamily="34" charset="-120"/>
              </a:rPr>
              <a:t>01</a:t>
            </a:r>
            <a:endParaRPr lang="en-US" sz="1300" dirty="0"/>
          </a:p>
        </p:txBody>
      </p:sp>
      <p:sp>
        <p:nvSpPr>
          <p:cNvPr id="7" name="Text 5"/>
          <p:cNvSpPr txBox="1"/>
          <p:nvPr/>
        </p:nvSpPr>
        <p:spPr>
          <a:xfrm>
            <a:off x="761970" y="3086283"/>
            <a:ext cx="2489180" cy="266730"/>
          </a:xfrm>
          <a:prstGeom prst="rect">
            <a:avLst/>
          </a:prstGeom>
          <a:noFill/>
          <a:ln/>
        </p:spPr>
        <p:txBody>
          <a:bodyPr wrap="none" lIns="0" tIns="0" rIns="0" bIns="0" rtlCol="0" anchor="t"/>
          <a:lstStyle/>
          <a:p>
            <a:pPr algn="l" indent="0" marL="0">
              <a:lnSpc>
                <a:spcPts val="2100"/>
              </a:lnSpc>
              <a:buNone/>
            </a:pPr>
            <a:r>
              <a:rPr lang="en-IN" altLang="en-US" sz="2000" b="1" spc="-40" kern="0" dirty="0">
                <a:solidFill>
                  <a:srgbClr val="FBF8F4"/>
                </a:solidFill>
                <a:latin typeface="+mj-lt" pitchFamily="34" charset="0"/>
                <a:ea typeface="+mj-ea" pitchFamily="34" charset="-122"/>
                <a:cs typeface="+mj-cs" pitchFamily="34" charset="-120"/>
              </a:rPr>
              <a:t>Final-year roll list</a:t>
            </a:r>
            <a:endParaRPr lang="en-US" sz="2000" dirty="0"/>
          </a:p>
        </p:txBody>
      </p:sp>
      <p:sp>
        <p:nvSpPr>
          <p:cNvPr id="8" name="Text 6"/>
          <p:cNvSpPr txBox="1"/>
          <p:nvPr/>
        </p:nvSpPr>
        <p:spPr>
          <a:xfrm>
            <a:off x="761970" y="3441893"/>
            <a:ext cx="2489180" cy="221010"/>
          </a:xfrm>
          <a:prstGeom prst="rect">
            <a:avLst/>
          </a:prstGeom>
          <a:noFill/>
          <a:ln/>
        </p:spPr>
        <p:txBody>
          <a:bodyPr wrap="none" lIns="0" tIns="0" rIns="0" bIns="0" rtlCol="0" anchor="t"/>
          <a:lstStyle/>
          <a:p>
            <a:pPr algn="l" indent="0" marL="0">
              <a:lnSpc>
                <a:spcPts val="1740"/>
              </a:lnSpc>
              <a:buNone/>
            </a:pPr>
            <a:r>
              <a:rPr lang="en-IN" altLang="en-US" sz="1200" dirty="0">
                <a:solidFill>
                  <a:srgbClr val="A9B0B8"/>
                </a:solidFill>
                <a:latin typeface="+mn-lt" pitchFamily="34" charset="0"/>
                <a:ea typeface="+mn-ea" pitchFamily="34" charset="-122"/>
                <a:cs typeface="+mn-cs" pitchFamily="34" charset="-120"/>
              </a:rPr>
              <a:t>From the placement cell</a:t>
            </a:r>
            <a:endParaRPr lang="en-US" sz="1200" dirty="0"/>
          </a:p>
        </p:txBody>
      </p:sp>
      <p:sp>
        <p:nvSpPr>
          <p:cNvPr id="9" name="Text 7"/>
          <p:cNvSpPr txBox="1"/>
          <p:nvPr/>
        </p:nvSpPr>
        <p:spPr>
          <a:xfrm>
            <a:off x="761970" y="3751783"/>
            <a:ext cx="1746870" cy="209580"/>
          </a:xfrm>
          <a:prstGeom prst="rect">
            <a:avLst/>
          </a:prstGeom>
          <a:noFill/>
          <a:ln w="6350">
            <a:solidFill>
              <a:srgbClr val="A9B0B8"/>
            </a:solidFill>
          </a:ln>
        </p:spPr>
        <p:txBody>
          <a:bodyPr wrap="none" lIns="63500" tIns="44450" rIns="63500" bIns="38100" rtlCol="0" anchor="ctr"/>
          <a:lstStyle/>
          <a:p>
            <a:pPr algn="ctr" indent="0" marL="0">
              <a:buNone/>
            </a:pPr>
            <a:r>
              <a:rPr lang="en-IN" altLang="en-US" cap="all" sz="900" spc="126" kern="0" dirty="0">
                <a:solidFill>
                  <a:srgbClr val="A9B0B8"/>
                </a:solidFill>
                <a:latin typeface="Consolas" pitchFamily="34" charset="0"/>
                <a:ea typeface="Consolas" pitchFamily="34" charset="-122"/>
                <a:cs typeface="Consolas" pitchFamily="34" charset="-120"/>
              </a:rPr>
              <a:t>Import: coming next</a:t>
            </a:r>
            <a:endParaRPr lang="en-US" sz="900" dirty="0"/>
          </a:p>
        </p:txBody>
      </p:sp>
      <p:sp>
        <p:nvSpPr>
          <p:cNvPr id="10" name="Shape 8"/>
          <p:cNvSpPr/>
          <p:nvPr/>
        </p:nvSpPr>
        <p:spPr>
          <a:xfrm>
            <a:off x="3429000" y="2521184"/>
            <a:ext cx="101590" cy="101590"/>
          </a:xfrm>
          <a:prstGeom prst="rect">
            <a:avLst/>
          </a:prstGeom>
          <a:solidFill>
            <a:srgbClr val="FBF8F4"/>
          </a:solidFill>
          <a:ln/>
        </p:spPr>
      </p:sp>
      <p:sp>
        <p:nvSpPr>
          <p:cNvPr id="11" name="Text 9"/>
          <p:cNvSpPr txBox="1"/>
          <p:nvPr/>
        </p:nvSpPr>
        <p:spPr>
          <a:xfrm>
            <a:off x="3429000" y="2781513"/>
            <a:ext cx="2489180" cy="215890"/>
          </a:xfrm>
          <a:prstGeom prst="rect">
            <a:avLst/>
          </a:prstGeom>
          <a:noFill/>
          <a:ln/>
        </p:spPr>
        <p:txBody>
          <a:bodyPr wrap="none" lIns="0" tIns="0" rIns="0" bIns="0" rtlCol="0" anchor="t"/>
          <a:lstStyle/>
          <a:p>
            <a:pPr algn="l" indent="0" marL="0">
              <a:lnSpc>
                <a:spcPts val="1560"/>
              </a:lnSpc>
              <a:buNone/>
            </a:pPr>
            <a:r>
              <a:rPr lang="en-IN" altLang="en-US" sz="1300" dirty="0">
                <a:solidFill>
                  <a:srgbClr val="7FC4A8"/>
                </a:solidFill>
                <a:latin typeface="Consolas" pitchFamily="34" charset="0"/>
                <a:ea typeface="Consolas" pitchFamily="34" charset="-122"/>
                <a:cs typeface="Consolas" pitchFamily="34" charset="-120"/>
              </a:rPr>
              <a:t>02</a:t>
            </a:r>
            <a:endParaRPr lang="en-US" sz="1300" dirty="0"/>
          </a:p>
        </p:txBody>
      </p:sp>
      <p:sp>
        <p:nvSpPr>
          <p:cNvPr id="12" name="Text 10"/>
          <p:cNvSpPr txBox="1"/>
          <p:nvPr/>
        </p:nvSpPr>
        <p:spPr>
          <a:xfrm>
            <a:off x="3429000" y="3086283"/>
            <a:ext cx="2489180" cy="266730"/>
          </a:xfrm>
          <a:prstGeom prst="rect">
            <a:avLst/>
          </a:prstGeom>
          <a:noFill/>
          <a:ln/>
        </p:spPr>
        <p:txBody>
          <a:bodyPr wrap="none" lIns="0" tIns="0" rIns="0" bIns="0" rtlCol="0" anchor="t"/>
          <a:lstStyle/>
          <a:p>
            <a:pPr algn="l" indent="0" marL="0">
              <a:lnSpc>
                <a:spcPts val="2100"/>
              </a:lnSpc>
              <a:buNone/>
            </a:pPr>
            <a:r>
              <a:rPr lang="en-IN" altLang="en-US" sz="2000" b="1" spc="-40" kern="0" dirty="0">
                <a:solidFill>
                  <a:srgbClr val="FBF8F4"/>
                </a:solidFill>
                <a:latin typeface="+mj-lt" pitchFamily="34" charset="0"/>
                <a:ea typeface="+mj-ea" pitchFamily="34" charset="-122"/>
                <a:cs typeface="+mj-cs" pitchFamily="34" charset="-120"/>
              </a:rPr>
              <a:t>Final-year student</a:t>
            </a:r>
            <a:endParaRPr lang="en-US" sz="2000" dirty="0"/>
          </a:p>
        </p:txBody>
      </p:sp>
      <p:sp>
        <p:nvSpPr>
          <p:cNvPr id="13" name="Text 11"/>
          <p:cNvSpPr txBox="1"/>
          <p:nvPr/>
        </p:nvSpPr>
        <p:spPr>
          <a:xfrm>
            <a:off x="3429000" y="3441893"/>
            <a:ext cx="2489180" cy="221010"/>
          </a:xfrm>
          <a:prstGeom prst="rect">
            <a:avLst/>
          </a:prstGeom>
          <a:noFill/>
          <a:ln/>
        </p:spPr>
        <p:txBody>
          <a:bodyPr wrap="none" lIns="0" tIns="0" rIns="0" bIns="0" rtlCol="0" anchor="t"/>
          <a:lstStyle/>
          <a:p>
            <a:pPr algn="l" indent="0" marL="0">
              <a:lnSpc>
                <a:spcPts val="1740"/>
              </a:lnSpc>
              <a:buNone/>
            </a:pPr>
            <a:r>
              <a:rPr lang="en-IN" altLang="en-US" sz="1200" dirty="0">
                <a:solidFill>
                  <a:srgbClr val="A9B0B8"/>
                </a:solidFill>
                <a:latin typeface="+mn-lt" pitchFamily="34" charset="0"/>
                <a:ea typeface="+mn-ea" pitchFamily="34" charset="-122"/>
                <a:cs typeface="+mn-cs" pitchFamily="34" charset="-120"/>
              </a:rPr>
              <a:t>Mentoring, referrals and jobs</a:t>
            </a:r>
            <a:endParaRPr lang="en-US" sz="1200" dirty="0"/>
          </a:p>
        </p:txBody>
      </p:sp>
      <p:sp>
        <p:nvSpPr>
          <p:cNvPr id="14" name="Text 12"/>
          <p:cNvSpPr txBox="1"/>
          <p:nvPr/>
        </p:nvSpPr>
        <p:spPr>
          <a:xfrm>
            <a:off x="6096030" y="2454432"/>
            <a:ext cx="1226850" cy="234909"/>
          </a:xfrm>
          <a:prstGeom prst="rect">
            <a:avLst/>
          </a:prstGeom>
          <a:solidFill>
            <a:srgbClr val="F2865A"/>
          </a:solidFill>
          <a:ln/>
        </p:spPr>
        <p:txBody>
          <a:bodyPr wrap="none" lIns="82550" tIns="57150" rIns="82550" bIns="50800" rtlCol="0" anchor="ctr"/>
          <a:lstStyle/>
          <a:p>
            <a:pPr algn="ctr" indent="0" marL="0">
              <a:buNone/>
            </a:pPr>
            <a:r>
              <a:rPr lang="en-IN" altLang="en-US" cap="all" sz="1000" spc="160" kern="0" dirty="0">
                <a:solidFill>
                  <a:srgbClr val="2A1830"/>
                </a:solidFill>
                <a:latin typeface="Consolas" pitchFamily="34" charset="0"/>
                <a:ea typeface="Consolas" pitchFamily="34" charset="-122"/>
                <a:cs typeface="Consolas" pitchFamily="34" charset="-120"/>
              </a:rPr>
              <a:t>Once a year</a:t>
            </a:r>
            <a:endParaRPr lang="en-US" sz="1000" dirty="0"/>
          </a:p>
        </p:txBody>
      </p:sp>
      <p:sp>
        <p:nvSpPr>
          <p:cNvPr id="15" name="Text 13"/>
          <p:cNvSpPr txBox="1"/>
          <p:nvPr/>
        </p:nvSpPr>
        <p:spPr>
          <a:xfrm>
            <a:off x="6096030" y="2781513"/>
            <a:ext cx="2489180" cy="215890"/>
          </a:xfrm>
          <a:prstGeom prst="rect">
            <a:avLst/>
          </a:prstGeom>
          <a:noFill/>
          <a:ln/>
        </p:spPr>
        <p:txBody>
          <a:bodyPr wrap="none" lIns="0" tIns="0" rIns="0" bIns="0" rtlCol="0" anchor="t"/>
          <a:lstStyle/>
          <a:p>
            <a:pPr algn="l" indent="0" marL="0">
              <a:lnSpc>
                <a:spcPts val="1560"/>
              </a:lnSpc>
              <a:buNone/>
            </a:pPr>
            <a:r>
              <a:rPr lang="en-IN" altLang="en-US" sz="1300" dirty="0">
                <a:solidFill>
                  <a:srgbClr val="7FC4A8"/>
                </a:solidFill>
                <a:latin typeface="Consolas" pitchFamily="34" charset="0"/>
                <a:ea typeface="Consolas" pitchFamily="34" charset="-122"/>
                <a:cs typeface="Consolas" pitchFamily="34" charset="-120"/>
              </a:rPr>
              <a:t>03</a:t>
            </a:r>
            <a:endParaRPr lang="en-US" sz="1300" dirty="0"/>
          </a:p>
        </p:txBody>
      </p:sp>
      <p:sp>
        <p:nvSpPr>
          <p:cNvPr id="16" name="Text 14"/>
          <p:cNvSpPr txBox="1"/>
          <p:nvPr/>
        </p:nvSpPr>
        <p:spPr>
          <a:xfrm>
            <a:off x="6096030" y="3086283"/>
            <a:ext cx="2489180" cy="266730"/>
          </a:xfrm>
          <a:prstGeom prst="rect">
            <a:avLst/>
          </a:prstGeom>
          <a:noFill/>
          <a:ln/>
        </p:spPr>
        <p:txBody>
          <a:bodyPr wrap="none" lIns="0" tIns="0" rIns="0" bIns="0" rtlCol="0" anchor="t"/>
          <a:lstStyle/>
          <a:p>
            <a:pPr algn="l" indent="0" marL="0">
              <a:lnSpc>
                <a:spcPts val="2100"/>
              </a:lnSpc>
              <a:buNone/>
            </a:pPr>
            <a:r>
              <a:rPr lang="en-IN" altLang="en-US" sz="2000" b="1" spc="-40" kern="0" dirty="0">
                <a:solidFill>
                  <a:srgbClr val="FBF8F4"/>
                </a:solidFill>
                <a:latin typeface="+mj-lt" pitchFamily="34" charset="0"/>
                <a:ea typeface="+mj-ea" pitchFamily="34" charset="-122"/>
                <a:cs typeface="+mj-cs" pitchFamily="34" charset="-120"/>
              </a:rPr>
              <a:t>Convocation</a:t>
            </a:r>
            <a:endParaRPr lang="en-US" sz="2000" dirty="0"/>
          </a:p>
        </p:txBody>
      </p:sp>
      <p:sp>
        <p:nvSpPr>
          <p:cNvPr id="17" name="Text 15"/>
          <p:cNvSpPr txBox="1"/>
          <p:nvPr/>
        </p:nvSpPr>
        <p:spPr>
          <a:xfrm>
            <a:off x="6096030" y="3441893"/>
            <a:ext cx="2676632" cy="441930"/>
          </a:xfrm>
          <a:prstGeom prst="rect">
            <a:avLst/>
          </a:prstGeom>
          <a:noFill/>
          <a:ln/>
        </p:spPr>
        <p:txBody>
          <a:bodyPr wrap="square" lIns="0" tIns="0" rIns="0" bIns="0" rtlCol="0" anchor="t"/>
          <a:lstStyle/>
          <a:p>
            <a:pPr algn="l" indent="0" marL="0">
              <a:lnSpc>
                <a:spcPts val="1740"/>
              </a:lnSpc>
              <a:buNone/>
            </a:pPr>
            <a:r>
              <a:rPr lang="en-IN" altLang="en-US" sz="1200" dirty="0">
                <a:solidFill>
                  <a:srgbClr val="A9B0B8"/>
                </a:solidFill>
                <a:latin typeface="+mn-lt" pitchFamily="34" charset="0"/>
                <a:ea typeface="+mn-ea" pitchFamily="34" charset="-122"/>
                <a:cs typeface="+mn-cs" pitchFamily="34" charset="-120"/>
              </a:rPr>
              <a:t>The yearly rollover, with a dry run first</a:t>
            </a:r>
            <a:endParaRPr lang="en-US" sz="1200" dirty="0"/>
          </a:p>
        </p:txBody>
      </p:sp>
      <p:sp>
        <p:nvSpPr>
          <p:cNvPr id="18" name="Shape 16"/>
          <p:cNvSpPr/>
          <p:nvPr/>
        </p:nvSpPr>
        <p:spPr>
          <a:xfrm>
            <a:off x="8762970" y="2521184"/>
            <a:ext cx="101590" cy="101590"/>
          </a:xfrm>
          <a:prstGeom prst="rect">
            <a:avLst/>
          </a:prstGeom>
          <a:solidFill>
            <a:srgbClr val="FBF8F4"/>
          </a:solidFill>
          <a:ln/>
        </p:spPr>
      </p:sp>
      <p:sp>
        <p:nvSpPr>
          <p:cNvPr id="19" name="Text 17"/>
          <p:cNvSpPr txBox="1"/>
          <p:nvPr/>
        </p:nvSpPr>
        <p:spPr>
          <a:xfrm>
            <a:off x="8762970" y="2781513"/>
            <a:ext cx="2489180" cy="215890"/>
          </a:xfrm>
          <a:prstGeom prst="rect">
            <a:avLst/>
          </a:prstGeom>
          <a:noFill/>
          <a:ln/>
        </p:spPr>
        <p:txBody>
          <a:bodyPr wrap="none" lIns="0" tIns="0" rIns="0" bIns="0" rtlCol="0" anchor="t"/>
          <a:lstStyle/>
          <a:p>
            <a:pPr algn="l" indent="0" marL="0">
              <a:lnSpc>
                <a:spcPts val="1560"/>
              </a:lnSpc>
              <a:buNone/>
            </a:pPr>
            <a:r>
              <a:rPr lang="en-IN" altLang="en-US" sz="1300" dirty="0">
                <a:solidFill>
                  <a:srgbClr val="7FC4A8"/>
                </a:solidFill>
                <a:latin typeface="Consolas" pitchFamily="34" charset="0"/>
                <a:ea typeface="Consolas" pitchFamily="34" charset="-122"/>
                <a:cs typeface="Consolas" pitchFamily="34" charset="-120"/>
              </a:rPr>
              <a:t>04</a:t>
            </a:r>
            <a:endParaRPr lang="en-US" sz="1300" dirty="0"/>
          </a:p>
        </p:txBody>
      </p:sp>
      <p:sp>
        <p:nvSpPr>
          <p:cNvPr id="20" name="Text 18"/>
          <p:cNvSpPr txBox="1"/>
          <p:nvPr/>
        </p:nvSpPr>
        <p:spPr>
          <a:xfrm>
            <a:off x="8762970" y="3086283"/>
            <a:ext cx="2489180" cy="266730"/>
          </a:xfrm>
          <a:prstGeom prst="rect">
            <a:avLst/>
          </a:prstGeom>
          <a:noFill/>
          <a:ln/>
        </p:spPr>
        <p:txBody>
          <a:bodyPr wrap="none" lIns="0" tIns="0" rIns="0" bIns="0" rtlCol="0" anchor="t"/>
          <a:lstStyle/>
          <a:p>
            <a:pPr algn="l" indent="0" marL="0">
              <a:lnSpc>
                <a:spcPts val="2100"/>
              </a:lnSpc>
              <a:buNone/>
            </a:pPr>
            <a:r>
              <a:rPr lang="en-IN" altLang="en-US" sz="2000" b="1" spc="-40" kern="0" dirty="0">
                <a:solidFill>
                  <a:srgbClr val="FBF8F4"/>
                </a:solidFill>
                <a:latin typeface="+mj-lt" pitchFamily="34" charset="0"/>
                <a:ea typeface="+mj-ea" pitchFamily="34" charset="-122"/>
                <a:cs typeface="+mj-cs" pitchFamily="34" charset="-120"/>
              </a:rPr>
              <a:t>Alumni</a:t>
            </a:r>
            <a:endParaRPr lang="en-US" sz="2000" dirty="0"/>
          </a:p>
        </p:txBody>
      </p:sp>
      <p:sp>
        <p:nvSpPr>
          <p:cNvPr id="21" name="Text 19"/>
          <p:cNvSpPr txBox="1"/>
          <p:nvPr/>
        </p:nvSpPr>
        <p:spPr>
          <a:xfrm>
            <a:off x="8762970" y="3441893"/>
            <a:ext cx="2676632" cy="441930"/>
          </a:xfrm>
          <a:prstGeom prst="rect">
            <a:avLst/>
          </a:prstGeom>
          <a:noFill/>
          <a:ln/>
        </p:spPr>
        <p:txBody>
          <a:bodyPr wrap="square" lIns="0" tIns="0" rIns="0" bIns="0" rtlCol="0" anchor="t"/>
          <a:lstStyle/>
          <a:p>
            <a:pPr algn="l" indent="0" marL="0">
              <a:lnSpc>
                <a:spcPts val="1740"/>
              </a:lnSpc>
              <a:buNone/>
            </a:pPr>
            <a:r>
              <a:rPr lang="en-IN" altLang="en-US" sz="1200" dirty="0">
                <a:solidFill>
                  <a:srgbClr val="A9B0B8"/>
                </a:solidFill>
                <a:latin typeface="+mn-lt" pitchFamily="34" charset="0"/>
                <a:ea typeface="+mn-ea" pitchFamily="34" charset="-122"/>
                <a:cs typeface="+mn-cs" pitchFamily="34" charset="-120"/>
              </a:rPr>
              <a:t>The same account and the same record</a:t>
            </a:r>
            <a:endParaRPr lang="en-US" sz="1200" dirty="0"/>
          </a:p>
        </p:txBody>
      </p:sp>
      <p:sp>
        <p:nvSpPr>
          <p:cNvPr id="22" name="Shape 20"/>
          <p:cNvSpPr/>
          <p:nvPr/>
        </p:nvSpPr>
        <p:spPr>
          <a:xfrm>
            <a:off x="761970" y="4273906"/>
            <a:ext cx="5156210" cy="0"/>
          </a:xfrm>
          <a:prstGeom prst="line">
            <a:avLst/>
          </a:prstGeom>
          <a:noFill/>
          <a:ln w="6350">
            <a:solidFill>
              <a:srgbClr val="3A2842"/>
            </a:solidFill>
            <a:prstDash val="solid"/>
          </a:ln>
        </p:spPr>
      </p:sp>
      <p:sp>
        <p:nvSpPr>
          <p:cNvPr id="23" name="Text 21"/>
          <p:cNvSpPr txBox="1"/>
          <p:nvPr/>
        </p:nvSpPr>
        <p:spPr>
          <a:xfrm>
            <a:off x="761970" y="4391406"/>
            <a:ext cx="5503682" cy="460400"/>
          </a:xfrm>
          <a:prstGeom prst="rect">
            <a:avLst/>
          </a:prstGeom>
          <a:noFill/>
          <a:ln/>
        </p:spPr>
        <p:txBody>
          <a:bodyPr wrap="square" lIns="0" tIns="0" rIns="0" bIns="0" rtlCol="0" anchor="t"/>
          <a:lstStyle/>
          <a:p>
            <a:pPr algn="l" indent="0" marL="0">
              <a:lnSpc>
                <a:spcPts val="1813"/>
              </a:lnSpc>
              <a:buNone/>
            </a:pPr>
            <a:r>
              <a:rPr lang="en-IN" altLang="en-US" sz="1250" b="1" dirty="0">
                <a:solidFill>
                  <a:srgbClr val="FBF8F4"/>
                </a:solidFill>
                <a:latin typeface="+mn-lt" pitchFamily="34" charset="0"/>
                <a:ea typeface="+mn-ea" pitchFamily="34" charset="-122"/>
                <a:cs typeface="+mn-cs" pitchFamily="34" charset="-120"/>
              </a:rPr>
              <a:t>One record per person.</a:t>
            </a:r>
            <a:pPr algn="l" indent="0" marL="0">
              <a:lnSpc>
                <a:spcPts val="1813"/>
              </a:lnSpc>
              <a:buNone/>
            </a:pPr>
            <a:r>
              <a:rPr lang="en-IN" altLang="en-US" sz="1250" dirty="0">
                <a:solidFill>
                  <a:srgbClr val="A9B0B8"/>
                </a:solidFill>
                <a:latin typeface="+mn-lt" pitchFamily="34" charset="0"/>
                <a:ea typeface="+mn-ea" pitchFamily="34" charset="-122"/>
                <a:cs typeface="+mn-cs" pitchFamily="34" charset="-120"/>
              </a:rPr>
              <a:t> A final-year student’s account becomes an alumni account after convocation. Nobody registers twice.</a:t>
            </a:r>
            <a:endParaRPr lang="en-US" sz="1250" dirty="0"/>
          </a:p>
        </p:txBody>
      </p:sp>
      <p:sp>
        <p:nvSpPr>
          <p:cNvPr id="24" name="Shape 22"/>
          <p:cNvSpPr/>
          <p:nvPr/>
        </p:nvSpPr>
        <p:spPr>
          <a:xfrm>
            <a:off x="6273790" y="4273906"/>
            <a:ext cx="5156210" cy="0"/>
          </a:xfrm>
          <a:prstGeom prst="line">
            <a:avLst/>
          </a:prstGeom>
          <a:noFill/>
          <a:ln w="6350">
            <a:solidFill>
              <a:srgbClr val="3A2842"/>
            </a:solidFill>
            <a:prstDash val="solid"/>
          </a:ln>
        </p:spPr>
      </p:sp>
      <p:sp>
        <p:nvSpPr>
          <p:cNvPr id="25" name="Text 23"/>
          <p:cNvSpPr txBox="1"/>
          <p:nvPr/>
        </p:nvSpPr>
        <p:spPr>
          <a:xfrm>
            <a:off x="6273790" y="4391406"/>
            <a:ext cx="5503682" cy="460400"/>
          </a:xfrm>
          <a:prstGeom prst="rect">
            <a:avLst/>
          </a:prstGeom>
          <a:noFill/>
          <a:ln/>
        </p:spPr>
        <p:txBody>
          <a:bodyPr wrap="square" lIns="0" tIns="0" rIns="0" bIns="0" rtlCol="0" anchor="t"/>
          <a:lstStyle/>
          <a:p>
            <a:pPr algn="l" indent="0" marL="0">
              <a:lnSpc>
                <a:spcPts val="1813"/>
              </a:lnSpc>
              <a:buNone/>
            </a:pPr>
            <a:r>
              <a:rPr lang="en-IN" altLang="en-US" sz="1250" b="1" dirty="0">
                <a:solidFill>
                  <a:srgbClr val="FBF8F4"/>
                </a:solidFill>
                <a:latin typeface="+mn-lt" pitchFamily="34" charset="0"/>
                <a:ea typeface="+mn-ea" pitchFamily="34" charset="-122"/>
                <a:cs typeface="+mn-cs" pitchFamily="34" charset="-120"/>
              </a:rPr>
              <a:t>One reviewed step, once a year.</a:t>
            </a:r>
            <a:pPr algn="l" indent="0" marL="0">
              <a:lnSpc>
                <a:spcPts val="1813"/>
              </a:lnSpc>
              <a:buNone/>
            </a:pPr>
            <a:r>
              <a:rPr lang="en-IN" altLang="en-US" sz="1250" dirty="0">
                <a:solidFill>
                  <a:srgbClr val="A9B0B8"/>
                </a:solidFill>
                <a:latin typeface="+mn-lt" pitchFamily="34" charset="0"/>
                <a:ea typeface="+mn-ea" pitchFamily="34" charset="-122"/>
                <a:cs typeface="+mn-cs" pitchFamily="34" charset="-120"/>
              </a:rPr>
              <a:t> After convocation it moves the batch across. A dry run comes first, and the step never runs on its own.</a:t>
            </a:r>
            <a:endParaRPr lang="en-US" sz="1250" dirty="0"/>
          </a:p>
        </p:txBody>
      </p:sp>
      <p:sp>
        <p:nvSpPr>
          <p:cNvPr id="26" name="Shape 24"/>
          <p:cNvSpPr/>
          <p:nvPr/>
        </p:nvSpPr>
        <p:spPr>
          <a:xfrm>
            <a:off x="761970" y="4994636"/>
            <a:ext cx="5156210" cy="0"/>
          </a:xfrm>
          <a:prstGeom prst="line">
            <a:avLst/>
          </a:prstGeom>
          <a:noFill/>
          <a:ln w="6350">
            <a:solidFill>
              <a:srgbClr val="3A2842"/>
            </a:solidFill>
            <a:prstDash val="solid"/>
          </a:ln>
        </p:spPr>
      </p:sp>
      <p:sp>
        <p:nvSpPr>
          <p:cNvPr id="27" name="Text 25"/>
          <p:cNvSpPr txBox="1"/>
          <p:nvPr/>
        </p:nvSpPr>
        <p:spPr>
          <a:xfrm>
            <a:off x="761970" y="5112136"/>
            <a:ext cx="5503682" cy="460400"/>
          </a:xfrm>
          <a:prstGeom prst="rect">
            <a:avLst/>
          </a:prstGeom>
          <a:noFill/>
          <a:ln/>
        </p:spPr>
        <p:txBody>
          <a:bodyPr wrap="square" lIns="0" tIns="0" rIns="0" bIns="0" rtlCol="0" anchor="t"/>
          <a:lstStyle/>
          <a:p>
            <a:pPr algn="l" indent="0" marL="0">
              <a:lnSpc>
                <a:spcPts val="1813"/>
              </a:lnSpc>
              <a:buNone/>
            </a:pPr>
            <a:r>
              <a:rPr lang="en-IN" altLang="en-US" sz="1250" b="1" dirty="0">
                <a:solidFill>
                  <a:srgbClr val="FBF8F4"/>
                </a:solidFill>
                <a:latin typeface="+mn-lt" pitchFamily="34" charset="0"/>
                <a:ea typeface="+mn-ea" pitchFamily="34" charset="-122"/>
                <a:cs typeface="+mn-cs" pitchFamily="34" charset="-120"/>
              </a:rPr>
              <a:t>A reason for alumni to sign in:</a:t>
            </a:r>
            <a:pPr algn="l" indent="0" marL="0">
              <a:lnSpc>
                <a:spcPts val="1813"/>
              </a:lnSpc>
              <a:buNone/>
            </a:pPr>
            <a:r>
              <a:rPr lang="en-IN" altLang="en-US" sz="1250" dirty="0">
                <a:solidFill>
                  <a:srgbClr val="A9B0B8"/>
                </a:solidFill>
                <a:latin typeface="+mn-lt" pitchFamily="34" charset="0"/>
                <a:ea typeface="+mn-ea" pitchFamily="34" charset="-122"/>
                <a:cs typeface="+mn-cs" pitchFamily="34" charset="-120"/>
              </a:rPr>
              <a:t> a student from their own branch who is asking for help.</a:t>
            </a:r>
            <a:endParaRPr lang="en-US" sz="1250" dirty="0"/>
          </a:p>
        </p:txBody>
      </p:sp>
      <p:sp>
        <p:nvSpPr>
          <p:cNvPr id="28" name="Shape 26"/>
          <p:cNvSpPr/>
          <p:nvPr/>
        </p:nvSpPr>
        <p:spPr>
          <a:xfrm>
            <a:off x="6273790" y="4994636"/>
            <a:ext cx="5156210" cy="0"/>
          </a:xfrm>
          <a:prstGeom prst="line">
            <a:avLst/>
          </a:prstGeom>
          <a:noFill/>
          <a:ln w="6350">
            <a:solidFill>
              <a:srgbClr val="3A2842"/>
            </a:solidFill>
            <a:prstDash val="solid"/>
          </a:ln>
        </p:spPr>
      </p:sp>
      <p:sp>
        <p:nvSpPr>
          <p:cNvPr id="29" name="Text 27"/>
          <p:cNvSpPr txBox="1"/>
          <p:nvPr/>
        </p:nvSpPr>
        <p:spPr>
          <a:xfrm>
            <a:off x="6273790" y="5112136"/>
            <a:ext cx="5503682" cy="460400"/>
          </a:xfrm>
          <a:prstGeom prst="rect">
            <a:avLst/>
          </a:prstGeom>
          <a:noFill/>
          <a:ln/>
        </p:spPr>
        <p:txBody>
          <a:bodyPr wrap="square" lIns="0" tIns="0" rIns="0" bIns="0" rtlCol="0" anchor="t"/>
          <a:lstStyle/>
          <a:p>
            <a:pPr algn="l" indent="0" marL="0">
              <a:lnSpc>
                <a:spcPts val="1813"/>
              </a:lnSpc>
              <a:buNone/>
            </a:pPr>
            <a:r>
              <a:rPr lang="en-IN" altLang="en-US" sz="1250" b="1" dirty="0">
                <a:solidFill>
                  <a:srgbClr val="FBF8F4"/>
                </a:solidFill>
                <a:latin typeface="+mn-lt" pitchFamily="34" charset="0"/>
                <a:ea typeface="+mn-ea" pitchFamily="34" charset="-122"/>
                <a:cs typeface="+mn-cs" pitchFamily="34" charset="-120"/>
              </a:rPr>
              <a:t>Limits protect alumni.</a:t>
            </a:r>
            <a:pPr algn="l" indent="0" marL="0">
              <a:lnSpc>
                <a:spcPts val="1813"/>
              </a:lnSpc>
              <a:buNone/>
            </a:pPr>
            <a:r>
              <a:rPr lang="en-IN" altLang="en-US" sz="1250" dirty="0">
                <a:solidFill>
                  <a:srgbClr val="A9B0B8"/>
                </a:solidFill>
                <a:latin typeface="+mn-lt" pitchFamily="34" charset="0"/>
                <a:ea typeface="+mn-ea" pitchFamily="34" charset="-122"/>
                <a:cs typeface="+mn-cs" pitchFamily="34" charset="-120"/>
              </a:rPr>
              <a:t> Each student can have five open requests at a time and send ten a month.</a:t>
            </a:r>
            <a:endParaRPr lang="en-US" sz="1250" dirty="0"/>
          </a:p>
        </p:txBody>
      </p:sp>
      <p:sp>
        <p:nvSpPr>
          <p:cNvPr id="30" name="Shape 28"/>
          <p:cNvSpPr/>
          <p:nvPr/>
        </p:nvSpPr>
        <p:spPr>
          <a:xfrm>
            <a:off x="761970" y="5885261"/>
            <a:ext cx="10668030" cy="0"/>
          </a:xfrm>
          <a:prstGeom prst="line">
            <a:avLst/>
          </a:prstGeom>
          <a:noFill/>
          <a:ln w="6350">
            <a:solidFill>
              <a:srgbClr val="3A2842"/>
            </a:solidFill>
            <a:prstDash val="solid"/>
          </a:ln>
        </p:spPr>
      </p:sp>
      <p:pic>
        <p:nvPicPr>
          <p:cNvPr id="31" name="Image 0" descr="ifBash">    </p:cNvPr>
          <p:cNvPicPr>
            <a:picLocks noChangeAspect="1"/>
          </p:cNvPicPr>
          <p:nvPr/>
        </p:nvPicPr>
        <p:blipFill>
          <a:blip r:embed="rId1"/>
          <a:stretch>
            <a:fillRect/>
          </a:stretch>
        </p:blipFill>
        <p:spPr>
          <a:xfrm>
            <a:off x="761970" y="6015472"/>
            <a:ext cx="952530" cy="283738"/>
          </a:xfrm>
          <a:prstGeom prst="rect">
            <a:avLst/>
          </a:prstGeom>
        </p:spPr>
      </p:pic>
      <p:sp>
        <p:nvSpPr>
          <p:cNvPr id="32" name="Text 29"/>
          <p:cNvSpPr txBox="1"/>
          <p:nvPr/>
        </p:nvSpPr>
        <p:spPr>
          <a:xfrm>
            <a:off x="11262299" y="6065215"/>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A9B0B8"/>
                </a:solidFill>
                <a:latin typeface="Consolas" pitchFamily="34" charset="0"/>
                <a:ea typeface="Consolas" pitchFamily="34" charset="-122"/>
                <a:cs typeface="Consola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Who it is for</a:t>
            </a:r>
            <a:endParaRPr lang="en-US" sz="1200" dirty="0"/>
          </a:p>
        </p:txBody>
      </p:sp>
      <p:sp>
        <p:nvSpPr>
          <p:cNvPr id="3" name="Text 1"/>
          <p:cNvSpPr txBox="1"/>
          <p:nvPr/>
        </p:nvSpPr>
        <p:spPr>
          <a:xfrm>
            <a:off x="761970" y="901690"/>
            <a:ext cx="8632210" cy="853318"/>
          </a:xfrm>
          <a:prstGeom prst="rect">
            <a:avLst/>
          </a:prstGeom>
          <a:noFill/>
          <a:ln/>
        </p:spPr>
        <p:txBody>
          <a:bodyPr wrap="square" lIns="0" tIns="0" rIns="0" bIns="0" rtlCol="0" anchor="t"/>
          <a:lstStyle/>
          <a:p>
            <a:pPr algn="l" indent="0" marL="0">
              <a:lnSpc>
                <a:spcPts val="3360"/>
              </a:lnSpc>
              <a:buNone/>
            </a:pPr>
            <a:r>
              <a:rPr lang="en-IN" altLang="en-US" sz="3200" b="1" spc="-74" kern="0" dirty="0">
                <a:solidFill>
                  <a:srgbClr val="2A1830"/>
                </a:solidFill>
                <a:latin typeface="+mj-lt" pitchFamily="34" charset="0"/>
                <a:ea typeface="+mj-ea" pitchFamily="34" charset="-122"/>
                <a:cs typeface="+mj-cs" pitchFamily="34" charset="-120"/>
              </a:rPr>
              <a:t>Each group on campus gets the part of the network its job needs, and no more.</a:t>
            </a:r>
            <a:endParaRPr lang="en-US" sz="3200" dirty="0"/>
          </a:p>
        </p:txBody>
      </p:sp>
      <p:sp>
        <p:nvSpPr>
          <p:cNvPr id="4" name="Shape 2"/>
          <p:cNvSpPr/>
          <p:nvPr/>
        </p:nvSpPr>
        <p:spPr>
          <a:xfrm>
            <a:off x="761970" y="2299625"/>
            <a:ext cx="5130790" cy="0"/>
          </a:xfrm>
          <a:prstGeom prst="line">
            <a:avLst/>
          </a:prstGeom>
          <a:noFill/>
          <a:ln w="6350">
            <a:solidFill>
              <a:srgbClr val="E8DED6"/>
            </a:solidFill>
            <a:prstDash val="solid"/>
          </a:ln>
        </p:spPr>
      </p:sp>
      <p:sp>
        <p:nvSpPr>
          <p:cNvPr id="5" name="Text 3"/>
          <p:cNvSpPr txBox="1"/>
          <p:nvPr/>
        </p:nvSpPr>
        <p:spPr>
          <a:xfrm>
            <a:off x="761970" y="2455164"/>
            <a:ext cx="5130790" cy="265450"/>
          </a:xfrm>
          <a:prstGeom prst="rect">
            <a:avLst/>
          </a:prstGeom>
          <a:noFill/>
          <a:ln/>
        </p:spPr>
        <p:txBody>
          <a:bodyPr wrap="none" lIns="0" tIns="0" rIns="0" bIns="0" rtlCol="0" anchor="t"/>
          <a:lstStyle/>
          <a:p>
            <a:pPr algn="l" indent="0" marL="0">
              <a:lnSpc>
                <a:spcPts val="2090"/>
              </a:lnSpc>
              <a:buNone/>
            </a:pPr>
            <a:r>
              <a:rPr lang="en-IN" altLang="en-US" sz="1900" b="1" spc="-36" kern="0" dirty="0">
                <a:solidFill>
                  <a:srgbClr val="2A1830"/>
                </a:solidFill>
                <a:latin typeface="+mj-lt" pitchFamily="34" charset="0"/>
                <a:ea typeface="+mj-ea" pitchFamily="34" charset="-122"/>
                <a:cs typeface="+mj-cs" pitchFamily="34" charset="-120"/>
              </a:rPr>
              <a:t>Alumni</a:t>
            </a:r>
            <a:endParaRPr lang="en-US" sz="1900" dirty="0"/>
          </a:p>
        </p:txBody>
      </p:sp>
      <p:sp>
        <p:nvSpPr>
          <p:cNvPr id="6" name="Text 4"/>
          <p:cNvSpPr txBox="1"/>
          <p:nvPr/>
        </p:nvSpPr>
        <p:spPr>
          <a:xfrm>
            <a:off x="761970" y="2796784"/>
            <a:ext cx="5476707" cy="476220"/>
          </a:xfrm>
          <a:prstGeom prst="rect">
            <a:avLst/>
          </a:prstGeom>
          <a:noFill/>
          <a:ln/>
        </p:spPr>
        <p:txBody>
          <a:bodyPr wrap="square" lIns="0" tIns="0" rIns="0" bIns="0" rtlCol="0" anchor="t"/>
          <a:lstStyle/>
          <a:p>
            <a:pPr algn="l" indent="0" marL="0">
              <a:lnSpc>
                <a:spcPts val="1875"/>
              </a:lnSpc>
              <a:buNone/>
            </a:pPr>
            <a:r>
              <a:rPr lang="en-IN" altLang="en-US" sz="1250" dirty="0">
                <a:solidFill>
                  <a:srgbClr val="54455C"/>
                </a:solidFill>
                <a:latin typeface="+mn-lt" pitchFamily="34" charset="0"/>
                <a:ea typeface="+mn-ea" pitchFamily="34" charset="-122"/>
                <a:cs typeface="+mn-cs" pitchFamily="34" charset="-120"/>
              </a:rPr>
              <a:t>Find batchmates by batch, branch, company or city. Decide who sees your email and phone. Post jobs, mentor, and register for reunions.</a:t>
            </a:r>
            <a:endParaRPr lang="en-US" sz="1250" dirty="0"/>
          </a:p>
        </p:txBody>
      </p:sp>
      <p:sp>
        <p:nvSpPr>
          <p:cNvPr id="7" name="Shape 5"/>
          <p:cNvSpPr/>
          <p:nvPr/>
        </p:nvSpPr>
        <p:spPr>
          <a:xfrm>
            <a:off x="6299210" y="2299625"/>
            <a:ext cx="5130790" cy="0"/>
          </a:xfrm>
          <a:prstGeom prst="line">
            <a:avLst/>
          </a:prstGeom>
          <a:noFill/>
          <a:ln w="6350">
            <a:solidFill>
              <a:srgbClr val="E8DED6"/>
            </a:solidFill>
            <a:prstDash val="solid"/>
          </a:ln>
        </p:spPr>
      </p:sp>
      <p:sp>
        <p:nvSpPr>
          <p:cNvPr id="8" name="Text 6"/>
          <p:cNvSpPr txBox="1"/>
          <p:nvPr/>
        </p:nvSpPr>
        <p:spPr>
          <a:xfrm>
            <a:off x="6299210" y="2455164"/>
            <a:ext cx="5130790" cy="265450"/>
          </a:xfrm>
          <a:prstGeom prst="rect">
            <a:avLst/>
          </a:prstGeom>
          <a:noFill/>
          <a:ln/>
        </p:spPr>
        <p:txBody>
          <a:bodyPr wrap="none" lIns="0" tIns="0" rIns="0" bIns="0" rtlCol="0" anchor="t"/>
          <a:lstStyle/>
          <a:p>
            <a:pPr algn="l" indent="0" marL="0">
              <a:lnSpc>
                <a:spcPts val="2090"/>
              </a:lnSpc>
              <a:buNone/>
            </a:pPr>
            <a:r>
              <a:rPr lang="en-IN" altLang="en-US" sz="1900" b="1" spc="-36" kern="0" dirty="0">
                <a:solidFill>
                  <a:srgbClr val="2A1830"/>
                </a:solidFill>
                <a:latin typeface="+mj-lt" pitchFamily="34" charset="0"/>
                <a:ea typeface="+mj-ea" pitchFamily="34" charset="-122"/>
                <a:cs typeface="+mj-cs" pitchFamily="34" charset="-120"/>
              </a:rPr>
              <a:t>Final-year students</a:t>
            </a:r>
            <a:endParaRPr lang="en-US" sz="1900" dirty="0"/>
          </a:p>
        </p:txBody>
      </p:sp>
      <p:sp>
        <p:nvSpPr>
          <p:cNvPr id="9" name="Text 7"/>
          <p:cNvSpPr txBox="1"/>
          <p:nvPr/>
        </p:nvSpPr>
        <p:spPr>
          <a:xfrm>
            <a:off x="6299210" y="2796784"/>
            <a:ext cx="5476707" cy="476220"/>
          </a:xfrm>
          <a:prstGeom prst="rect">
            <a:avLst/>
          </a:prstGeom>
          <a:noFill/>
          <a:ln/>
        </p:spPr>
        <p:txBody>
          <a:bodyPr wrap="square" lIns="0" tIns="0" rIns="0" bIns="0" rtlCol="0" anchor="t"/>
          <a:lstStyle/>
          <a:p>
            <a:pPr algn="l" indent="0" marL="0">
              <a:lnSpc>
                <a:spcPts val="1875"/>
              </a:lnSpc>
              <a:buNone/>
            </a:pPr>
            <a:r>
              <a:rPr lang="en-IN" altLang="en-US" sz="1250" dirty="0">
                <a:solidFill>
                  <a:srgbClr val="54455C"/>
                </a:solidFill>
                <a:latin typeface="+mn-lt" pitchFamily="34" charset="0"/>
                <a:ea typeface="+mn-ea" pitchFamily="34" charset="-122"/>
                <a:cs typeface="+mn-cs" pitchFamily="34" charset="-120"/>
              </a:rPr>
              <a:t>Search alumni by branch, batch and company. Ask for mentoring or a referral. Apply to jobs that alumni post.</a:t>
            </a:r>
            <a:endParaRPr lang="en-US" sz="1250" dirty="0"/>
          </a:p>
        </p:txBody>
      </p:sp>
      <p:sp>
        <p:nvSpPr>
          <p:cNvPr id="10" name="Shape 8"/>
          <p:cNvSpPr/>
          <p:nvPr/>
        </p:nvSpPr>
        <p:spPr>
          <a:xfrm>
            <a:off x="761970" y="3492094"/>
            <a:ext cx="5130790" cy="0"/>
          </a:xfrm>
          <a:prstGeom prst="line">
            <a:avLst/>
          </a:prstGeom>
          <a:noFill/>
          <a:ln w="6350">
            <a:solidFill>
              <a:srgbClr val="E8DED6"/>
            </a:solidFill>
            <a:prstDash val="solid"/>
          </a:ln>
        </p:spPr>
      </p:sp>
      <p:sp>
        <p:nvSpPr>
          <p:cNvPr id="11" name="Text 9"/>
          <p:cNvSpPr txBox="1"/>
          <p:nvPr/>
        </p:nvSpPr>
        <p:spPr>
          <a:xfrm>
            <a:off x="761970" y="3647633"/>
            <a:ext cx="5130790" cy="265450"/>
          </a:xfrm>
          <a:prstGeom prst="rect">
            <a:avLst/>
          </a:prstGeom>
          <a:noFill/>
          <a:ln/>
        </p:spPr>
        <p:txBody>
          <a:bodyPr wrap="none" lIns="0" tIns="0" rIns="0" bIns="0" rtlCol="0" anchor="t"/>
          <a:lstStyle/>
          <a:p>
            <a:pPr algn="l" indent="0" marL="0">
              <a:lnSpc>
                <a:spcPts val="2090"/>
              </a:lnSpc>
              <a:buNone/>
            </a:pPr>
            <a:r>
              <a:rPr lang="en-IN" altLang="en-US" sz="1900" b="1" spc="-36" kern="0" dirty="0">
                <a:solidFill>
                  <a:srgbClr val="2A1830"/>
                </a:solidFill>
                <a:latin typeface="+mj-lt" pitchFamily="34" charset="0"/>
                <a:ea typeface="+mj-ea" pitchFamily="34" charset="-122"/>
                <a:cs typeface="+mj-cs" pitchFamily="34" charset="-120"/>
              </a:rPr>
              <a:t>Faculty, HODs and the placement cell</a:t>
            </a:r>
            <a:endParaRPr lang="en-US" sz="1900" dirty="0"/>
          </a:p>
        </p:txBody>
      </p:sp>
      <p:sp>
        <p:nvSpPr>
          <p:cNvPr id="12" name="Text 10"/>
          <p:cNvSpPr txBox="1"/>
          <p:nvPr/>
        </p:nvSpPr>
        <p:spPr>
          <a:xfrm>
            <a:off x="761970" y="3989253"/>
            <a:ext cx="5476707" cy="952530"/>
          </a:xfrm>
          <a:prstGeom prst="rect">
            <a:avLst/>
          </a:prstGeom>
          <a:noFill/>
          <a:ln/>
        </p:spPr>
        <p:txBody>
          <a:bodyPr wrap="square" lIns="0" tIns="0" rIns="0" bIns="0" rtlCol="0" anchor="t"/>
          <a:lstStyle/>
          <a:p>
            <a:pPr algn="l" indent="0" marL="0">
              <a:lnSpc>
                <a:spcPts val="1875"/>
              </a:lnSpc>
              <a:buNone/>
            </a:pPr>
            <a:r>
              <a:rPr lang="en-IN" altLang="en-US" sz="1250" dirty="0">
                <a:solidFill>
                  <a:srgbClr val="54455C"/>
                </a:solidFill>
                <a:latin typeface="+mn-lt" pitchFamily="34" charset="0"/>
                <a:ea typeface="+mn-ea" pitchFamily="34" charset="-122"/>
                <a:cs typeface="+mn-cs" pitchFamily="34" charset="-120"/>
              </a:rPr>
              <a:t>HODs review registrations from their own department only, and run department events. Faculty can search both cohorts. The placement cell approves every job before students see it, and CGPA stays on the placement side.</a:t>
            </a:r>
            <a:endParaRPr lang="en-US" sz="1250" dirty="0"/>
          </a:p>
        </p:txBody>
      </p:sp>
      <p:sp>
        <p:nvSpPr>
          <p:cNvPr id="13" name="Shape 11"/>
          <p:cNvSpPr/>
          <p:nvPr/>
        </p:nvSpPr>
        <p:spPr>
          <a:xfrm>
            <a:off x="6299210" y="3492094"/>
            <a:ext cx="5130790" cy="0"/>
          </a:xfrm>
          <a:prstGeom prst="line">
            <a:avLst/>
          </a:prstGeom>
          <a:noFill/>
          <a:ln w="6350">
            <a:solidFill>
              <a:srgbClr val="E8DED6"/>
            </a:solidFill>
            <a:prstDash val="solid"/>
          </a:ln>
        </p:spPr>
      </p:sp>
      <p:sp>
        <p:nvSpPr>
          <p:cNvPr id="14" name="Text 12"/>
          <p:cNvSpPr txBox="1"/>
          <p:nvPr/>
        </p:nvSpPr>
        <p:spPr>
          <a:xfrm>
            <a:off x="6299210" y="3647633"/>
            <a:ext cx="5130790" cy="265450"/>
          </a:xfrm>
          <a:prstGeom prst="rect">
            <a:avLst/>
          </a:prstGeom>
          <a:noFill/>
          <a:ln/>
        </p:spPr>
        <p:txBody>
          <a:bodyPr wrap="none" lIns="0" tIns="0" rIns="0" bIns="0" rtlCol="0" anchor="t"/>
          <a:lstStyle/>
          <a:p>
            <a:pPr algn="l" indent="0" marL="0">
              <a:lnSpc>
                <a:spcPts val="2090"/>
              </a:lnSpc>
              <a:buNone/>
            </a:pPr>
            <a:r>
              <a:rPr lang="en-IN" altLang="en-US" sz="1900" b="1" spc="-36" kern="0" dirty="0">
                <a:solidFill>
                  <a:srgbClr val="2A1830"/>
                </a:solidFill>
                <a:latin typeface="+mj-lt" pitchFamily="34" charset="0"/>
                <a:ea typeface="+mj-ea" pitchFamily="34" charset="-122"/>
                <a:cs typeface="+mj-cs" pitchFamily="34" charset="-120"/>
              </a:rPr>
              <a:t>Alumni cell</a:t>
            </a:r>
            <a:endParaRPr lang="en-US" sz="1900" dirty="0"/>
          </a:p>
        </p:txBody>
      </p:sp>
      <p:sp>
        <p:nvSpPr>
          <p:cNvPr id="15" name="Text 13"/>
          <p:cNvSpPr txBox="1"/>
          <p:nvPr/>
        </p:nvSpPr>
        <p:spPr>
          <a:xfrm>
            <a:off x="6299210" y="3989253"/>
            <a:ext cx="5476707" cy="476220"/>
          </a:xfrm>
          <a:prstGeom prst="rect">
            <a:avLst/>
          </a:prstGeom>
          <a:noFill/>
          <a:ln/>
        </p:spPr>
        <p:txBody>
          <a:bodyPr wrap="square" lIns="0" tIns="0" rIns="0" bIns="0" rtlCol="0" anchor="t"/>
          <a:lstStyle/>
          <a:p>
            <a:pPr algn="l" indent="0" marL="0">
              <a:lnSpc>
                <a:spcPts val="1875"/>
              </a:lnSpc>
              <a:buNone/>
            </a:pPr>
            <a:r>
              <a:rPr lang="en-IN" altLang="en-US" sz="1250" dirty="0">
                <a:solidFill>
                  <a:srgbClr val="54455C"/>
                </a:solidFill>
                <a:latin typeface="+mn-lt" pitchFamily="34" charset="0"/>
                <a:ea typeface="+mn-ea" pitchFamily="34" charset="-122"/>
                <a:cs typeface="+mn-cs" pitchFamily="34" charset="-120"/>
              </a:rPr>
              <a:t>Works the verification queue, runs events and check-in, publishes news and galleries, and writes to batches.</a:t>
            </a:r>
            <a:endParaRPr lang="en-US" sz="1250" dirty="0"/>
          </a:p>
        </p:txBody>
      </p:sp>
      <p:sp>
        <p:nvSpPr>
          <p:cNvPr id="16" name="Shape 14"/>
          <p:cNvSpPr/>
          <p:nvPr/>
        </p:nvSpPr>
        <p:spPr>
          <a:xfrm>
            <a:off x="771571" y="5132253"/>
            <a:ext cx="0" cy="238110"/>
          </a:xfrm>
          <a:prstGeom prst="line">
            <a:avLst/>
          </a:prstGeom>
          <a:noFill/>
          <a:ln w="19050">
            <a:solidFill>
              <a:srgbClr val="C2856A"/>
            </a:solidFill>
            <a:prstDash val="solid"/>
          </a:ln>
        </p:spPr>
      </p:sp>
      <p:sp>
        <p:nvSpPr>
          <p:cNvPr id="17" name="Text 15"/>
          <p:cNvSpPr txBox="1"/>
          <p:nvPr/>
        </p:nvSpPr>
        <p:spPr>
          <a:xfrm>
            <a:off x="920709" y="5132253"/>
            <a:ext cx="10509291" cy="238110"/>
          </a:xfrm>
          <a:prstGeom prst="rect">
            <a:avLst/>
          </a:prstGeom>
          <a:noFill/>
          <a:ln/>
        </p:spPr>
        <p:txBody>
          <a:bodyPr wrap="none" lIns="0" tIns="0" rIns="0" bIns="0" rtlCol="0" anchor="t"/>
          <a:lstStyle/>
          <a:p>
            <a:pPr algn="l" indent="0" marL="0">
              <a:lnSpc>
                <a:spcPts val="1875"/>
              </a:lnSpc>
              <a:buNone/>
            </a:pPr>
            <a:r>
              <a:rPr lang="en-IN" altLang="en-US" sz="1250" b="1" dirty="0">
                <a:solidFill>
                  <a:srgbClr val="2A1830"/>
                </a:solidFill>
                <a:latin typeface="+mn-lt" pitchFamily="34" charset="0"/>
                <a:ea typeface="+mn-ea" pitchFamily="34" charset="-122"/>
                <a:cs typeface="+mn-cs" pitchFamily="34" charset="-120"/>
              </a:rPr>
              <a:t>Nine roles, one permission table.</a:t>
            </a:r>
            <a:pPr algn="l" indent="0" marL="0">
              <a:lnSpc>
                <a:spcPts val="1875"/>
              </a:lnSpc>
              <a:buNone/>
            </a:pPr>
            <a:r>
              <a:rPr lang="en-IN" altLang="en-US" sz="1250" dirty="0">
                <a:solidFill>
                  <a:srgbClr val="54455C"/>
                </a:solidFill>
                <a:latin typeface="+mn-lt" pitchFamily="34" charset="0"/>
                <a:ea typeface="+mn-ea" pitchFamily="34" charset="-122"/>
                <a:cs typeface="+mn-cs" pitchFamily="34" charset="-120"/>
              </a:rPr>
              <a:t> One person can hold several roles and gets exactly what each allows.</a:t>
            </a:r>
            <a:endParaRPr lang="en-US" sz="1250" dirty="0"/>
          </a:p>
        </p:txBody>
      </p:sp>
      <p:sp>
        <p:nvSpPr>
          <p:cNvPr id="18" name="Shape 16"/>
          <p:cNvSpPr/>
          <p:nvPr/>
        </p:nvSpPr>
        <p:spPr>
          <a:xfrm>
            <a:off x="761970" y="5915071"/>
            <a:ext cx="10668030" cy="0"/>
          </a:xfrm>
          <a:prstGeom prst="line">
            <a:avLst/>
          </a:prstGeom>
          <a:noFill/>
          <a:ln w="6350">
            <a:solidFill>
              <a:srgbClr val="E8DED6"/>
            </a:solidFill>
            <a:prstDash val="solid"/>
          </a:ln>
        </p:spPr>
      </p:sp>
      <p:pic>
        <p:nvPicPr>
          <p:cNvPr id="19" name="Image 0" descr="ifBash">    </p:cNvPr>
          <p:cNvPicPr>
            <a:picLocks noChangeAspect="1"/>
          </p:cNvPicPr>
          <p:nvPr/>
        </p:nvPicPr>
        <p:blipFill>
          <a:blip r:embed="rId1"/>
          <a:stretch>
            <a:fillRect/>
          </a:stretch>
        </p:blipFill>
        <p:spPr>
          <a:xfrm>
            <a:off x="761970" y="6045190"/>
            <a:ext cx="254020" cy="254020"/>
          </a:xfrm>
          <a:prstGeom prst="rect">
            <a:avLst/>
          </a:prstGeom>
        </p:spPr>
      </p:pic>
      <p:sp>
        <p:nvSpPr>
          <p:cNvPr id="20" name="Text 17"/>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3810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Screens · Alumni</a:t>
            </a:r>
            <a:endParaRPr lang="en-US" sz="1200" dirty="0"/>
          </a:p>
        </p:txBody>
      </p:sp>
      <p:sp>
        <p:nvSpPr>
          <p:cNvPr id="3" name="Text 1"/>
          <p:cNvSpPr txBox="1"/>
          <p:nvPr/>
        </p:nvSpPr>
        <p:spPr>
          <a:xfrm>
            <a:off x="761970" y="876270"/>
            <a:ext cx="4076670" cy="1009680"/>
          </a:xfrm>
          <a:prstGeom prst="rect">
            <a:avLst/>
          </a:prstGeom>
          <a:noFill/>
          <a:ln/>
        </p:spPr>
        <p:txBody>
          <a:bodyPr wrap="square" lIns="0" tIns="0" rIns="0" bIns="0" rtlCol="0" anchor="t"/>
          <a:lstStyle/>
          <a:p>
            <a:pPr algn="l" indent="0" marL="0">
              <a:lnSpc>
                <a:spcPts val="2650"/>
              </a:lnSpc>
              <a:buNone/>
            </a:pPr>
            <a:r>
              <a:rPr lang="en-IN" altLang="en-US" sz="2500" b="1" spc="-58" kern="0" dirty="0">
                <a:solidFill>
                  <a:srgbClr val="2A1830"/>
                </a:solidFill>
                <a:latin typeface="+mj-lt" pitchFamily="34" charset="0"/>
                <a:ea typeface="+mj-ea" pitchFamily="34" charset="-122"/>
                <a:cs typeface="+mj-cs" pitchFamily="34" charset="-120"/>
              </a:rPr>
              <a:t>Alumni open the portal to someone who needs them, not to a feed.</a:t>
            </a:r>
            <a:endParaRPr lang="en-US" sz="2500" dirty="0"/>
          </a:p>
        </p:txBody>
      </p:sp>
      <p:sp>
        <p:nvSpPr>
          <p:cNvPr id="4" name="Shape 2"/>
          <p:cNvSpPr/>
          <p:nvPr/>
        </p:nvSpPr>
        <p:spPr>
          <a:xfrm>
            <a:off x="761970" y="2054200"/>
            <a:ext cx="3810030" cy="0"/>
          </a:xfrm>
          <a:prstGeom prst="line">
            <a:avLst/>
          </a:prstGeom>
          <a:noFill/>
          <a:ln w="6350">
            <a:solidFill>
              <a:srgbClr val="E8DED6"/>
            </a:solidFill>
            <a:prstDash val="solid"/>
          </a:ln>
        </p:spPr>
      </p:sp>
      <p:sp>
        <p:nvSpPr>
          <p:cNvPr id="5" name="Text 3"/>
          <p:cNvSpPr txBox="1"/>
          <p:nvPr/>
        </p:nvSpPr>
        <p:spPr>
          <a:xfrm>
            <a:off x="761970" y="2133570"/>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The home screen leads with the requests waiting for their reply.</a:t>
            </a:r>
            <a:endParaRPr lang="en-US" sz="1200" dirty="0"/>
          </a:p>
        </p:txBody>
      </p:sp>
      <p:sp>
        <p:nvSpPr>
          <p:cNvPr id="6" name="Shape 4"/>
          <p:cNvSpPr/>
          <p:nvPr/>
        </p:nvSpPr>
        <p:spPr>
          <a:xfrm>
            <a:off x="761970" y="2658435"/>
            <a:ext cx="3810030" cy="0"/>
          </a:xfrm>
          <a:prstGeom prst="line">
            <a:avLst/>
          </a:prstGeom>
          <a:noFill/>
          <a:ln w="6350">
            <a:solidFill>
              <a:srgbClr val="E8DED6"/>
            </a:solidFill>
            <a:prstDash val="solid"/>
          </a:ln>
        </p:spPr>
      </p:sp>
      <p:sp>
        <p:nvSpPr>
          <p:cNvPr id="7" name="Text 5"/>
          <p:cNvSpPr txBox="1"/>
          <p:nvPr/>
        </p:nvSpPr>
        <p:spPr>
          <a:xfrm>
            <a:off x="761970" y="2737805"/>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The directory finds batchmates by batch, branch, company or city, and only after sign-in.</a:t>
            </a:r>
            <a:endParaRPr lang="en-US" sz="1200" dirty="0"/>
          </a:p>
        </p:txBody>
      </p:sp>
      <p:sp>
        <p:nvSpPr>
          <p:cNvPr id="8" name="Shape 6"/>
          <p:cNvSpPr/>
          <p:nvPr/>
        </p:nvSpPr>
        <p:spPr>
          <a:xfrm>
            <a:off x="761970" y="3262671"/>
            <a:ext cx="3810030" cy="0"/>
          </a:xfrm>
          <a:prstGeom prst="line">
            <a:avLst/>
          </a:prstGeom>
          <a:noFill/>
          <a:ln w="6350">
            <a:solidFill>
              <a:srgbClr val="E8DED6"/>
            </a:solidFill>
            <a:prstDash val="solid"/>
          </a:ln>
        </p:spPr>
      </p:sp>
      <p:sp>
        <p:nvSpPr>
          <p:cNvPr id="9" name="Text 7"/>
          <p:cNvSpPr txBox="1"/>
          <p:nvPr/>
        </p:nvSpPr>
        <p:spPr>
          <a:xfrm>
            <a:off x="761970" y="3342041"/>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On the same screen, the alumnus switches mentoring, referrals and speaking on or off.</a:t>
            </a:r>
            <a:endParaRPr lang="en-US" sz="1200" dirty="0"/>
          </a:p>
        </p:txBody>
      </p:sp>
      <p:sp>
        <p:nvSpPr>
          <p:cNvPr id="10" name="Text 8"/>
          <p:cNvSpPr txBox="1"/>
          <p:nvPr/>
        </p:nvSpPr>
        <p:spPr>
          <a:xfrm>
            <a:off x="761970" y="4753234"/>
            <a:ext cx="4076670" cy="1012515"/>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9E2A4B"/>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54455C"/>
                </a:solidFill>
                <a:latin typeface="+mn-lt" pitchFamily="34" charset="0"/>
                <a:ea typeface="+mn-ea" pitchFamily="34" charset="-122"/>
                <a:cs typeface="+mn-cs" pitchFamily="34" charset="-120"/>
              </a:rPr>
              <a:t>Tamarind Grove University is a fictional demo college. The banner photo is illustrative stock (Pexels), and the people in it do not endorse the portal. All people, companies and numbers are demo data.</a:t>
            </a:r>
            <a:endParaRPr lang="en-US" sz="900" dirty="0"/>
          </a:p>
        </p:txBody>
      </p:sp>
      <p:sp>
        <p:nvSpPr>
          <p:cNvPr id="11" name="Shape 9"/>
          <p:cNvSpPr/>
          <p:nvPr/>
        </p:nvSpPr>
        <p:spPr>
          <a:xfrm>
            <a:off x="4800600" y="558790"/>
            <a:ext cx="6629400" cy="3301990"/>
          </a:xfrm>
          <a:prstGeom prst="rect">
            <a:avLst/>
          </a:prstGeom>
          <a:solidFill>
            <a:srgbClr val="FFFFFF"/>
          </a:solidFill>
          <a:ln/>
        </p:spPr>
      </p:sp>
      <p:pic>
        <p:nvPicPr>
          <p:cNvPr id="12" name="Image 0" descr="Alumni home screen">    </p:cNvPr>
          <p:cNvPicPr>
            <a:picLocks noChangeAspect="1"/>
          </p:cNvPicPr>
          <p:nvPr/>
        </p:nvPicPr>
        <p:blipFill>
          <a:blip r:embed="rId1"/>
          <a:stretch>
            <a:fillRect/>
          </a:stretch>
        </p:blipFill>
        <p:spPr>
          <a:xfrm>
            <a:off x="4806909" y="565191"/>
            <a:ext cx="6616690" cy="3289280"/>
          </a:xfrm>
          <a:prstGeom prst="rect">
            <a:avLst/>
          </a:prstGeom>
        </p:spPr>
      </p:pic>
      <p:sp>
        <p:nvSpPr>
          <p:cNvPr id="13" name="Shape 10"/>
          <p:cNvSpPr/>
          <p:nvPr/>
        </p:nvSpPr>
        <p:spPr>
          <a:xfrm>
            <a:off x="4803800" y="561990"/>
            <a:ext cx="6623091" cy="3295680"/>
          </a:xfrm>
          <a:prstGeom prst="rect">
            <a:avLst/>
          </a:prstGeom>
          <a:ln w="6350">
            <a:solidFill>
              <a:srgbClr val="E8DED6"/>
            </a:solidFill>
            <a:prstDash val="solid"/>
          </a:ln>
        </p:spPr>
      </p:sp>
      <p:sp>
        <p:nvSpPr>
          <p:cNvPr id="14" name="Shape 11"/>
          <p:cNvSpPr/>
          <p:nvPr/>
        </p:nvSpPr>
        <p:spPr>
          <a:xfrm>
            <a:off x="4800600" y="3987790"/>
            <a:ext cx="6629400" cy="1777959"/>
          </a:xfrm>
          <a:prstGeom prst="rect">
            <a:avLst/>
          </a:prstGeom>
          <a:solidFill>
            <a:srgbClr val="FFFFFF"/>
          </a:solidFill>
          <a:ln/>
        </p:spPr>
      </p:sp>
      <p:pic>
        <p:nvPicPr>
          <p:cNvPr id="15" name="Image 1" descr="Directory shortcuts: your batch, your branch, near you, open to mentoring">    </p:cNvPr>
          <p:cNvPicPr>
            <a:picLocks noChangeAspect="1"/>
          </p:cNvPicPr>
          <p:nvPr/>
        </p:nvPicPr>
        <p:blipFill>
          <a:blip r:embed="rId2"/>
          <a:stretch>
            <a:fillRect/>
          </a:stretch>
        </p:blipFill>
        <p:spPr>
          <a:xfrm>
            <a:off x="4806909" y="3994191"/>
            <a:ext cx="6616690" cy="1765341"/>
          </a:xfrm>
          <a:prstGeom prst="rect">
            <a:avLst/>
          </a:prstGeom>
        </p:spPr>
      </p:pic>
      <p:sp>
        <p:nvSpPr>
          <p:cNvPr id="16" name="Shape 12"/>
          <p:cNvSpPr/>
          <p:nvPr/>
        </p:nvSpPr>
        <p:spPr>
          <a:xfrm>
            <a:off x="4803800" y="3990990"/>
            <a:ext cx="6623091" cy="1771650"/>
          </a:xfrm>
          <a:prstGeom prst="rect">
            <a:avLst/>
          </a:prstGeom>
          <a:ln w="6350">
            <a:solidFill>
              <a:srgbClr val="E8DED6"/>
            </a:solidFill>
            <a:prstDash val="solid"/>
          </a:ln>
        </p:spPr>
      </p:sp>
      <p:sp>
        <p:nvSpPr>
          <p:cNvPr id="17" name="Shape 13"/>
          <p:cNvSpPr/>
          <p:nvPr/>
        </p:nvSpPr>
        <p:spPr>
          <a:xfrm>
            <a:off x="761970" y="5915071"/>
            <a:ext cx="10668030" cy="0"/>
          </a:xfrm>
          <a:prstGeom prst="line">
            <a:avLst/>
          </a:prstGeom>
          <a:noFill/>
          <a:ln w="6350">
            <a:solidFill>
              <a:srgbClr val="E8DED6"/>
            </a:solidFill>
            <a:prstDash val="solid"/>
          </a:ln>
        </p:spPr>
      </p:sp>
      <p:pic>
        <p:nvPicPr>
          <p:cNvPr id="18" name="Image 2" descr="ifBash">    </p:cNvPr>
          <p:cNvPicPr>
            <a:picLocks noChangeAspect="1"/>
          </p:cNvPicPr>
          <p:nvPr/>
        </p:nvPicPr>
        <p:blipFill>
          <a:blip r:embed="rId3"/>
          <a:stretch>
            <a:fillRect/>
          </a:stretch>
        </p:blipFill>
        <p:spPr>
          <a:xfrm>
            <a:off x="761970" y="6045190"/>
            <a:ext cx="254020" cy="254020"/>
          </a:xfrm>
          <a:prstGeom prst="rect">
            <a:avLst/>
          </a:prstGeom>
        </p:spPr>
      </p:pic>
      <p:sp>
        <p:nvSpPr>
          <p:cNvPr id="19" name="Text 14"/>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3810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Screens · Final-year students</a:t>
            </a:r>
            <a:endParaRPr lang="en-US" sz="1200" dirty="0"/>
          </a:p>
        </p:txBody>
      </p:sp>
      <p:sp>
        <p:nvSpPr>
          <p:cNvPr id="3" name="Text 1"/>
          <p:cNvSpPr txBox="1"/>
          <p:nvPr/>
        </p:nvSpPr>
        <p:spPr>
          <a:xfrm>
            <a:off x="761970" y="876270"/>
            <a:ext cx="4076670" cy="1292230"/>
          </a:xfrm>
          <a:prstGeom prst="rect">
            <a:avLst/>
          </a:prstGeom>
          <a:noFill/>
          <a:ln/>
        </p:spPr>
        <p:txBody>
          <a:bodyPr wrap="square" lIns="0" tIns="0" rIns="0" bIns="0" rtlCol="0" anchor="t"/>
          <a:lstStyle/>
          <a:p>
            <a:pPr algn="l" indent="0" marL="0">
              <a:lnSpc>
                <a:spcPts val="2544"/>
              </a:lnSpc>
              <a:buNone/>
            </a:pPr>
            <a:r>
              <a:rPr lang="en-IN" altLang="en-US" sz="2400" b="1" spc="-55" kern="0" dirty="0">
                <a:solidFill>
                  <a:srgbClr val="2A1830"/>
                </a:solidFill>
                <a:latin typeface="+mj-lt" pitchFamily="34" charset="0"/>
                <a:ea typeface="+mj-ea" pitchFamily="34" charset="-122"/>
                <a:cs typeface="+mj-cs" pitchFamily="34" charset="-120"/>
              </a:rPr>
              <a:t>Final-years ask alumni for mentoring, referrals and jobs, within limits alumni can live with.</a:t>
            </a:r>
            <a:endParaRPr lang="en-US" sz="2400" dirty="0"/>
          </a:p>
        </p:txBody>
      </p:sp>
      <p:sp>
        <p:nvSpPr>
          <p:cNvPr id="4" name="Shape 2"/>
          <p:cNvSpPr/>
          <p:nvPr/>
        </p:nvSpPr>
        <p:spPr>
          <a:xfrm>
            <a:off x="761970" y="2336841"/>
            <a:ext cx="3810030" cy="0"/>
          </a:xfrm>
          <a:prstGeom prst="line">
            <a:avLst/>
          </a:prstGeom>
          <a:noFill/>
          <a:ln w="6350">
            <a:solidFill>
              <a:srgbClr val="E8DED6"/>
            </a:solidFill>
            <a:prstDash val="solid"/>
          </a:ln>
        </p:spPr>
      </p:sp>
      <p:sp>
        <p:nvSpPr>
          <p:cNvPr id="5" name="Text 3"/>
          <p:cNvSpPr txBox="1"/>
          <p:nvPr/>
        </p:nvSpPr>
        <p:spPr>
          <a:xfrm>
            <a:off x="761970" y="2416211"/>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Built for the phone: home, mentorship, requests and jobs sit in a bottom tab bar.</a:t>
            </a:r>
            <a:endParaRPr lang="en-US" sz="1200" dirty="0"/>
          </a:p>
        </p:txBody>
      </p:sp>
      <p:sp>
        <p:nvSpPr>
          <p:cNvPr id="6" name="Shape 4"/>
          <p:cNvSpPr/>
          <p:nvPr/>
        </p:nvSpPr>
        <p:spPr>
          <a:xfrm>
            <a:off x="761970" y="2941076"/>
            <a:ext cx="3810030" cy="0"/>
          </a:xfrm>
          <a:prstGeom prst="line">
            <a:avLst/>
          </a:prstGeom>
          <a:noFill/>
          <a:ln w="6350">
            <a:solidFill>
              <a:srgbClr val="E8DED6"/>
            </a:solidFill>
            <a:prstDash val="solid"/>
          </a:ln>
        </p:spPr>
      </p:sp>
      <p:sp>
        <p:nvSpPr>
          <p:cNvPr id="7" name="Text 5"/>
          <p:cNvSpPr txBox="1"/>
          <p:nvPr/>
        </p:nvSpPr>
        <p:spPr>
          <a:xfrm>
            <a:off x="761970" y="3020446"/>
            <a:ext cx="4076670" cy="909554"/>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Students see how many requests they have left. Alumni accept, decline or block. Closing unanswered requests on their own is coming next.</a:t>
            </a:r>
            <a:endParaRPr lang="en-US" sz="1200" dirty="0"/>
          </a:p>
        </p:txBody>
      </p:sp>
      <p:sp>
        <p:nvSpPr>
          <p:cNvPr id="8" name="Text 6"/>
          <p:cNvSpPr txBox="1"/>
          <p:nvPr/>
        </p:nvSpPr>
        <p:spPr>
          <a:xfrm>
            <a:off x="761970" y="3720419"/>
            <a:ext cx="1070214"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Coming next</a:t>
            </a:r>
            <a:endParaRPr lang="en-US" sz="900" dirty="0"/>
          </a:p>
        </p:txBody>
      </p:sp>
      <p:sp>
        <p:nvSpPr>
          <p:cNvPr id="9" name="Shape 7"/>
          <p:cNvSpPr/>
          <p:nvPr/>
        </p:nvSpPr>
        <p:spPr>
          <a:xfrm>
            <a:off x="761970" y="4021988"/>
            <a:ext cx="3810030" cy="0"/>
          </a:xfrm>
          <a:prstGeom prst="line">
            <a:avLst/>
          </a:prstGeom>
          <a:noFill/>
          <a:ln w="6350">
            <a:solidFill>
              <a:srgbClr val="E8DED6"/>
            </a:solidFill>
            <a:prstDash val="solid"/>
          </a:ln>
        </p:spPr>
      </p:sp>
      <p:sp>
        <p:nvSpPr>
          <p:cNvPr id="10" name="Text 8"/>
          <p:cNvSpPr txBox="1"/>
          <p:nvPr/>
        </p:nvSpPr>
        <p:spPr>
          <a:xfrm>
            <a:off x="761970" y="4101450"/>
            <a:ext cx="4076670" cy="649224"/>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The placement cell checks every job before students see it. Applying sends a name, branch, batch and note, never a phone or email.</a:t>
            </a:r>
            <a:endParaRPr lang="en-US" sz="1200" dirty="0"/>
          </a:p>
        </p:txBody>
      </p:sp>
      <p:sp>
        <p:nvSpPr>
          <p:cNvPr id="11" name="Text 9"/>
          <p:cNvSpPr txBox="1"/>
          <p:nvPr/>
        </p:nvSpPr>
        <p:spPr>
          <a:xfrm>
            <a:off x="761970" y="5158313"/>
            <a:ext cx="4076670" cy="607527"/>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9E2A4B"/>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54455C"/>
                </a:solidFill>
                <a:latin typeface="+mn-lt" pitchFamily="34" charset="0"/>
                <a:ea typeface="+mn-ea" pitchFamily="34" charset="-122"/>
                <a:cs typeface="+mn-cs" pitchFamily="34" charset="-120"/>
              </a:rPr>
              <a:t>Tamarind Grove University is a fictional demo college. All people, companies and numbers are demo data.</a:t>
            </a:r>
            <a:endParaRPr lang="en-US" sz="900" dirty="0"/>
          </a:p>
        </p:txBody>
      </p:sp>
      <p:sp>
        <p:nvSpPr>
          <p:cNvPr id="12" name="Shape 10"/>
          <p:cNvSpPr/>
          <p:nvPr/>
        </p:nvSpPr>
        <p:spPr>
          <a:xfrm>
            <a:off x="4800600" y="558790"/>
            <a:ext cx="2419320" cy="5206959"/>
          </a:xfrm>
          <a:prstGeom prst="rect">
            <a:avLst/>
          </a:prstGeom>
          <a:solidFill>
            <a:srgbClr val="FFFFFF"/>
          </a:solidFill>
          <a:ln/>
        </p:spPr>
      </p:sp>
      <p:pic>
        <p:nvPicPr>
          <p:cNvPr id="13" name="Image 0" descr="Student home on a phone">    </p:cNvPr>
          <p:cNvPicPr>
            <a:picLocks noChangeAspect="1"/>
          </p:cNvPicPr>
          <p:nvPr/>
        </p:nvPicPr>
        <p:blipFill>
          <a:blip r:embed="rId1"/>
          <a:stretch>
            <a:fillRect/>
          </a:stretch>
        </p:blipFill>
        <p:spPr>
          <a:xfrm>
            <a:off x="4806909" y="565191"/>
            <a:ext cx="2406609" cy="5194341"/>
          </a:xfrm>
          <a:prstGeom prst="rect">
            <a:avLst/>
          </a:prstGeom>
        </p:spPr>
      </p:pic>
      <p:sp>
        <p:nvSpPr>
          <p:cNvPr id="14" name="Shape 11"/>
          <p:cNvSpPr/>
          <p:nvPr/>
        </p:nvSpPr>
        <p:spPr>
          <a:xfrm>
            <a:off x="4803800" y="561990"/>
            <a:ext cx="2413010" cy="5200650"/>
          </a:xfrm>
          <a:prstGeom prst="rect">
            <a:avLst/>
          </a:prstGeom>
          <a:ln w="6350">
            <a:solidFill>
              <a:srgbClr val="E8DED6"/>
            </a:solidFill>
            <a:prstDash val="solid"/>
          </a:ln>
        </p:spPr>
      </p:sp>
      <p:sp>
        <p:nvSpPr>
          <p:cNvPr id="15" name="Shape 12"/>
          <p:cNvSpPr/>
          <p:nvPr/>
        </p:nvSpPr>
        <p:spPr>
          <a:xfrm>
            <a:off x="7346930" y="558790"/>
            <a:ext cx="4083070" cy="2540020"/>
          </a:xfrm>
          <a:prstGeom prst="rect">
            <a:avLst/>
          </a:prstGeom>
          <a:solidFill>
            <a:srgbClr val="FFFFFF"/>
          </a:solidFill>
          <a:ln/>
        </p:spPr>
      </p:sp>
      <p:pic>
        <p:nvPicPr>
          <p:cNvPr id="16" name="Image 1" descr="Requests waiting for an alumnus">    </p:cNvPr>
          <p:cNvPicPr>
            <a:picLocks noChangeAspect="1"/>
          </p:cNvPicPr>
          <p:nvPr/>
        </p:nvPicPr>
        <p:blipFill>
          <a:blip r:embed="rId2"/>
          <a:stretch>
            <a:fillRect/>
          </a:stretch>
        </p:blipFill>
        <p:spPr>
          <a:xfrm>
            <a:off x="7353330" y="565191"/>
            <a:ext cx="4070360" cy="2527310"/>
          </a:xfrm>
          <a:prstGeom prst="rect">
            <a:avLst/>
          </a:prstGeom>
        </p:spPr>
      </p:pic>
      <p:sp>
        <p:nvSpPr>
          <p:cNvPr id="17" name="Shape 13"/>
          <p:cNvSpPr/>
          <p:nvPr/>
        </p:nvSpPr>
        <p:spPr>
          <a:xfrm>
            <a:off x="7350130" y="561990"/>
            <a:ext cx="4076670" cy="2533620"/>
          </a:xfrm>
          <a:prstGeom prst="rect">
            <a:avLst/>
          </a:prstGeom>
          <a:ln w="6350">
            <a:solidFill>
              <a:srgbClr val="E8DED6"/>
            </a:solidFill>
            <a:prstDash val="solid"/>
          </a:ln>
        </p:spPr>
      </p:sp>
      <p:sp>
        <p:nvSpPr>
          <p:cNvPr id="18" name="Shape 14"/>
          <p:cNvSpPr/>
          <p:nvPr/>
        </p:nvSpPr>
        <p:spPr>
          <a:xfrm>
            <a:off x="7346930" y="3225820"/>
            <a:ext cx="4083070" cy="2540020"/>
          </a:xfrm>
          <a:prstGeom prst="rect">
            <a:avLst/>
          </a:prstGeom>
          <a:solidFill>
            <a:srgbClr val="FFFFFF"/>
          </a:solidFill>
          <a:ln/>
        </p:spPr>
      </p:sp>
      <p:pic>
        <p:nvPicPr>
          <p:cNvPr id="19" name="Image 2" descr="A job posted by an alumnus">    </p:cNvPr>
          <p:cNvPicPr>
            <a:picLocks noChangeAspect="1"/>
          </p:cNvPicPr>
          <p:nvPr/>
        </p:nvPicPr>
        <p:blipFill>
          <a:blip r:embed="rId3"/>
          <a:stretch>
            <a:fillRect/>
          </a:stretch>
        </p:blipFill>
        <p:spPr>
          <a:xfrm>
            <a:off x="7353330" y="3232130"/>
            <a:ext cx="4070360" cy="2527310"/>
          </a:xfrm>
          <a:prstGeom prst="rect">
            <a:avLst/>
          </a:prstGeom>
        </p:spPr>
      </p:pic>
      <p:sp>
        <p:nvSpPr>
          <p:cNvPr id="20" name="Shape 15"/>
          <p:cNvSpPr/>
          <p:nvPr/>
        </p:nvSpPr>
        <p:spPr>
          <a:xfrm>
            <a:off x="7350130" y="3229021"/>
            <a:ext cx="4076670" cy="2533620"/>
          </a:xfrm>
          <a:prstGeom prst="rect">
            <a:avLst/>
          </a:prstGeom>
          <a:ln w="6350">
            <a:solidFill>
              <a:srgbClr val="E8DED6"/>
            </a:solidFill>
            <a:prstDash val="solid"/>
          </a:ln>
        </p:spPr>
      </p:sp>
      <p:sp>
        <p:nvSpPr>
          <p:cNvPr id="21" name="Shape 16"/>
          <p:cNvSpPr/>
          <p:nvPr/>
        </p:nvSpPr>
        <p:spPr>
          <a:xfrm>
            <a:off x="761970" y="5915071"/>
            <a:ext cx="10668030" cy="0"/>
          </a:xfrm>
          <a:prstGeom prst="line">
            <a:avLst/>
          </a:prstGeom>
          <a:noFill/>
          <a:ln w="6350">
            <a:solidFill>
              <a:srgbClr val="E8DED6"/>
            </a:solidFill>
            <a:prstDash val="solid"/>
          </a:ln>
        </p:spPr>
      </p:sp>
      <p:pic>
        <p:nvPicPr>
          <p:cNvPr id="22" name="Image 3" descr="ifBash">    </p:cNvPr>
          <p:cNvPicPr>
            <a:picLocks noChangeAspect="1"/>
          </p:cNvPicPr>
          <p:nvPr/>
        </p:nvPicPr>
        <p:blipFill>
          <a:blip r:embed="rId4"/>
          <a:stretch>
            <a:fillRect/>
          </a:stretch>
        </p:blipFill>
        <p:spPr>
          <a:xfrm>
            <a:off x="761970" y="6045190"/>
            <a:ext cx="254020" cy="254020"/>
          </a:xfrm>
          <a:prstGeom prst="rect">
            <a:avLst/>
          </a:prstGeom>
        </p:spPr>
      </p:pic>
      <p:sp>
        <p:nvSpPr>
          <p:cNvPr id="23" name="Text 17"/>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3810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Screens · Events and reunions</a:t>
            </a:r>
            <a:endParaRPr lang="en-US" sz="1200" dirty="0"/>
          </a:p>
        </p:txBody>
      </p:sp>
      <p:sp>
        <p:nvSpPr>
          <p:cNvPr id="3" name="Text 1"/>
          <p:cNvSpPr txBox="1"/>
          <p:nvPr/>
        </p:nvSpPr>
        <p:spPr>
          <a:xfrm>
            <a:off x="761970" y="876270"/>
            <a:ext cx="4076670" cy="1009680"/>
          </a:xfrm>
          <a:prstGeom prst="rect">
            <a:avLst/>
          </a:prstGeom>
          <a:noFill/>
          <a:ln/>
        </p:spPr>
        <p:txBody>
          <a:bodyPr wrap="square" lIns="0" tIns="0" rIns="0" bIns="0" rtlCol="0" anchor="t"/>
          <a:lstStyle/>
          <a:p>
            <a:pPr algn="l" indent="0" marL="0">
              <a:lnSpc>
                <a:spcPts val="2650"/>
              </a:lnSpc>
              <a:buNone/>
            </a:pPr>
            <a:r>
              <a:rPr lang="en-IN" altLang="en-US" sz="2500" b="1" spc="-58" kern="0" dirty="0">
                <a:solidFill>
                  <a:srgbClr val="2A1830"/>
                </a:solidFill>
                <a:latin typeface="+mj-lt" pitchFamily="34" charset="0"/>
                <a:ea typeface="+mj-ea" pitchFamily="34" charset="-122"/>
                <a:cs typeface="+mj-cs" pitchFamily="34" charset="-120"/>
              </a:rPr>
              <a:t>A reunion runs from the invitation to the check-in desk in one place.</a:t>
            </a:r>
            <a:endParaRPr lang="en-US" sz="2500" dirty="0"/>
          </a:p>
        </p:txBody>
      </p:sp>
      <p:sp>
        <p:nvSpPr>
          <p:cNvPr id="4" name="Shape 2"/>
          <p:cNvSpPr/>
          <p:nvPr/>
        </p:nvSpPr>
        <p:spPr>
          <a:xfrm>
            <a:off x="761970" y="2054200"/>
            <a:ext cx="3810030" cy="0"/>
          </a:xfrm>
          <a:prstGeom prst="line">
            <a:avLst/>
          </a:prstGeom>
          <a:noFill/>
          <a:ln w="6350">
            <a:solidFill>
              <a:srgbClr val="E8DED6"/>
            </a:solidFill>
            <a:prstDash val="solid"/>
          </a:ln>
        </p:spPr>
      </p:sp>
      <p:sp>
        <p:nvSpPr>
          <p:cNvPr id="5" name="Text 3"/>
          <p:cNvSpPr txBox="1"/>
          <p:nvPr/>
        </p:nvSpPr>
        <p:spPr>
          <a:xfrm>
            <a:off x="761970" y="2133570"/>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Events take seats, guests, ticket prices and alumni-only entry. A full event takes requests for a seat.</a:t>
            </a:r>
            <a:endParaRPr lang="en-US" sz="1200" dirty="0"/>
          </a:p>
        </p:txBody>
      </p:sp>
      <p:sp>
        <p:nvSpPr>
          <p:cNvPr id="6" name="Shape 4"/>
          <p:cNvSpPr/>
          <p:nvPr/>
        </p:nvSpPr>
        <p:spPr>
          <a:xfrm>
            <a:off x="761970" y="2658435"/>
            <a:ext cx="3810030" cy="0"/>
          </a:xfrm>
          <a:prstGeom prst="line">
            <a:avLst/>
          </a:prstGeom>
          <a:noFill/>
          <a:ln w="6350">
            <a:solidFill>
              <a:srgbClr val="E8DED6"/>
            </a:solidFill>
            <a:prstDash val="solid"/>
          </a:ln>
        </p:spPr>
      </p:sp>
      <p:sp>
        <p:nvSpPr>
          <p:cNvPr id="7" name="Text 5"/>
          <p:cNvSpPr txBox="1"/>
          <p:nvPr/>
        </p:nvSpPr>
        <p:spPr>
          <a:xfrm>
            <a:off x="761970" y="2737805"/>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Every registrant carries a pass with a check-in code. Door mode turns the roster into large check-in buttons.</a:t>
            </a:r>
            <a:endParaRPr lang="en-US" sz="1200" dirty="0"/>
          </a:p>
        </p:txBody>
      </p:sp>
      <p:sp>
        <p:nvSpPr>
          <p:cNvPr id="8" name="Shape 6"/>
          <p:cNvSpPr/>
          <p:nvPr/>
        </p:nvSpPr>
        <p:spPr>
          <a:xfrm>
            <a:off x="761970" y="3262671"/>
            <a:ext cx="3810030" cy="0"/>
          </a:xfrm>
          <a:prstGeom prst="line">
            <a:avLst/>
          </a:prstGeom>
          <a:noFill/>
          <a:ln w="6350">
            <a:solidFill>
              <a:srgbClr val="E8DED6"/>
            </a:solidFill>
            <a:prstDash val="solid"/>
          </a:ln>
        </p:spPr>
      </p:sp>
      <p:sp>
        <p:nvSpPr>
          <p:cNvPr id="9" name="Text 7"/>
          <p:cNvSpPr txBox="1"/>
          <p:nvPr/>
        </p:nvSpPr>
        <p:spPr>
          <a:xfrm>
            <a:off x="761970" y="3342041"/>
            <a:ext cx="4076670" cy="693115"/>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One tap shares an event to WhatsApp. Online payment through Razorpay is coming next.</a:t>
            </a:r>
            <a:endParaRPr lang="en-US" sz="1200" dirty="0"/>
          </a:p>
        </p:txBody>
      </p:sp>
      <p:sp>
        <p:nvSpPr>
          <p:cNvPr id="10" name="Text 8"/>
          <p:cNvSpPr txBox="1"/>
          <p:nvPr/>
        </p:nvSpPr>
        <p:spPr>
          <a:xfrm>
            <a:off x="761970" y="3825667"/>
            <a:ext cx="1070214"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Coming next</a:t>
            </a:r>
            <a:endParaRPr lang="en-US" sz="900" dirty="0"/>
          </a:p>
        </p:txBody>
      </p:sp>
      <p:sp>
        <p:nvSpPr>
          <p:cNvPr id="11" name="Text 9"/>
          <p:cNvSpPr txBox="1"/>
          <p:nvPr/>
        </p:nvSpPr>
        <p:spPr>
          <a:xfrm>
            <a:off x="761970" y="5158313"/>
            <a:ext cx="4076670" cy="607527"/>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9E2A4B"/>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54455C"/>
                </a:solidFill>
                <a:latin typeface="+mn-lt" pitchFamily="34" charset="0"/>
                <a:ea typeface="+mn-ea" pitchFamily="34" charset="-122"/>
                <a:cs typeface="+mn-cs" pitchFamily="34" charset="-120"/>
              </a:rPr>
              <a:t>Tamarind Grove University is a fictional demo college. Events, prices, people and counts are demo data.</a:t>
            </a:r>
            <a:endParaRPr lang="en-US" sz="900" dirty="0"/>
          </a:p>
        </p:txBody>
      </p:sp>
      <p:sp>
        <p:nvSpPr>
          <p:cNvPr id="12" name="Shape 10"/>
          <p:cNvSpPr/>
          <p:nvPr/>
        </p:nvSpPr>
        <p:spPr>
          <a:xfrm>
            <a:off x="4800600" y="558790"/>
            <a:ext cx="2419320" cy="5206959"/>
          </a:xfrm>
          <a:prstGeom prst="rect">
            <a:avLst/>
          </a:prstGeom>
          <a:solidFill>
            <a:srgbClr val="FFFFFF"/>
          </a:solidFill>
          <a:ln/>
        </p:spPr>
      </p:sp>
      <p:pic>
        <p:nvPicPr>
          <p:cNvPr id="13" name="Image 0" descr="Event pass on a phone">    </p:cNvPr>
          <p:cNvPicPr>
            <a:picLocks noChangeAspect="1"/>
          </p:cNvPicPr>
          <p:nvPr/>
        </p:nvPicPr>
        <p:blipFill>
          <a:blip r:embed="rId1"/>
          <a:stretch>
            <a:fillRect/>
          </a:stretch>
        </p:blipFill>
        <p:spPr>
          <a:xfrm>
            <a:off x="4806909" y="565191"/>
            <a:ext cx="2406609" cy="5194341"/>
          </a:xfrm>
          <a:prstGeom prst="rect">
            <a:avLst/>
          </a:prstGeom>
        </p:spPr>
      </p:pic>
      <p:sp>
        <p:nvSpPr>
          <p:cNvPr id="14" name="Shape 11"/>
          <p:cNvSpPr/>
          <p:nvPr/>
        </p:nvSpPr>
        <p:spPr>
          <a:xfrm>
            <a:off x="4803800" y="561990"/>
            <a:ext cx="2413010" cy="5200650"/>
          </a:xfrm>
          <a:prstGeom prst="rect">
            <a:avLst/>
          </a:prstGeom>
          <a:ln w="6350">
            <a:solidFill>
              <a:srgbClr val="E8DED6"/>
            </a:solidFill>
            <a:prstDash val="solid"/>
          </a:ln>
        </p:spPr>
      </p:sp>
      <p:sp>
        <p:nvSpPr>
          <p:cNvPr id="15" name="Shape 12"/>
          <p:cNvSpPr/>
          <p:nvPr/>
        </p:nvSpPr>
        <p:spPr>
          <a:xfrm>
            <a:off x="7346930" y="558790"/>
            <a:ext cx="4083070" cy="2540020"/>
          </a:xfrm>
          <a:prstGeom prst="rect">
            <a:avLst/>
          </a:prstGeom>
          <a:solidFill>
            <a:srgbClr val="FFFFFF"/>
          </a:solidFill>
          <a:ln/>
        </p:spPr>
      </p:sp>
      <p:pic>
        <p:nvPicPr>
          <p:cNvPr id="16" name="Image 1" descr="Event list with seat states">    </p:cNvPr>
          <p:cNvPicPr>
            <a:picLocks noChangeAspect="1"/>
          </p:cNvPicPr>
          <p:nvPr/>
        </p:nvPicPr>
        <p:blipFill>
          <a:blip r:embed="rId2"/>
          <a:stretch>
            <a:fillRect/>
          </a:stretch>
        </p:blipFill>
        <p:spPr>
          <a:xfrm>
            <a:off x="7353330" y="565191"/>
            <a:ext cx="4070360" cy="2519081"/>
          </a:xfrm>
          <a:prstGeom prst="rect">
            <a:avLst/>
          </a:prstGeom>
        </p:spPr>
      </p:pic>
      <p:sp>
        <p:nvSpPr>
          <p:cNvPr id="17" name="Shape 13"/>
          <p:cNvSpPr/>
          <p:nvPr/>
        </p:nvSpPr>
        <p:spPr>
          <a:xfrm>
            <a:off x="7350130" y="561990"/>
            <a:ext cx="4076670" cy="2533620"/>
          </a:xfrm>
          <a:prstGeom prst="rect">
            <a:avLst/>
          </a:prstGeom>
          <a:ln w="6350">
            <a:solidFill>
              <a:srgbClr val="E8DED6"/>
            </a:solidFill>
            <a:prstDash val="solid"/>
          </a:ln>
        </p:spPr>
      </p:sp>
      <p:sp>
        <p:nvSpPr>
          <p:cNvPr id="18" name="Shape 14"/>
          <p:cNvSpPr/>
          <p:nvPr/>
        </p:nvSpPr>
        <p:spPr>
          <a:xfrm>
            <a:off x="7346930" y="3225820"/>
            <a:ext cx="4083070" cy="2540020"/>
          </a:xfrm>
          <a:prstGeom prst="rect">
            <a:avLst/>
          </a:prstGeom>
          <a:solidFill>
            <a:srgbClr val="FFFFFF"/>
          </a:solidFill>
          <a:ln/>
        </p:spPr>
      </p:sp>
      <p:pic>
        <p:nvPicPr>
          <p:cNvPr id="19" name="Image 2" descr="Door mode for check-in">    </p:cNvPr>
          <p:cNvPicPr>
            <a:picLocks noChangeAspect="1"/>
          </p:cNvPicPr>
          <p:nvPr/>
        </p:nvPicPr>
        <p:blipFill>
          <a:blip r:embed="rId3"/>
          <a:stretch>
            <a:fillRect/>
          </a:stretch>
        </p:blipFill>
        <p:spPr>
          <a:xfrm>
            <a:off x="7353330" y="3232130"/>
            <a:ext cx="4070360" cy="2527310"/>
          </a:xfrm>
          <a:prstGeom prst="rect">
            <a:avLst/>
          </a:prstGeom>
        </p:spPr>
      </p:pic>
      <p:sp>
        <p:nvSpPr>
          <p:cNvPr id="20" name="Shape 15"/>
          <p:cNvSpPr/>
          <p:nvPr/>
        </p:nvSpPr>
        <p:spPr>
          <a:xfrm>
            <a:off x="7350130" y="3229021"/>
            <a:ext cx="4076670" cy="2533620"/>
          </a:xfrm>
          <a:prstGeom prst="rect">
            <a:avLst/>
          </a:prstGeom>
          <a:ln w="6350">
            <a:solidFill>
              <a:srgbClr val="E8DED6"/>
            </a:solidFill>
            <a:prstDash val="solid"/>
          </a:ln>
        </p:spPr>
      </p:sp>
      <p:sp>
        <p:nvSpPr>
          <p:cNvPr id="21" name="Shape 16"/>
          <p:cNvSpPr/>
          <p:nvPr/>
        </p:nvSpPr>
        <p:spPr>
          <a:xfrm>
            <a:off x="761970" y="5915071"/>
            <a:ext cx="10668030" cy="0"/>
          </a:xfrm>
          <a:prstGeom prst="line">
            <a:avLst/>
          </a:prstGeom>
          <a:noFill/>
          <a:ln w="6350">
            <a:solidFill>
              <a:srgbClr val="E8DED6"/>
            </a:solidFill>
            <a:prstDash val="solid"/>
          </a:ln>
        </p:spPr>
      </p:sp>
      <p:pic>
        <p:nvPicPr>
          <p:cNvPr id="22" name="Image 3" descr="ifBash">    </p:cNvPr>
          <p:cNvPicPr>
            <a:picLocks noChangeAspect="1"/>
          </p:cNvPicPr>
          <p:nvPr/>
        </p:nvPicPr>
        <p:blipFill>
          <a:blip r:embed="rId4"/>
          <a:stretch>
            <a:fillRect/>
          </a:stretch>
        </p:blipFill>
        <p:spPr>
          <a:xfrm>
            <a:off x="761970" y="6045190"/>
            <a:ext cx="254020" cy="254020"/>
          </a:xfrm>
          <a:prstGeom prst="rect">
            <a:avLst/>
          </a:prstGeom>
        </p:spPr>
      </p:pic>
      <p:sp>
        <p:nvSpPr>
          <p:cNvPr id="23" name="Text 17"/>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White label</a:t>
            </a:r>
            <a:endParaRPr lang="en-US" sz="1200" dirty="0"/>
          </a:p>
        </p:txBody>
      </p:sp>
      <p:sp>
        <p:nvSpPr>
          <p:cNvPr id="3" name="Text 1"/>
          <p:cNvSpPr txBox="1"/>
          <p:nvPr/>
        </p:nvSpPr>
        <p:spPr>
          <a:xfrm>
            <a:off x="761970" y="876270"/>
            <a:ext cx="8864925" cy="773308"/>
          </a:xfrm>
          <a:prstGeom prst="rect">
            <a:avLst/>
          </a:prstGeom>
          <a:noFill/>
          <a:ln/>
        </p:spPr>
        <p:txBody>
          <a:bodyPr wrap="square" lIns="0" tIns="0" rIns="0" bIns="0" rtlCol="0" anchor="t"/>
          <a:lstStyle/>
          <a:p>
            <a:pPr algn="l" indent="0" marL="0">
              <a:lnSpc>
                <a:spcPts val="3045"/>
              </a:lnSpc>
              <a:buNone/>
            </a:pPr>
            <a:r>
              <a:rPr lang="en-IN" altLang="en-US" sz="2900" b="1" spc="-67" kern="0" dirty="0">
                <a:solidFill>
                  <a:srgbClr val="2A1830"/>
                </a:solidFill>
                <a:latin typeface="+mj-lt" pitchFamily="34" charset="0"/>
                <a:ea typeface="+mj-ea" pitchFamily="34" charset="-122"/>
                <a:cs typeface="+mj-cs" pitchFamily="34" charset="-120"/>
              </a:rPr>
              <a:t>Your college’s name, colours, photos and video come from one file, not from custom code.</a:t>
            </a:r>
            <a:endParaRPr lang="en-US" sz="2900" dirty="0"/>
          </a:p>
        </p:txBody>
      </p:sp>
      <p:sp>
        <p:nvSpPr>
          <p:cNvPr id="4" name="Shape 2"/>
          <p:cNvSpPr/>
          <p:nvPr/>
        </p:nvSpPr>
        <p:spPr>
          <a:xfrm>
            <a:off x="761970" y="1751625"/>
            <a:ext cx="5080041" cy="2552730"/>
          </a:xfrm>
          <a:prstGeom prst="rect">
            <a:avLst/>
          </a:prstGeom>
          <a:solidFill>
            <a:srgbClr val="FFFFFF"/>
          </a:solidFill>
          <a:ln/>
        </p:spPr>
      </p:sp>
      <p:pic>
        <p:nvPicPr>
          <p:cNvPr id="5" name="Image 0" descr="Sign-in page, Tamarind Grove University (fictional)">    </p:cNvPr>
          <p:cNvPicPr>
            <a:picLocks noChangeAspect="1"/>
          </p:cNvPicPr>
          <p:nvPr/>
        </p:nvPicPr>
        <p:blipFill>
          <a:blip r:embed="rId1"/>
          <a:stretch>
            <a:fillRect/>
          </a:stretch>
        </p:blipFill>
        <p:spPr>
          <a:xfrm>
            <a:off x="768370" y="1757934"/>
            <a:ext cx="5067330" cy="2540020"/>
          </a:xfrm>
          <a:prstGeom prst="rect">
            <a:avLst/>
          </a:prstGeom>
        </p:spPr>
      </p:pic>
      <p:sp>
        <p:nvSpPr>
          <p:cNvPr id="6" name="Shape 3"/>
          <p:cNvSpPr/>
          <p:nvPr/>
        </p:nvSpPr>
        <p:spPr>
          <a:xfrm>
            <a:off x="765170" y="1754825"/>
            <a:ext cx="5073640" cy="2546330"/>
          </a:xfrm>
          <a:prstGeom prst="rect">
            <a:avLst/>
          </a:prstGeom>
          <a:ln w="6350">
            <a:solidFill>
              <a:srgbClr val="E8DED6"/>
            </a:solidFill>
            <a:prstDash val="solid"/>
          </a:ln>
        </p:spPr>
      </p:sp>
      <p:sp>
        <p:nvSpPr>
          <p:cNvPr id="7" name="Text 4"/>
          <p:cNvSpPr txBox="1"/>
          <p:nvPr/>
        </p:nvSpPr>
        <p:spPr>
          <a:xfrm>
            <a:off x="761970" y="4380525"/>
            <a:ext cx="5422941" cy="391089"/>
          </a:xfrm>
          <a:prstGeom prst="rect">
            <a:avLst/>
          </a:prstGeom>
          <a:noFill/>
          <a:ln/>
        </p:spPr>
        <p:txBody>
          <a:bodyPr wrap="square" lIns="0" tIns="0" rIns="0" bIns="0" rtlCol="0" anchor="t"/>
          <a:lstStyle/>
          <a:p>
            <a:pPr algn="l" indent="0" marL="0">
              <a:lnSpc>
                <a:spcPts val="1540"/>
              </a:lnSpc>
              <a:buNone/>
            </a:pPr>
            <a:r>
              <a:rPr lang="en-IN" altLang="en-US" sz="1100" b="1" dirty="0">
                <a:solidFill>
                  <a:srgbClr val="2A1830"/>
                </a:solidFill>
                <a:latin typeface="+mn-lt" pitchFamily="34" charset="0"/>
                <a:ea typeface="+mn-ea" pitchFamily="34" charset="-122"/>
                <a:cs typeface="+mn-cs" pitchFamily="34" charset="-120"/>
              </a:rPr>
              <a:t>Tamarind Grove University:</a:t>
            </a:r>
            <a:pPr algn="l" indent="0" marL="0">
              <a:lnSpc>
                <a:spcPts val="1540"/>
              </a:lnSpc>
              <a:buNone/>
            </a:pPr>
            <a:r>
              <a:rPr lang="en-IN" altLang="en-US" sz="1100" dirty="0">
                <a:solidFill>
                  <a:srgbClr val="54455C"/>
                </a:solidFill>
                <a:latin typeface="+mn-lt" pitchFamily="34" charset="0"/>
                <a:ea typeface="+mn-ea" pitchFamily="34" charset="-122"/>
                <a:cs typeface="+mn-cs" pitchFamily="34" charset="-120"/>
              </a:rPr>
              <a:t> a fictional demo college. The photo is illustrative stock (Pexels), and the people in it do not endorse the portal.</a:t>
            </a:r>
            <a:endParaRPr lang="en-US" sz="1100" dirty="0"/>
          </a:p>
        </p:txBody>
      </p:sp>
      <p:sp>
        <p:nvSpPr>
          <p:cNvPr id="8" name="Shape 5"/>
          <p:cNvSpPr/>
          <p:nvPr/>
        </p:nvSpPr>
        <p:spPr>
          <a:xfrm>
            <a:off x="6349959" y="1751625"/>
            <a:ext cx="5080041" cy="2552730"/>
          </a:xfrm>
          <a:prstGeom prst="rect">
            <a:avLst/>
          </a:prstGeom>
          <a:solidFill>
            <a:srgbClr val="FFFFFF"/>
          </a:solidFill>
          <a:ln/>
        </p:spPr>
      </p:sp>
      <p:pic>
        <p:nvPicPr>
          <p:cNvPr id="9" name="Image 1" descr="Sign-in page, Northgate Polytechnic (fictional)">    </p:cNvPr>
          <p:cNvPicPr>
            <a:picLocks noChangeAspect="1"/>
          </p:cNvPicPr>
          <p:nvPr/>
        </p:nvPicPr>
        <p:blipFill>
          <a:blip r:embed="rId2"/>
          <a:stretch>
            <a:fillRect/>
          </a:stretch>
        </p:blipFill>
        <p:spPr>
          <a:xfrm>
            <a:off x="6356360" y="1757934"/>
            <a:ext cx="5067330" cy="2533620"/>
          </a:xfrm>
          <a:prstGeom prst="rect">
            <a:avLst/>
          </a:prstGeom>
        </p:spPr>
      </p:pic>
      <p:sp>
        <p:nvSpPr>
          <p:cNvPr id="10" name="Shape 6"/>
          <p:cNvSpPr/>
          <p:nvPr/>
        </p:nvSpPr>
        <p:spPr>
          <a:xfrm>
            <a:off x="6353160" y="1754825"/>
            <a:ext cx="5073640" cy="2546330"/>
          </a:xfrm>
          <a:prstGeom prst="rect">
            <a:avLst/>
          </a:prstGeom>
          <a:ln w="6350">
            <a:solidFill>
              <a:srgbClr val="E8DED6"/>
            </a:solidFill>
            <a:prstDash val="solid"/>
          </a:ln>
        </p:spPr>
      </p:sp>
      <p:sp>
        <p:nvSpPr>
          <p:cNvPr id="11" name="Text 7"/>
          <p:cNvSpPr txBox="1"/>
          <p:nvPr/>
        </p:nvSpPr>
        <p:spPr>
          <a:xfrm>
            <a:off x="6349959" y="4380525"/>
            <a:ext cx="5422941" cy="391089"/>
          </a:xfrm>
          <a:prstGeom prst="rect">
            <a:avLst/>
          </a:prstGeom>
          <a:noFill/>
          <a:ln/>
        </p:spPr>
        <p:txBody>
          <a:bodyPr wrap="square" lIns="0" tIns="0" rIns="0" bIns="0" rtlCol="0" anchor="t"/>
          <a:lstStyle/>
          <a:p>
            <a:pPr algn="l" indent="0" marL="0">
              <a:lnSpc>
                <a:spcPts val="1540"/>
              </a:lnSpc>
              <a:buNone/>
            </a:pPr>
            <a:r>
              <a:rPr lang="en-IN" altLang="en-US" sz="1100" b="1" dirty="0">
                <a:solidFill>
                  <a:srgbClr val="2A1830"/>
                </a:solidFill>
                <a:latin typeface="+mn-lt" pitchFamily="34" charset="0"/>
                <a:ea typeface="+mn-ea" pitchFamily="34" charset="-122"/>
                <a:cs typeface="+mn-cs" pitchFamily="34" charset="-120"/>
              </a:rPr>
              <a:t>Northgate Polytechnic:</a:t>
            </a:r>
            <a:pPr algn="l" indent="0" marL="0">
              <a:lnSpc>
                <a:spcPts val="1540"/>
              </a:lnSpc>
              <a:buNone/>
            </a:pPr>
            <a:r>
              <a:rPr lang="en-IN" altLang="en-US" sz="1100" dirty="0">
                <a:solidFill>
                  <a:srgbClr val="54455C"/>
                </a:solidFill>
                <a:latin typeface="+mn-lt" pitchFamily="34" charset="0"/>
                <a:ea typeface="+mn-ea" pitchFamily="34" charset="-122"/>
                <a:cs typeface="+mn-cs" pitchFamily="34" charset="-120"/>
              </a:rPr>
              <a:t> also fictional. Its file has no photos, so the page falls back to a solid band in its own colour.</a:t>
            </a:r>
            <a:endParaRPr lang="en-US" sz="1100" dirty="0"/>
          </a:p>
        </p:txBody>
      </p:sp>
      <p:sp>
        <p:nvSpPr>
          <p:cNvPr id="12" name="Shape 8"/>
          <p:cNvSpPr/>
          <p:nvPr/>
        </p:nvSpPr>
        <p:spPr>
          <a:xfrm>
            <a:off x="761970" y="4876770"/>
            <a:ext cx="1991289" cy="0"/>
          </a:xfrm>
          <a:prstGeom prst="line">
            <a:avLst/>
          </a:prstGeom>
          <a:noFill/>
          <a:ln w="6350">
            <a:solidFill>
              <a:srgbClr val="E8DED6"/>
            </a:solidFill>
            <a:prstDash val="solid"/>
          </a:ln>
        </p:spPr>
      </p:sp>
      <p:sp>
        <p:nvSpPr>
          <p:cNvPr id="13" name="Text 9"/>
          <p:cNvSpPr txBox="1"/>
          <p:nvPr/>
        </p:nvSpPr>
        <p:spPr>
          <a:xfrm>
            <a:off x="761970" y="4968850"/>
            <a:ext cx="2148931" cy="840974"/>
          </a:xfrm>
          <a:prstGeom prst="rect">
            <a:avLst/>
          </a:prstGeom>
          <a:noFill/>
          <a:ln/>
        </p:spPr>
        <p:txBody>
          <a:bodyPr wrap="square" lIns="0" tIns="0" rIns="0" bIns="0" rtlCol="0" anchor="t"/>
          <a:lstStyle/>
          <a:p>
            <a:pPr algn="l" indent="0" marL="0">
              <a:lnSpc>
                <a:spcPts val="1656"/>
              </a:lnSpc>
              <a:buNone/>
            </a:pPr>
            <a:r>
              <a:rPr lang="en-IN" altLang="en-US" sz="1200" b="1" dirty="0">
                <a:solidFill>
                  <a:srgbClr val="2A1830"/>
                </a:solidFill>
                <a:latin typeface="+mn-lt" pitchFamily="34" charset="0"/>
                <a:ea typeface="+mn-ea" pitchFamily="34" charset="-122"/>
                <a:cs typeface="+mn-cs" pitchFamily="34" charset="-120"/>
              </a:rPr>
              <a:t>One file per college.</a:t>
            </a:r>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 Name, crest, colours, typefaces, photos, wording and which modules are on.</a:t>
            </a:r>
            <a:endParaRPr lang="en-US" sz="1200" dirty="0"/>
          </a:p>
        </p:txBody>
      </p:sp>
      <p:sp>
        <p:nvSpPr>
          <p:cNvPr id="14" name="Shape 10"/>
          <p:cNvSpPr/>
          <p:nvPr/>
        </p:nvSpPr>
        <p:spPr>
          <a:xfrm>
            <a:off x="2931109" y="4876770"/>
            <a:ext cx="1991380" cy="0"/>
          </a:xfrm>
          <a:prstGeom prst="line">
            <a:avLst/>
          </a:prstGeom>
          <a:noFill/>
          <a:ln w="6350">
            <a:solidFill>
              <a:srgbClr val="E8DED6"/>
            </a:solidFill>
            <a:prstDash val="solid"/>
          </a:ln>
        </p:spPr>
      </p:sp>
      <p:sp>
        <p:nvSpPr>
          <p:cNvPr id="15" name="Text 11"/>
          <p:cNvSpPr txBox="1"/>
          <p:nvPr/>
        </p:nvSpPr>
        <p:spPr>
          <a:xfrm>
            <a:off x="2931109" y="4968850"/>
            <a:ext cx="2149023" cy="840974"/>
          </a:xfrm>
          <a:prstGeom prst="rect">
            <a:avLst/>
          </a:prstGeom>
          <a:noFill/>
          <a:ln/>
        </p:spPr>
        <p:txBody>
          <a:bodyPr wrap="square" lIns="0" tIns="0" rIns="0" bIns="0" rtlCol="0" anchor="t"/>
          <a:lstStyle/>
          <a:p>
            <a:pPr algn="l" indent="0" marL="0">
              <a:lnSpc>
                <a:spcPts val="1656"/>
              </a:lnSpc>
              <a:buNone/>
            </a:pPr>
            <a:r>
              <a:rPr lang="en-IN" altLang="en-US" sz="1200" b="1" dirty="0">
                <a:solidFill>
                  <a:srgbClr val="2A1830"/>
                </a:solidFill>
                <a:latin typeface="+mn-lt" pitchFamily="34" charset="0"/>
                <a:ea typeface="+mn-ea" pitchFamily="34" charset="-122"/>
                <a:cs typeface="+mn-cs" pitchFamily="34" charset="-120"/>
              </a:rPr>
              <a:t>Your colours in.</a:t>
            </a:r>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 Hover states, dark mode and every text colour are worked out from them.</a:t>
            </a:r>
            <a:endParaRPr lang="en-US" sz="1200" dirty="0"/>
          </a:p>
        </p:txBody>
      </p:sp>
      <p:sp>
        <p:nvSpPr>
          <p:cNvPr id="16" name="Shape 12"/>
          <p:cNvSpPr/>
          <p:nvPr/>
        </p:nvSpPr>
        <p:spPr>
          <a:xfrm>
            <a:off x="5100340" y="4876770"/>
            <a:ext cx="1991289" cy="0"/>
          </a:xfrm>
          <a:prstGeom prst="line">
            <a:avLst/>
          </a:prstGeom>
          <a:noFill/>
          <a:ln w="6350">
            <a:solidFill>
              <a:srgbClr val="E8DED6"/>
            </a:solidFill>
            <a:prstDash val="solid"/>
          </a:ln>
        </p:spPr>
      </p:sp>
      <p:sp>
        <p:nvSpPr>
          <p:cNvPr id="17" name="Text 13"/>
          <p:cNvSpPr txBox="1"/>
          <p:nvPr/>
        </p:nvSpPr>
        <p:spPr>
          <a:xfrm>
            <a:off x="5100340" y="4968850"/>
            <a:ext cx="2148931" cy="840974"/>
          </a:xfrm>
          <a:prstGeom prst="rect">
            <a:avLst/>
          </a:prstGeom>
          <a:noFill/>
          <a:ln/>
        </p:spPr>
        <p:txBody>
          <a:bodyPr wrap="square" lIns="0" tIns="0" rIns="0" bIns="0" rtlCol="0" anchor="t"/>
          <a:lstStyle/>
          <a:p>
            <a:pPr algn="l" indent="0" marL="0">
              <a:lnSpc>
                <a:spcPts val="1656"/>
              </a:lnSpc>
              <a:buNone/>
            </a:pPr>
            <a:r>
              <a:rPr lang="en-IN" altLang="en-US" sz="1200" b="1" dirty="0">
                <a:solidFill>
                  <a:srgbClr val="2A1830"/>
                </a:solidFill>
                <a:latin typeface="+mn-lt" pitchFamily="34" charset="0"/>
                <a:ea typeface="+mn-ea" pitchFamily="34" charset="-122"/>
                <a:cs typeface="+mn-cs" pitchFamily="34" charset="-120"/>
              </a:rPr>
              <a:t>A contrast check</a:t>
            </a:r>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 blocks any colour pairing that would be hard to read.</a:t>
            </a:r>
            <a:endParaRPr lang="en-US" sz="1200" dirty="0"/>
          </a:p>
        </p:txBody>
      </p:sp>
      <p:sp>
        <p:nvSpPr>
          <p:cNvPr id="18" name="Shape 14"/>
          <p:cNvSpPr/>
          <p:nvPr/>
        </p:nvSpPr>
        <p:spPr>
          <a:xfrm>
            <a:off x="7269480" y="4876770"/>
            <a:ext cx="1991380" cy="0"/>
          </a:xfrm>
          <a:prstGeom prst="line">
            <a:avLst/>
          </a:prstGeom>
          <a:noFill/>
          <a:ln w="6350">
            <a:solidFill>
              <a:srgbClr val="E8DED6"/>
            </a:solidFill>
            <a:prstDash val="solid"/>
          </a:ln>
        </p:spPr>
      </p:sp>
      <p:sp>
        <p:nvSpPr>
          <p:cNvPr id="19" name="Text 15"/>
          <p:cNvSpPr txBox="1"/>
          <p:nvPr/>
        </p:nvSpPr>
        <p:spPr>
          <a:xfrm>
            <a:off x="7269480" y="4968850"/>
            <a:ext cx="2149023" cy="840974"/>
          </a:xfrm>
          <a:prstGeom prst="rect">
            <a:avLst/>
          </a:prstGeom>
          <a:noFill/>
          <a:ln/>
        </p:spPr>
        <p:txBody>
          <a:bodyPr wrap="square" lIns="0" tIns="0" rIns="0" bIns="0" rtlCol="0" anchor="t"/>
          <a:lstStyle/>
          <a:p>
            <a:pPr algn="l" indent="0" marL="0">
              <a:lnSpc>
                <a:spcPts val="1656"/>
              </a:lnSpc>
              <a:buNone/>
            </a:pPr>
            <a:r>
              <a:rPr lang="en-IN" altLang="en-US" sz="1200" b="1" dirty="0">
                <a:solidFill>
                  <a:srgbClr val="2A1830"/>
                </a:solidFill>
                <a:latin typeface="+mn-lt" pitchFamily="34" charset="0"/>
                <a:ea typeface="+mn-ea" pitchFamily="34" charset="-122"/>
                <a:cs typeface="+mn-cs" pitchFamily="34" charset="-120"/>
              </a:rPr>
              <a:t>No photos yet?</a:t>
            </a:r>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 A solid band in the college’s own colour. The page looks designed, not empty.</a:t>
            </a:r>
            <a:endParaRPr lang="en-US" sz="1200" dirty="0"/>
          </a:p>
        </p:txBody>
      </p:sp>
      <p:sp>
        <p:nvSpPr>
          <p:cNvPr id="20" name="Shape 16"/>
          <p:cNvSpPr/>
          <p:nvPr/>
        </p:nvSpPr>
        <p:spPr>
          <a:xfrm>
            <a:off x="9438711" y="4876770"/>
            <a:ext cx="1991289" cy="0"/>
          </a:xfrm>
          <a:prstGeom prst="line">
            <a:avLst/>
          </a:prstGeom>
          <a:noFill/>
          <a:ln w="6350">
            <a:solidFill>
              <a:srgbClr val="E8DED6"/>
            </a:solidFill>
            <a:prstDash val="solid"/>
          </a:ln>
        </p:spPr>
      </p:sp>
      <p:sp>
        <p:nvSpPr>
          <p:cNvPr id="21" name="Text 17"/>
          <p:cNvSpPr txBox="1"/>
          <p:nvPr/>
        </p:nvSpPr>
        <p:spPr>
          <a:xfrm>
            <a:off x="9438711" y="4968850"/>
            <a:ext cx="2148931" cy="840974"/>
          </a:xfrm>
          <a:prstGeom prst="rect">
            <a:avLst/>
          </a:prstGeom>
          <a:noFill/>
          <a:ln/>
        </p:spPr>
        <p:txBody>
          <a:bodyPr wrap="square" lIns="0" tIns="0" rIns="0" bIns="0" rtlCol="0" anchor="t"/>
          <a:lstStyle/>
          <a:p>
            <a:pPr algn="l" indent="0" marL="0">
              <a:lnSpc>
                <a:spcPts val="1656"/>
              </a:lnSpc>
              <a:buNone/>
            </a:pPr>
            <a:r>
              <a:rPr lang="en-IN" altLang="en-US" sz="1200" b="1" dirty="0">
                <a:solidFill>
                  <a:srgbClr val="2A1830"/>
                </a:solidFill>
                <a:latin typeface="+mn-lt" pitchFamily="34" charset="0"/>
                <a:ea typeface="+mn-ea" pitchFamily="34" charset="-122"/>
                <a:cs typeface="+mn-cs" pitchFamily="34" charset="-120"/>
              </a:rPr>
              <a:t>Giving stays off</a:t>
            </a:r>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 until your FCRA status is confirmed.</a:t>
            </a:r>
            <a:endParaRPr lang="en-US" sz="1200" dirty="0"/>
          </a:p>
        </p:txBody>
      </p:sp>
      <p:sp>
        <p:nvSpPr>
          <p:cNvPr id="22" name="Shape 18"/>
          <p:cNvSpPr/>
          <p:nvPr/>
        </p:nvSpPr>
        <p:spPr>
          <a:xfrm>
            <a:off x="761970" y="5915071"/>
            <a:ext cx="10668030" cy="0"/>
          </a:xfrm>
          <a:prstGeom prst="line">
            <a:avLst/>
          </a:prstGeom>
          <a:noFill/>
          <a:ln w="6350">
            <a:solidFill>
              <a:srgbClr val="E8DED6"/>
            </a:solidFill>
            <a:prstDash val="solid"/>
          </a:ln>
        </p:spPr>
      </p:sp>
      <p:pic>
        <p:nvPicPr>
          <p:cNvPr id="23" name="Image 2" descr="ifBash">    </p:cNvPr>
          <p:cNvPicPr>
            <a:picLocks noChangeAspect="1"/>
          </p:cNvPicPr>
          <p:nvPr/>
        </p:nvPicPr>
        <p:blipFill>
          <a:blip r:embed="rId3"/>
          <a:stretch>
            <a:fillRect/>
          </a:stretch>
        </p:blipFill>
        <p:spPr>
          <a:xfrm>
            <a:off x="761970" y="6045190"/>
            <a:ext cx="254020" cy="254020"/>
          </a:xfrm>
          <a:prstGeom prst="rect">
            <a:avLst/>
          </a:prstGeom>
        </p:spPr>
      </p:pic>
      <p:sp>
        <p:nvSpPr>
          <p:cNvPr id="24" name="Text 19"/>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3810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Verification</a:t>
            </a:r>
            <a:endParaRPr lang="en-US" sz="1200" dirty="0"/>
          </a:p>
        </p:txBody>
      </p:sp>
      <p:sp>
        <p:nvSpPr>
          <p:cNvPr id="3" name="Text 1"/>
          <p:cNvSpPr txBox="1"/>
          <p:nvPr/>
        </p:nvSpPr>
        <p:spPr>
          <a:xfrm>
            <a:off x="761970" y="876270"/>
            <a:ext cx="4076670" cy="1238280"/>
          </a:xfrm>
          <a:prstGeom prst="rect">
            <a:avLst/>
          </a:prstGeom>
          <a:noFill/>
          <a:ln/>
        </p:spPr>
        <p:txBody>
          <a:bodyPr wrap="square" lIns="0" tIns="0" rIns="0" bIns="0" rtlCol="0" anchor="t"/>
          <a:lstStyle/>
          <a:p>
            <a:pPr algn="l" indent="0" marL="0">
              <a:lnSpc>
                <a:spcPts val="2438"/>
              </a:lnSpc>
              <a:buNone/>
            </a:pPr>
            <a:r>
              <a:rPr lang="en-IN" altLang="en-US" sz="2300" b="1" spc="-53" kern="0" dirty="0">
                <a:solidFill>
                  <a:srgbClr val="2A1830"/>
                </a:solidFill>
                <a:latin typeface="+mj-lt" pitchFamily="34" charset="0"/>
                <a:ea typeface="+mj-ea" pitchFamily="34" charset="-122"/>
                <a:cs typeface="+mj-cs" pitchFamily="34" charset="-120"/>
              </a:rPr>
              <a:t>Every alumni registration is checked against the degree register your examinations branch already keeps.</a:t>
            </a:r>
            <a:endParaRPr lang="en-US" sz="2300" dirty="0"/>
          </a:p>
        </p:txBody>
      </p:sp>
      <p:sp>
        <p:nvSpPr>
          <p:cNvPr id="4" name="Shape 2"/>
          <p:cNvSpPr/>
          <p:nvPr/>
        </p:nvSpPr>
        <p:spPr>
          <a:xfrm>
            <a:off x="761970" y="2282800"/>
            <a:ext cx="3810030" cy="0"/>
          </a:xfrm>
          <a:prstGeom prst="line">
            <a:avLst/>
          </a:prstGeom>
          <a:noFill/>
          <a:ln w="6350">
            <a:solidFill>
              <a:srgbClr val="E8DED6"/>
            </a:solidFill>
            <a:prstDash val="solid"/>
          </a:ln>
        </p:spPr>
      </p:sp>
      <p:sp>
        <p:nvSpPr>
          <p:cNvPr id="5" name="Text 3"/>
          <p:cNvSpPr txBox="1"/>
          <p:nvPr/>
        </p:nvSpPr>
        <p:spPr>
          <a:xfrm>
            <a:off x="761970" y="2362170"/>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Graduates register with their roll number, their name as printed, their branch and their year of passing.</a:t>
            </a:r>
            <a:endParaRPr lang="en-US" sz="1200" dirty="0"/>
          </a:p>
        </p:txBody>
      </p:sp>
      <p:sp>
        <p:nvSpPr>
          <p:cNvPr id="6" name="Shape 4"/>
          <p:cNvSpPr/>
          <p:nvPr/>
        </p:nvSpPr>
        <p:spPr>
          <a:xfrm>
            <a:off x="761970" y="2887035"/>
            <a:ext cx="3810030" cy="0"/>
          </a:xfrm>
          <a:prstGeom prst="line">
            <a:avLst/>
          </a:prstGeom>
          <a:noFill/>
          <a:ln w="6350">
            <a:solidFill>
              <a:srgbClr val="E8DED6"/>
            </a:solidFill>
            <a:prstDash val="solid"/>
          </a:ln>
        </p:spPr>
      </p:sp>
      <p:sp>
        <p:nvSpPr>
          <p:cNvPr id="7" name="Text 5"/>
          <p:cNvSpPr txBox="1"/>
          <p:nvPr/>
        </p:nvSpPr>
        <p:spPr>
          <a:xfrm>
            <a:off x="761970" y="2966405"/>
            <a:ext cx="4076670" cy="649224"/>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Clear matches go through. Close calls, such as a married surname, wait for a person at the college, with the application and the register row side by side.</a:t>
            </a:r>
            <a:endParaRPr lang="en-US" sz="1200" dirty="0"/>
          </a:p>
        </p:txBody>
      </p:sp>
      <p:sp>
        <p:nvSpPr>
          <p:cNvPr id="8" name="Shape 6"/>
          <p:cNvSpPr/>
          <p:nvPr/>
        </p:nvSpPr>
        <p:spPr>
          <a:xfrm>
            <a:off x="761970" y="3707709"/>
            <a:ext cx="3810030" cy="0"/>
          </a:xfrm>
          <a:prstGeom prst="line">
            <a:avLst/>
          </a:prstGeom>
          <a:noFill/>
          <a:ln w="6350">
            <a:solidFill>
              <a:srgbClr val="E8DED6"/>
            </a:solidFill>
            <a:prstDash val="solid"/>
          </a:ln>
        </p:spPr>
      </p:sp>
      <p:sp>
        <p:nvSpPr>
          <p:cNvPr id="9" name="Text 7"/>
          <p:cNvSpPr txBox="1"/>
          <p:nvPr/>
        </p:nvSpPr>
        <p:spPr>
          <a:xfrm>
            <a:off x="761970" y="3787079"/>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HODs can review registrations from their own department, and only theirs.</a:t>
            </a:r>
            <a:endParaRPr lang="en-US" sz="1200" dirty="0"/>
          </a:p>
        </p:txBody>
      </p:sp>
      <p:sp>
        <p:nvSpPr>
          <p:cNvPr id="10" name="Text 8"/>
          <p:cNvSpPr txBox="1"/>
          <p:nvPr/>
        </p:nvSpPr>
        <p:spPr>
          <a:xfrm>
            <a:off x="761970" y="4955774"/>
            <a:ext cx="4076670" cy="810067"/>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9E2A4B"/>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54455C"/>
                </a:solidFill>
                <a:latin typeface="+mn-lt" pitchFamily="34" charset="0"/>
                <a:ea typeface="+mn-ea" pitchFamily="34" charset="-122"/>
                <a:cs typeface="+mn-cs" pitchFamily="34" charset="-120"/>
              </a:rPr>
              <a:t>Tamarind Grove University is a fictional demo college. No college’s real register is loaded: the registration and the register row are demo data. Contact details blurred.</a:t>
            </a:r>
            <a:endParaRPr lang="en-US" sz="900" dirty="0"/>
          </a:p>
        </p:txBody>
      </p:sp>
      <p:sp>
        <p:nvSpPr>
          <p:cNvPr id="11" name="Shape 9"/>
          <p:cNvSpPr/>
          <p:nvPr/>
        </p:nvSpPr>
        <p:spPr>
          <a:xfrm>
            <a:off x="4800600" y="558790"/>
            <a:ext cx="6629400" cy="5206959"/>
          </a:xfrm>
          <a:prstGeom prst="rect">
            <a:avLst/>
          </a:prstGeom>
          <a:solidFill>
            <a:srgbClr val="FFFFFF"/>
          </a:solidFill>
          <a:ln/>
        </p:spPr>
      </p:sp>
      <p:pic>
        <p:nvPicPr>
          <p:cNvPr id="12" name="Image 0" descr="A close call: a registration under a married surname beside its register row">    </p:cNvPr>
          <p:cNvPicPr>
            <a:picLocks noChangeAspect="1"/>
          </p:cNvPicPr>
          <p:nvPr/>
        </p:nvPicPr>
        <p:blipFill>
          <a:blip r:embed="rId1"/>
          <a:stretch>
            <a:fillRect/>
          </a:stretch>
        </p:blipFill>
        <p:spPr>
          <a:xfrm>
            <a:off x="4806909" y="565191"/>
            <a:ext cx="6616690" cy="5194341"/>
          </a:xfrm>
          <a:prstGeom prst="rect">
            <a:avLst/>
          </a:prstGeom>
        </p:spPr>
      </p:pic>
      <p:sp>
        <p:nvSpPr>
          <p:cNvPr id="13" name="Shape 10"/>
          <p:cNvSpPr/>
          <p:nvPr/>
        </p:nvSpPr>
        <p:spPr>
          <a:xfrm>
            <a:off x="4803800" y="561990"/>
            <a:ext cx="6623091" cy="5200650"/>
          </a:xfrm>
          <a:prstGeom prst="rect">
            <a:avLst/>
          </a:prstGeom>
          <a:ln w="6350">
            <a:solidFill>
              <a:srgbClr val="E8DED6"/>
            </a:solidFill>
            <a:prstDash val="solid"/>
          </a:ln>
        </p:spPr>
      </p:sp>
      <p:sp>
        <p:nvSpPr>
          <p:cNvPr id="14" name="Shape 11"/>
          <p:cNvSpPr/>
          <p:nvPr/>
        </p:nvSpPr>
        <p:spPr>
          <a:xfrm>
            <a:off x="761970" y="5915071"/>
            <a:ext cx="10668030" cy="0"/>
          </a:xfrm>
          <a:prstGeom prst="line">
            <a:avLst/>
          </a:prstGeom>
          <a:noFill/>
          <a:ln w="6350">
            <a:solidFill>
              <a:srgbClr val="E8DED6"/>
            </a:solidFill>
            <a:prstDash val="solid"/>
          </a:ln>
        </p:spPr>
      </p:sp>
      <p:pic>
        <p:nvPicPr>
          <p:cNvPr id="15" name="Image 1" descr="ifBash">    </p:cNvPr>
          <p:cNvPicPr>
            <a:picLocks noChangeAspect="1"/>
          </p:cNvPicPr>
          <p:nvPr/>
        </p:nvPicPr>
        <p:blipFill>
          <a:blip r:embed="rId2"/>
          <a:stretch>
            <a:fillRect/>
          </a:stretch>
        </p:blipFill>
        <p:spPr>
          <a:xfrm>
            <a:off x="761970" y="6045190"/>
            <a:ext cx="254020" cy="254020"/>
          </a:xfrm>
          <a:prstGeom prst="rect">
            <a:avLst/>
          </a:prstGeom>
        </p:spPr>
      </p:pic>
      <p:sp>
        <p:nvSpPr>
          <p:cNvPr id="16" name="Text 12"/>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132A"/>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E88AA3"/>
                </a:solidFill>
                <a:latin typeface="Consolas" pitchFamily="34" charset="0"/>
                <a:ea typeface="Consolas" pitchFamily="34" charset="-122"/>
                <a:cs typeface="Consolas" pitchFamily="34" charset="-120"/>
              </a:rPr>
              <a:t>Privacy and DPDP</a:t>
            </a:r>
            <a:endParaRPr lang="en-US" sz="1200" dirty="0"/>
          </a:p>
        </p:txBody>
      </p:sp>
      <p:sp>
        <p:nvSpPr>
          <p:cNvPr id="3" name="Text 1"/>
          <p:cNvSpPr txBox="1"/>
          <p:nvPr/>
        </p:nvSpPr>
        <p:spPr>
          <a:xfrm>
            <a:off x="761970" y="876270"/>
            <a:ext cx="11048970" cy="782269"/>
          </a:xfrm>
          <a:prstGeom prst="rect">
            <a:avLst/>
          </a:prstGeom>
          <a:noFill/>
          <a:ln/>
        </p:spPr>
        <p:txBody>
          <a:bodyPr wrap="square" lIns="0" tIns="0" rIns="0" bIns="0" rtlCol="0" anchor="t"/>
          <a:lstStyle/>
          <a:p>
            <a:pPr algn="l" indent="0" marL="0">
              <a:lnSpc>
                <a:spcPts val="3080"/>
              </a:lnSpc>
              <a:buNone/>
            </a:pPr>
            <a:r>
              <a:rPr lang="en-IN" altLang="en-US" sz="2800" b="1" spc="-65" kern="0" dirty="0">
                <a:solidFill>
                  <a:srgbClr val="FBF8F4"/>
                </a:solidFill>
                <a:latin typeface="+mj-lt" pitchFamily="34" charset="0"/>
                <a:ea typeface="+mj-ea" pitchFamily="34" charset="-122"/>
                <a:cs typeface="+mj-cs" pitchFamily="34" charset="-120"/>
              </a:rPr>
              <a:t>The privacy rules are enforced on the server, and ifBash</a:t>
            </a:r>
            <a:endParaRPr lang="en-US" sz="2800" dirty="0"/>
          </a:p>
          <a:p>
            <a:pPr algn="l" indent="0" marL="0">
              <a:lnSpc>
                <a:spcPts val="3080"/>
              </a:lnSpc>
              <a:buNone/>
            </a:pPr>
            <a:r>
              <a:rPr lang="en-IN" altLang="en-US" sz="2800" b="1" spc="-65" kern="0" dirty="0">
                <a:solidFill>
                  <a:srgbClr val="FBF8F4"/>
                </a:solidFill>
                <a:latin typeface="+mj-lt" pitchFamily="34" charset="0"/>
                <a:ea typeface="+mj-ea" pitchFamily="34" charset="-122"/>
                <a:cs typeface="+mj-cs" pitchFamily="34" charset="-120"/>
              </a:rPr>
              <a:t>cannot</a:t>
            </a:r>
            <a:pPr algn="l" indent="0" marL="0">
              <a:lnSpc>
                <a:spcPts val="3080"/>
              </a:lnSpc>
              <a:buNone/>
            </a:pPr>
            <a:r>
              <a:rPr lang="en-IN" altLang="en-US" sz="2800" b="1" spc="327" kern="0" dirty="0">
                <a:solidFill>
                  <a:srgbClr val="FBF8F4"/>
                </a:solidFill>
                <a:latin typeface="+mj-lt" pitchFamily="34" charset="0"/>
                <a:ea typeface="+mj-ea" pitchFamily="34" charset="-122"/>
                <a:cs typeface="+mj-cs" pitchFamily="34" charset="-120"/>
              </a:rPr>
              <a:t> </a:t>
            </a:r>
            <a:pPr algn="l" indent="0" marL="0">
              <a:lnSpc>
                <a:spcPts val="3080"/>
              </a:lnSpc>
              <a:buNone/>
            </a:pPr>
            <a:r>
              <a:rPr lang="en-IN" altLang="en-US" sz="2800" b="1" spc="-65" kern="0" dirty="0">
                <a:solidFill>
                  <a:srgbClr val="FBF8F4"/>
                </a:solidFill>
                <a:latin typeface="+mj-lt" pitchFamily="34" charset="0"/>
                <a:ea typeface="+mj-ea" pitchFamily="34" charset="-122"/>
                <a:cs typeface="+mj-cs" pitchFamily="34" charset="-120"/>
              </a:rPr>
              <a:t>search or export your members.</a:t>
            </a:r>
            <a:endParaRPr lang="en-US" sz="2800" dirty="0"/>
          </a:p>
        </p:txBody>
      </p:sp>
      <p:pic>
        <p:nvPicPr>
          <p:cNvPr id="4" name="Image 0" descr="Hand-drawn ring around the word cannot">    </p:cNvPr>
          <p:cNvPicPr>
            <a:picLocks noChangeAspect="1"/>
          </p:cNvPicPr>
          <p:nvPr/>
        </p:nvPicPr>
        <p:blipFill>
          <a:blip r:embed="rId1"/>
          <a:stretch>
            <a:fillRect/>
          </a:stretch>
        </p:blipFill>
        <p:spPr>
          <a:xfrm>
            <a:off x="685800" y="1229319"/>
            <a:ext cx="1149949" cy="480060"/>
          </a:xfrm>
          <a:prstGeom prst="rect">
            <a:avLst/>
          </a:prstGeom>
        </p:spPr>
      </p:pic>
      <p:sp>
        <p:nvSpPr>
          <p:cNvPr id="5" name="Text 2"/>
          <p:cNvSpPr txBox="1"/>
          <p:nvPr/>
        </p:nvSpPr>
        <p:spPr>
          <a:xfrm>
            <a:off x="761970" y="2030608"/>
            <a:ext cx="3429000" cy="209580"/>
          </a:xfrm>
          <a:prstGeom prst="rect">
            <a:avLst/>
          </a:prstGeom>
          <a:noFill/>
          <a:ln/>
        </p:spPr>
        <p:txBody>
          <a:bodyPr wrap="none" lIns="0" tIns="0" rIns="0" bIns="0" rtlCol="0" anchor="t"/>
          <a:lstStyle/>
          <a:p>
            <a:pPr algn="l" indent="0" marL="0">
              <a:lnSpc>
                <a:spcPts val="1650"/>
              </a:lnSpc>
              <a:buNone/>
            </a:pPr>
            <a:r>
              <a:rPr lang="en-IN" altLang="en-US" sz="1500" b="1" spc="-25" kern="0" dirty="0">
                <a:solidFill>
                  <a:srgbClr val="FBF8F4"/>
                </a:solidFill>
                <a:latin typeface="+mj-lt" pitchFamily="34" charset="0"/>
                <a:ea typeface="+mj-ea" pitchFamily="34" charset="-122"/>
                <a:cs typeface="+mj-cs" pitchFamily="34" charset="-120"/>
              </a:rPr>
              <a:t>Between members</a:t>
            </a:r>
            <a:endParaRPr lang="en-US" sz="1500" dirty="0"/>
          </a:p>
        </p:txBody>
      </p:sp>
      <p:sp>
        <p:nvSpPr>
          <p:cNvPr id="6" name="Shape 3"/>
          <p:cNvSpPr/>
          <p:nvPr/>
        </p:nvSpPr>
        <p:spPr>
          <a:xfrm>
            <a:off x="761970" y="2332269"/>
            <a:ext cx="3429000" cy="0"/>
          </a:xfrm>
          <a:prstGeom prst="line">
            <a:avLst/>
          </a:prstGeom>
          <a:noFill/>
          <a:ln w="6350">
            <a:solidFill>
              <a:srgbClr val="3A2842"/>
            </a:solidFill>
            <a:prstDash val="solid"/>
          </a:ln>
        </p:spPr>
      </p:sp>
      <p:sp>
        <p:nvSpPr>
          <p:cNvPr id="7" name="Text 4"/>
          <p:cNvSpPr txBox="1"/>
          <p:nvPr/>
        </p:nvSpPr>
        <p:spPr>
          <a:xfrm>
            <a:off x="761970" y="2398928"/>
            <a:ext cx="36728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Nobody searches your alumni without signing in. There is no public list.</a:t>
            </a:r>
            <a:endParaRPr lang="en-US" sz="1200" dirty="0"/>
          </a:p>
        </p:txBody>
      </p:sp>
      <p:sp>
        <p:nvSpPr>
          <p:cNvPr id="8" name="Shape 5"/>
          <p:cNvSpPr/>
          <p:nvPr/>
        </p:nvSpPr>
        <p:spPr>
          <a:xfrm>
            <a:off x="761970" y="2911084"/>
            <a:ext cx="3429000" cy="0"/>
          </a:xfrm>
          <a:prstGeom prst="line">
            <a:avLst/>
          </a:prstGeom>
          <a:noFill/>
          <a:ln w="6350">
            <a:solidFill>
              <a:srgbClr val="3A2842"/>
            </a:solidFill>
            <a:prstDash val="solid"/>
          </a:ln>
        </p:spPr>
      </p:sp>
      <p:sp>
        <p:nvSpPr>
          <p:cNvPr id="9" name="Text 6"/>
          <p:cNvSpPr txBox="1"/>
          <p:nvPr/>
        </p:nvSpPr>
        <p:spPr>
          <a:xfrm>
            <a:off x="761970" y="2977744"/>
            <a:ext cx="3672870" cy="865571"/>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Contact details need two yeses: the viewer must be entitled, and the owner’s own setting must allow it. The one exception is your college administrator.</a:t>
            </a:r>
            <a:endParaRPr lang="en-US" sz="1200" dirty="0"/>
          </a:p>
        </p:txBody>
      </p:sp>
      <p:sp>
        <p:nvSpPr>
          <p:cNvPr id="10" name="Shape 7"/>
          <p:cNvSpPr/>
          <p:nvPr/>
        </p:nvSpPr>
        <p:spPr>
          <a:xfrm>
            <a:off x="761970" y="3922685"/>
            <a:ext cx="3429000" cy="0"/>
          </a:xfrm>
          <a:prstGeom prst="line">
            <a:avLst/>
          </a:prstGeom>
          <a:noFill/>
          <a:ln w="6350">
            <a:solidFill>
              <a:srgbClr val="3A2842"/>
            </a:solidFill>
            <a:prstDash val="solid"/>
          </a:ln>
        </p:spPr>
      </p:sp>
      <p:sp>
        <p:nvSpPr>
          <p:cNvPr id="11" name="Text 8"/>
          <p:cNvSpPr txBox="1"/>
          <p:nvPr/>
        </p:nvSpPr>
        <p:spPr>
          <a:xfrm>
            <a:off x="761970" y="3989344"/>
            <a:ext cx="36728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A student sees an alumnus’s email or phone only after that alumnus accepts the student’s request.</a:t>
            </a:r>
            <a:endParaRPr lang="en-US" sz="1200" dirty="0"/>
          </a:p>
        </p:txBody>
      </p:sp>
      <p:sp>
        <p:nvSpPr>
          <p:cNvPr id="12" name="Shape 9"/>
          <p:cNvSpPr/>
          <p:nvPr/>
        </p:nvSpPr>
        <p:spPr>
          <a:xfrm>
            <a:off x="761970" y="4501591"/>
            <a:ext cx="3429000" cy="0"/>
          </a:xfrm>
          <a:prstGeom prst="line">
            <a:avLst/>
          </a:prstGeom>
          <a:noFill/>
          <a:ln w="6350">
            <a:solidFill>
              <a:srgbClr val="3A2842"/>
            </a:solidFill>
            <a:prstDash val="solid"/>
          </a:ln>
        </p:spPr>
      </p:sp>
      <p:sp>
        <p:nvSpPr>
          <p:cNvPr id="13" name="Text 10"/>
          <p:cNvSpPr txBox="1"/>
          <p:nvPr/>
        </p:nvSpPr>
        <p:spPr>
          <a:xfrm>
            <a:off x="761970" y="4568251"/>
            <a:ext cx="36728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CGPA and placement status stay with the placement cell. Students never see giving.</a:t>
            </a:r>
            <a:endParaRPr lang="en-US" sz="1200" dirty="0"/>
          </a:p>
        </p:txBody>
      </p:sp>
      <p:sp>
        <p:nvSpPr>
          <p:cNvPr id="14" name="Text 11"/>
          <p:cNvSpPr txBox="1"/>
          <p:nvPr/>
        </p:nvSpPr>
        <p:spPr>
          <a:xfrm>
            <a:off x="4444990" y="2030608"/>
            <a:ext cx="3810030" cy="209580"/>
          </a:xfrm>
          <a:prstGeom prst="rect">
            <a:avLst/>
          </a:prstGeom>
          <a:noFill/>
          <a:ln/>
        </p:spPr>
        <p:txBody>
          <a:bodyPr wrap="none" lIns="0" tIns="0" rIns="0" bIns="0" rtlCol="0" anchor="t"/>
          <a:lstStyle/>
          <a:p>
            <a:pPr algn="l" indent="0" marL="0">
              <a:lnSpc>
                <a:spcPts val="1650"/>
              </a:lnSpc>
              <a:buNone/>
            </a:pPr>
            <a:r>
              <a:rPr lang="en-IN" altLang="en-US" sz="1500" b="1" spc="-25" kern="0" dirty="0">
                <a:solidFill>
                  <a:srgbClr val="FBF8F4"/>
                </a:solidFill>
                <a:latin typeface="+mj-lt" pitchFamily="34" charset="0"/>
                <a:ea typeface="+mj-ea" pitchFamily="34" charset="-122"/>
                <a:cs typeface="+mj-cs" pitchFamily="34" charset="-120"/>
              </a:rPr>
              <a:t>Between your college and us</a:t>
            </a:r>
            <a:endParaRPr lang="en-US" sz="1500" dirty="0"/>
          </a:p>
        </p:txBody>
      </p:sp>
      <p:sp>
        <p:nvSpPr>
          <p:cNvPr id="15" name="Shape 12"/>
          <p:cNvSpPr/>
          <p:nvPr/>
        </p:nvSpPr>
        <p:spPr>
          <a:xfrm>
            <a:off x="4444990" y="2332269"/>
            <a:ext cx="3810030" cy="0"/>
          </a:xfrm>
          <a:prstGeom prst="line">
            <a:avLst/>
          </a:prstGeom>
          <a:noFill/>
          <a:ln w="6350">
            <a:solidFill>
              <a:srgbClr val="3A2842"/>
            </a:solidFill>
            <a:prstDash val="solid"/>
          </a:ln>
        </p:spPr>
      </p:sp>
      <p:sp>
        <p:nvSpPr>
          <p:cNvPr id="16" name="Text 13"/>
          <p:cNvSpPr txBox="1"/>
          <p:nvPr/>
        </p:nvSpPr>
        <p:spPr>
          <a:xfrm>
            <a:off x="4444990" y="2398928"/>
            <a:ext cx="4076670" cy="865571"/>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Only your college administrator can export contacts in bulk or act on DPDP requests. An export needs a written reason for the audit log. A request starts a 30-day clock.</a:t>
            </a:r>
            <a:endParaRPr lang="en-US" sz="1200" dirty="0"/>
          </a:p>
        </p:txBody>
      </p:sp>
      <p:sp>
        <p:nvSpPr>
          <p:cNvPr id="17" name="Shape 14"/>
          <p:cNvSpPr/>
          <p:nvPr/>
        </p:nvSpPr>
        <p:spPr>
          <a:xfrm>
            <a:off x="4444990" y="3343869"/>
            <a:ext cx="3810030" cy="0"/>
          </a:xfrm>
          <a:prstGeom prst="line">
            <a:avLst/>
          </a:prstGeom>
          <a:noFill/>
          <a:ln w="6350">
            <a:solidFill>
              <a:srgbClr val="3A2842"/>
            </a:solidFill>
            <a:prstDash val="solid"/>
          </a:ln>
        </p:spPr>
      </p:sp>
      <p:sp>
        <p:nvSpPr>
          <p:cNvPr id="18" name="Text 15"/>
          <p:cNvSpPr txBox="1"/>
          <p:nvPr/>
        </p:nvSpPr>
        <p:spPr>
          <a:xfrm>
            <a:off x="4444990" y="3410529"/>
            <a:ext cx="4076670" cy="649224"/>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ifBash’s admin account sets up your college and its branding. It cannot open a profile, search the directory, export contacts or see a data request.</a:t>
            </a:r>
            <a:endParaRPr lang="en-US" sz="1200" dirty="0"/>
          </a:p>
        </p:txBody>
      </p:sp>
      <p:sp>
        <p:nvSpPr>
          <p:cNvPr id="19" name="Shape 16"/>
          <p:cNvSpPr/>
          <p:nvPr/>
        </p:nvSpPr>
        <p:spPr>
          <a:xfrm>
            <a:off x="4444990" y="4139123"/>
            <a:ext cx="3810030" cy="0"/>
          </a:xfrm>
          <a:prstGeom prst="line">
            <a:avLst/>
          </a:prstGeom>
          <a:noFill/>
          <a:ln w="6350">
            <a:solidFill>
              <a:srgbClr val="3A2842"/>
            </a:solidFill>
            <a:prstDash val="solid"/>
          </a:ln>
        </p:spPr>
      </p:sp>
      <p:sp>
        <p:nvSpPr>
          <p:cNvPr id="20" name="Text 17"/>
          <p:cNvSpPr txBox="1"/>
          <p:nvPr/>
        </p:nvSpPr>
        <p:spPr>
          <a:xfrm>
            <a:off x="4444990" y="4205783"/>
            <a:ext cx="4076670" cy="649224"/>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It can read the audit log. An entry keeps the record the action changed, so it shows member details such as names and roll numbers.</a:t>
            </a:r>
            <a:endParaRPr lang="en-US" sz="1200" dirty="0"/>
          </a:p>
        </p:txBody>
      </p:sp>
      <p:sp>
        <p:nvSpPr>
          <p:cNvPr id="21" name="Shape 18"/>
          <p:cNvSpPr/>
          <p:nvPr/>
        </p:nvSpPr>
        <p:spPr>
          <a:xfrm>
            <a:off x="4444990" y="4934377"/>
            <a:ext cx="3810030" cy="0"/>
          </a:xfrm>
          <a:prstGeom prst="line">
            <a:avLst/>
          </a:prstGeom>
          <a:noFill/>
          <a:ln w="6350">
            <a:solidFill>
              <a:srgbClr val="3A2842"/>
            </a:solidFill>
            <a:prstDash val="solid"/>
          </a:ln>
        </p:spPr>
      </p:sp>
      <p:sp>
        <p:nvSpPr>
          <p:cNvPr id="22" name="Text 19"/>
          <p:cNvSpPr txBox="1"/>
          <p:nvPr/>
        </p:nvSpPr>
        <p:spPr>
          <a:xfrm>
            <a:off x="4444990" y="5001036"/>
            <a:ext cx="4076670" cy="432786"/>
          </a:xfrm>
          <a:prstGeom prst="rect">
            <a:avLst/>
          </a:prstGeom>
          <a:noFill/>
          <a:ln/>
        </p:spPr>
        <p:txBody>
          <a:bodyPr wrap="square" lIns="0" tIns="0" rIns="0" bIns="0" rtlCol="0" anchor="t"/>
          <a:lstStyle/>
          <a:p>
            <a:pPr algn="l" indent="0" marL="0">
              <a:lnSpc>
                <a:spcPts val="1704"/>
              </a:lnSpc>
              <a:buNone/>
            </a:pPr>
            <a:r>
              <a:rPr lang="en-IN" altLang="en-US" sz="1200" dirty="0">
                <a:solidFill>
                  <a:srgbClr val="A9B0B8"/>
                </a:solidFill>
                <a:latin typeface="+mn-lt" pitchFamily="34" charset="0"/>
                <a:ea typeface="+mn-ea" pitchFamily="34" charset="-122"/>
                <a:cs typeface="+mn-cs" pitchFamily="34" charset="-120"/>
              </a:rPr>
              <a:t>The portal is designed to keep data in India (AWS Mumbai). Hosting is not live yet.</a:t>
            </a:r>
            <a:endParaRPr lang="en-US" sz="1200" dirty="0"/>
          </a:p>
        </p:txBody>
      </p:sp>
      <p:sp>
        <p:nvSpPr>
          <p:cNvPr id="23" name="Shape 20"/>
          <p:cNvSpPr/>
          <p:nvPr/>
        </p:nvSpPr>
        <p:spPr>
          <a:xfrm>
            <a:off x="8509041" y="2030608"/>
            <a:ext cx="2920959" cy="1962120"/>
          </a:xfrm>
          <a:prstGeom prst="rect">
            <a:avLst/>
          </a:prstGeom>
          <a:solidFill>
            <a:srgbClr val="FFFFFF"/>
          </a:solidFill>
          <a:ln/>
        </p:spPr>
      </p:sp>
      <p:pic>
        <p:nvPicPr>
          <p:cNvPr id="24" name="Image 1" descr="A contact card with its sharing rule">    </p:cNvPr>
          <p:cNvPicPr>
            <a:picLocks noChangeAspect="1"/>
          </p:cNvPicPr>
          <p:nvPr/>
        </p:nvPicPr>
        <p:blipFill>
          <a:blip r:embed="rId2"/>
          <a:stretch>
            <a:fillRect/>
          </a:stretch>
        </p:blipFill>
        <p:spPr>
          <a:xfrm>
            <a:off x="8515350" y="2036917"/>
            <a:ext cx="2908341" cy="1949409"/>
          </a:xfrm>
          <a:prstGeom prst="rect">
            <a:avLst/>
          </a:prstGeom>
        </p:spPr>
      </p:pic>
      <p:sp>
        <p:nvSpPr>
          <p:cNvPr id="25" name="Shape 21"/>
          <p:cNvSpPr/>
          <p:nvPr/>
        </p:nvSpPr>
        <p:spPr>
          <a:xfrm>
            <a:off x="8512150" y="2033808"/>
            <a:ext cx="2914650" cy="1955810"/>
          </a:xfrm>
          <a:prstGeom prst="rect">
            <a:avLst/>
          </a:prstGeom>
          <a:ln w="6350">
            <a:solidFill>
              <a:srgbClr val="3A2842"/>
            </a:solidFill>
            <a:prstDash val="solid"/>
          </a:ln>
        </p:spPr>
      </p:sp>
      <p:sp>
        <p:nvSpPr>
          <p:cNvPr id="26" name="Text 22"/>
          <p:cNvSpPr txBox="1"/>
          <p:nvPr/>
        </p:nvSpPr>
        <p:spPr>
          <a:xfrm>
            <a:off x="8509041" y="4107028"/>
            <a:ext cx="3134380" cy="810067"/>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E88AA3"/>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A9B0B8"/>
                </a:solidFill>
                <a:latin typeface="+mn-lt" pitchFamily="34" charset="0"/>
                <a:ea typeface="+mn-ea" pitchFamily="34" charset="-122"/>
                <a:cs typeface="+mn-cs" pitchFamily="34" charset="-120"/>
              </a:rPr>
              <a:t>Tamarind Grove University is a fictional demo college. Contact details blurred. All people, companies and numbers are demo data.</a:t>
            </a:r>
            <a:endParaRPr lang="en-US" sz="900" dirty="0"/>
          </a:p>
        </p:txBody>
      </p:sp>
      <p:sp>
        <p:nvSpPr>
          <p:cNvPr id="27" name="Shape 23"/>
          <p:cNvSpPr/>
          <p:nvPr/>
        </p:nvSpPr>
        <p:spPr>
          <a:xfrm>
            <a:off x="761970" y="5885261"/>
            <a:ext cx="10668030" cy="0"/>
          </a:xfrm>
          <a:prstGeom prst="line">
            <a:avLst/>
          </a:prstGeom>
          <a:noFill/>
          <a:ln w="6350">
            <a:solidFill>
              <a:srgbClr val="3A2842"/>
            </a:solidFill>
            <a:prstDash val="solid"/>
          </a:ln>
        </p:spPr>
      </p:sp>
      <p:pic>
        <p:nvPicPr>
          <p:cNvPr id="28" name="Image 2" descr="ifBash">    </p:cNvPr>
          <p:cNvPicPr>
            <a:picLocks noChangeAspect="1"/>
          </p:cNvPicPr>
          <p:nvPr/>
        </p:nvPicPr>
        <p:blipFill>
          <a:blip r:embed="rId3"/>
          <a:stretch>
            <a:fillRect/>
          </a:stretch>
        </p:blipFill>
        <p:spPr>
          <a:xfrm>
            <a:off x="761970" y="6015472"/>
            <a:ext cx="952530" cy="283738"/>
          </a:xfrm>
          <a:prstGeom prst="rect">
            <a:avLst/>
          </a:prstGeom>
        </p:spPr>
      </p:pic>
      <p:sp>
        <p:nvSpPr>
          <p:cNvPr id="29" name="Text 24"/>
          <p:cNvSpPr txBox="1"/>
          <p:nvPr/>
        </p:nvSpPr>
        <p:spPr>
          <a:xfrm>
            <a:off x="11262299" y="6065215"/>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A9B0B8"/>
                </a:solidFill>
                <a:latin typeface="Consolas" pitchFamily="34" charset="0"/>
                <a:ea typeface="Consolas" pitchFamily="34" charset="-122"/>
                <a:cs typeface="Consola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3810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Staff console</a:t>
            </a:r>
            <a:endParaRPr lang="en-US" sz="1200" dirty="0"/>
          </a:p>
        </p:txBody>
      </p:sp>
      <p:sp>
        <p:nvSpPr>
          <p:cNvPr id="3" name="Text 1"/>
          <p:cNvSpPr txBox="1"/>
          <p:nvPr/>
        </p:nvSpPr>
        <p:spPr>
          <a:xfrm>
            <a:off x="761970" y="876270"/>
            <a:ext cx="4076670" cy="969173"/>
          </a:xfrm>
          <a:prstGeom prst="rect">
            <a:avLst/>
          </a:prstGeom>
          <a:noFill/>
          <a:ln/>
        </p:spPr>
        <p:txBody>
          <a:bodyPr wrap="square" lIns="0" tIns="0" rIns="0" bIns="0" rtlCol="0" anchor="t"/>
          <a:lstStyle/>
          <a:p>
            <a:pPr algn="l" indent="0" marL="0">
              <a:lnSpc>
                <a:spcPts val="2544"/>
              </a:lnSpc>
              <a:buNone/>
            </a:pPr>
            <a:r>
              <a:rPr lang="en-IN" altLang="en-US" sz="2400" b="1" spc="-55" kern="0" dirty="0">
                <a:solidFill>
                  <a:srgbClr val="2A1830"/>
                </a:solidFill>
                <a:latin typeface="+mj-lt" pitchFamily="34" charset="0"/>
                <a:ea typeface="+mj-ea" pitchFamily="34" charset="-122"/>
                <a:cs typeface="+mj-cs" pitchFamily="34" charset="-120"/>
              </a:rPr>
              <a:t>One console runs the portal, and every admin action is logged.</a:t>
            </a:r>
            <a:endParaRPr lang="en-US" sz="2400" dirty="0"/>
          </a:p>
        </p:txBody>
      </p:sp>
      <p:sp>
        <p:nvSpPr>
          <p:cNvPr id="4" name="Shape 2"/>
          <p:cNvSpPr/>
          <p:nvPr/>
        </p:nvSpPr>
        <p:spPr>
          <a:xfrm>
            <a:off x="761970" y="2013783"/>
            <a:ext cx="3810030" cy="0"/>
          </a:xfrm>
          <a:prstGeom prst="line">
            <a:avLst/>
          </a:prstGeom>
          <a:noFill/>
          <a:ln w="6350">
            <a:solidFill>
              <a:srgbClr val="E8DED6"/>
            </a:solidFill>
            <a:prstDash val="solid"/>
          </a:ln>
        </p:spPr>
      </p:sp>
      <p:sp>
        <p:nvSpPr>
          <p:cNvPr id="5" name="Text 3"/>
          <p:cNvSpPr txBox="1"/>
          <p:nvPr/>
        </p:nvSpPr>
        <p:spPr>
          <a:xfrm>
            <a:off x="761970" y="2093153"/>
            <a:ext cx="4076670" cy="432786"/>
          </a:xfrm>
          <a:prstGeom prst="rect">
            <a:avLst/>
          </a:prstGeom>
          <a:noFill/>
          <a:ln/>
        </p:spPr>
        <p:txBody>
          <a:bodyPr wrap="square" lIns="0" tIns="0" rIns="0" bIns="0" rtlCol="0" anchor="t"/>
          <a:lstStyle/>
          <a:p>
            <a:pPr algn="l" indent="0" marL="0">
              <a:lnSpc>
                <a:spcPts val="1704"/>
              </a:lnSpc>
              <a:buNone/>
            </a:pPr>
            <a:r>
              <a:rPr lang="en-IN" altLang="en-US" sz="1200" b="1" dirty="0">
                <a:solidFill>
                  <a:srgbClr val="2A1830"/>
                </a:solidFill>
                <a:latin typeface="+mn-lt" pitchFamily="34" charset="0"/>
                <a:ea typeface="+mn-ea" pitchFamily="34" charset="-122"/>
                <a:cs typeface="+mn-cs" pitchFamily="34" charset="-120"/>
              </a:rPr>
              <a:t>Today:</a:t>
            </a:r>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 registrations to review, the next event, and how far each batch has joined.</a:t>
            </a:r>
            <a:endParaRPr lang="en-US" sz="1200" dirty="0"/>
          </a:p>
        </p:txBody>
      </p:sp>
      <p:sp>
        <p:nvSpPr>
          <p:cNvPr id="6" name="Shape 4"/>
          <p:cNvSpPr/>
          <p:nvPr/>
        </p:nvSpPr>
        <p:spPr>
          <a:xfrm>
            <a:off x="761970" y="2618019"/>
            <a:ext cx="3810030" cy="0"/>
          </a:xfrm>
          <a:prstGeom prst="line">
            <a:avLst/>
          </a:prstGeom>
          <a:noFill/>
          <a:ln w="6350">
            <a:solidFill>
              <a:srgbClr val="E8DED6"/>
            </a:solidFill>
            <a:prstDash val="solid"/>
          </a:ln>
        </p:spPr>
      </p:sp>
      <p:sp>
        <p:nvSpPr>
          <p:cNvPr id="7" name="Text 5"/>
          <p:cNvSpPr txBox="1"/>
          <p:nvPr/>
        </p:nvSpPr>
        <p:spPr>
          <a:xfrm>
            <a:off x="761970" y="2697389"/>
            <a:ext cx="4076670" cy="1125901"/>
          </a:xfrm>
          <a:prstGeom prst="rect">
            <a:avLst/>
          </a:prstGeom>
          <a:noFill/>
          <a:ln/>
        </p:spPr>
        <p:txBody>
          <a:bodyPr wrap="square" lIns="0" tIns="0" rIns="0" bIns="0" rtlCol="0" anchor="t"/>
          <a:lstStyle/>
          <a:p>
            <a:pPr algn="l" indent="0" marL="0">
              <a:lnSpc>
                <a:spcPts val="1704"/>
              </a:lnSpc>
              <a:buNone/>
            </a:pPr>
            <a:r>
              <a:rPr lang="en-IN" altLang="en-US" sz="1200" b="1" dirty="0">
                <a:solidFill>
                  <a:srgbClr val="2A1830"/>
                </a:solidFill>
                <a:latin typeface="+mn-lt" pitchFamily="34" charset="0"/>
                <a:ea typeface="+mn-ea" pitchFamily="34" charset="-122"/>
                <a:cs typeface="+mn-cs" pitchFamily="34" charset="-120"/>
              </a:rPr>
              <a:t>Messages:</a:t>
            </a:r>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 write to a cohort, branch, city or batch range. Today it drafts copy for WhatsApp groups. Sending by email and the WhatsApp Business API is coming next.</a:t>
            </a:r>
            <a:endParaRPr lang="en-US" sz="1200" dirty="0"/>
          </a:p>
        </p:txBody>
      </p:sp>
      <p:sp>
        <p:nvSpPr>
          <p:cNvPr id="8" name="Text 6"/>
          <p:cNvSpPr txBox="1"/>
          <p:nvPr/>
        </p:nvSpPr>
        <p:spPr>
          <a:xfrm>
            <a:off x="761970" y="3613709"/>
            <a:ext cx="1070214"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Coming next</a:t>
            </a:r>
            <a:endParaRPr lang="en-US" sz="900" dirty="0"/>
          </a:p>
        </p:txBody>
      </p:sp>
      <p:sp>
        <p:nvSpPr>
          <p:cNvPr id="9" name="Shape 7"/>
          <p:cNvSpPr/>
          <p:nvPr/>
        </p:nvSpPr>
        <p:spPr>
          <a:xfrm>
            <a:off x="761970" y="3915369"/>
            <a:ext cx="3810030" cy="0"/>
          </a:xfrm>
          <a:prstGeom prst="line">
            <a:avLst/>
          </a:prstGeom>
          <a:noFill/>
          <a:ln w="6350">
            <a:solidFill>
              <a:srgbClr val="E8DED6"/>
            </a:solidFill>
            <a:prstDash val="solid"/>
          </a:ln>
        </p:spPr>
      </p:sp>
      <p:sp>
        <p:nvSpPr>
          <p:cNvPr id="10" name="Text 8"/>
          <p:cNvSpPr txBox="1"/>
          <p:nvPr/>
        </p:nvSpPr>
        <p:spPr>
          <a:xfrm>
            <a:off x="761970" y="3994739"/>
            <a:ext cx="4076670" cy="649224"/>
          </a:xfrm>
          <a:prstGeom prst="rect">
            <a:avLst/>
          </a:prstGeom>
          <a:noFill/>
          <a:ln/>
        </p:spPr>
        <p:txBody>
          <a:bodyPr wrap="square" lIns="0" tIns="0" rIns="0" bIns="0" rtlCol="0" anchor="t"/>
          <a:lstStyle/>
          <a:p>
            <a:pPr algn="l" indent="0" marL="0">
              <a:lnSpc>
                <a:spcPts val="1704"/>
              </a:lnSpc>
              <a:buNone/>
            </a:pPr>
            <a:r>
              <a:rPr lang="en-IN" altLang="en-US" sz="1200" b="1" dirty="0">
                <a:solidFill>
                  <a:srgbClr val="2A1830"/>
                </a:solidFill>
                <a:latin typeface="+mn-lt" pitchFamily="34" charset="0"/>
                <a:ea typeface="+mn-ea" pitchFamily="34" charset="-122"/>
                <a:cs typeface="+mn-cs" pitchFamily="34" charset="-120"/>
              </a:rPr>
              <a:t>Also here:</a:t>
            </a:r>
            <a:pPr algn="l" indent="0" marL="0">
              <a:lnSpc>
                <a:spcPts val="1704"/>
              </a:lnSpc>
              <a:buNone/>
            </a:pPr>
            <a:r>
              <a:rPr lang="en-IN" altLang="en-US" sz="1200" dirty="0">
                <a:solidFill>
                  <a:srgbClr val="54455C"/>
                </a:solidFill>
                <a:latin typeface="+mn-lt" pitchFamily="34" charset="0"/>
                <a:ea typeface="+mn-ea" pitchFamily="34" charset="-122"/>
                <a:cs typeface="+mn-cs" pitchFamily="34" charset="-120"/>
              </a:rPr>
              <a:t> events and check-in, news and galleries. Your college administrator’s roles, branding and DPDP queue are there too, behind their own permissions.</a:t>
            </a:r>
            <a:endParaRPr lang="en-US" sz="1200" dirty="0"/>
          </a:p>
        </p:txBody>
      </p:sp>
      <p:sp>
        <p:nvSpPr>
          <p:cNvPr id="11" name="Text 9"/>
          <p:cNvSpPr txBox="1"/>
          <p:nvPr/>
        </p:nvSpPr>
        <p:spPr>
          <a:xfrm>
            <a:off x="761970" y="5158313"/>
            <a:ext cx="4076670" cy="607527"/>
          </a:xfrm>
          <a:prstGeom prst="rect">
            <a:avLst/>
          </a:prstGeom>
          <a:noFill/>
          <a:ln/>
        </p:spPr>
        <p:txBody>
          <a:bodyPr wrap="square" lIns="0" tIns="0" rIns="0" bIns="0" rtlCol="0" anchor="t"/>
          <a:lstStyle/>
          <a:p>
            <a:pPr algn="l" indent="0" marL="0">
              <a:lnSpc>
                <a:spcPts val="1595"/>
              </a:lnSpc>
              <a:buNone/>
            </a:pPr>
            <a:r>
              <a:rPr lang="en-IN" altLang="en-US" cap="all" sz="900" spc="144" kern="0" dirty="0">
                <a:solidFill>
                  <a:srgbClr val="9E2A4B"/>
                </a:solidFill>
                <a:latin typeface="Consolas" pitchFamily="34" charset="0"/>
                <a:ea typeface="Consolas" pitchFamily="34" charset="-122"/>
                <a:cs typeface="Consolas" pitchFamily="34" charset="-120"/>
              </a:rPr>
              <a:t>Demo college</a:t>
            </a:r>
            <a:endParaRPr lang="en-US" sz="900" dirty="0"/>
          </a:p>
          <a:p>
            <a:pPr algn="l" indent="0" marL="0">
              <a:lnSpc>
                <a:spcPts val="1595"/>
              </a:lnSpc>
              <a:buNone/>
            </a:pPr>
            <a:r>
              <a:rPr lang="en-IN" altLang="en-US" sz="1100" dirty="0">
                <a:solidFill>
                  <a:srgbClr val="54455C"/>
                </a:solidFill>
                <a:latin typeface="+mn-lt" pitchFamily="34" charset="0"/>
                <a:ea typeface="+mn-ea" pitchFamily="34" charset="-122"/>
                <a:cs typeface="+mn-cs" pitchFamily="34" charset="-120"/>
              </a:rPr>
              <a:t>Tamarind Grove University is a fictional demo college. Every name and number is demo data.</a:t>
            </a:r>
            <a:endParaRPr lang="en-US" sz="900" dirty="0"/>
          </a:p>
        </p:txBody>
      </p:sp>
      <p:sp>
        <p:nvSpPr>
          <p:cNvPr id="12" name="Shape 10"/>
          <p:cNvSpPr/>
          <p:nvPr/>
        </p:nvSpPr>
        <p:spPr>
          <a:xfrm>
            <a:off x="4800600" y="558790"/>
            <a:ext cx="6629400" cy="3060680"/>
          </a:xfrm>
          <a:prstGeom prst="rect">
            <a:avLst/>
          </a:prstGeom>
          <a:solidFill>
            <a:srgbClr val="FFFFFF"/>
          </a:solidFill>
          <a:ln/>
        </p:spPr>
      </p:sp>
      <p:pic>
        <p:nvPicPr>
          <p:cNvPr id="13" name="Image 0" descr="Staff console, Today">    </p:cNvPr>
          <p:cNvPicPr>
            <a:picLocks noChangeAspect="1"/>
          </p:cNvPicPr>
          <p:nvPr/>
        </p:nvPicPr>
        <p:blipFill>
          <a:blip r:embed="rId1"/>
          <a:stretch>
            <a:fillRect/>
          </a:stretch>
        </p:blipFill>
        <p:spPr>
          <a:xfrm>
            <a:off x="4806909" y="565191"/>
            <a:ext cx="6616690" cy="3047970"/>
          </a:xfrm>
          <a:prstGeom prst="rect">
            <a:avLst/>
          </a:prstGeom>
        </p:spPr>
      </p:pic>
      <p:sp>
        <p:nvSpPr>
          <p:cNvPr id="14" name="Shape 11"/>
          <p:cNvSpPr/>
          <p:nvPr/>
        </p:nvSpPr>
        <p:spPr>
          <a:xfrm>
            <a:off x="4803800" y="561990"/>
            <a:ext cx="6623091" cy="3054370"/>
          </a:xfrm>
          <a:prstGeom prst="rect">
            <a:avLst/>
          </a:prstGeom>
          <a:ln w="6350">
            <a:solidFill>
              <a:srgbClr val="E8DED6"/>
            </a:solidFill>
            <a:prstDash val="solid"/>
          </a:ln>
        </p:spPr>
      </p:sp>
      <p:sp>
        <p:nvSpPr>
          <p:cNvPr id="15" name="Shape 12"/>
          <p:cNvSpPr/>
          <p:nvPr/>
        </p:nvSpPr>
        <p:spPr>
          <a:xfrm>
            <a:off x="4800600" y="3746480"/>
            <a:ext cx="6629400" cy="2019270"/>
          </a:xfrm>
          <a:prstGeom prst="rect">
            <a:avLst/>
          </a:prstGeom>
          <a:solidFill>
            <a:srgbClr val="FFFFFF"/>
          </a:solidFill>
          <a:ln/>
        </p:spPr>
      </p:sp>
      <p:pic>
        <p:nvPicPr>
          <p:cNvPr id="16" name="Image 1" descr="Choosing who a message goes to">    </p:cNvPr>
          <p:cNvPicPr>
            <a:picLocks noChangeAspect="1"/>
          </p:cNvPicPr>
          <p:nvPr/>
        </p:nvPicPr>
        <p:blipFill>
          <a:blip r:embed="rId2"/>
          <a:stretch>
            <a:fillRect/>
          </a:stretch>
        </p:blipFill>
        <p:spPr>
          <a:xfrm>
            <a:off x="4806909" y="3752880"/>
            <a:ext cx="6616690" cy="2006559"/>
          </a:xfrm>
          <a:prstGeom prst="rect">
            <a:avLst/>
          </a:prstGeom>
        </p:spPr>
      </p:pic>
      <p:sp>
        <p:nvSpPr>
          <p:cNvPr id="17" name="Shape 13"/>
          <p:cNvSpPr/>
          <p:nvPr/>
        </p:nvSpPr>
        <p:spPr>
          <a:xfrm>
            <a:off x="4803800" y="3749680"/>
            <a:ext cx="6623091" cy="2012960"/>
          </a:xfrm>
          <a:prstGeom prst="rect">
            <a:avLst/>
          </a:prstGeom>
          <a:ln w="6350">
            <a:solidFill>
              <a:srgbClr val="E8DED6"/>
            </a:solidFill>
            <a:prstDash val="solid"/>
          </a:ln>
        </p:spPr>
      </p:sp>
      <p:sp>
        <p:nvSpPr>
          <p:cNvPr id="18" name="Shape 14"/>
          <p:cNvSpPr/>
          <p:nvPr/>
        </p:nvSpPr>
        <p:spPr>
          <a:xfrm>
            <a:off x="761970" y="5915071"/>
            <a:ext cx="10668030" cy="0"/>
          </a:xfrm>
          <a:prstGeom prst="line">
            <a:avLst/>
          </a:prstGeom>
          <a:noFill/>
          <a:ln w="6350">
            <a:solidFill>
              <a:srgbClr val="E8DED6"/>
            </a:solidFill>
            <a:prstDash val="solid"/>
          </a:ln>
        </p:spPr>
      </p:sp>
      <p:pic>
        <p:nvPicPr>
          <p:cNvPr id="19" name="Image 2" descr="ifBash">    </p:cNvPr>
          <p:cNvPicPr>
            <a:picLocks noChangeAspect="1"/>
          </p:cNvPicPr>
          <p:nvPr/>
        </p:nvPicPr>
        <p:blipFill>
          <a:blip r:embed="rId3"/>
          <a:stretch>
            <a:fillRect/>
          </a:stretch>
        </p:blipFill>
        <p:spPr>
          <a:xfrm>
            <a:off x="761970" y="6045190"/>
            <a:ext cx="254020" cy="254020"/>
          </a:xfrm>
          <a:prstGeom prst="rect">
            <a:avLst/>
          </a:prstGeom>
        </p:spPr>
      </p:pic>
      <p:sp>
        <p:nvSpPr>
          <p:cNvPr id="20" name="Text 15"/>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How a college goes live</a:t>
            </a:r>
            <a:endParaRPr lang="en-US" sz="1200" dirty="0"/>
          </a:p>
        </p:txBody>
      </p:sp>
      <p:sp>
        <p:nvSpPr>
          <p:cNvPr id="3" name="Text 1"/>
          <p:cNvSpPr txBox="1"/>
          <p:nvPr/>
        </p:nvSpPr>
        <p:spPr>
          <a:xfrm>
            <a:off x="761970" y="876270"/>
            <a:ext cx="9061887" cy="746699"/>
          </a:xfrm>
          <a:prstGeom prst="rect">
            <a:avLst/>
          </a:prstGeom>
          <a:noFill/>
          <a:ln/>
        </p:spPr>
        <p:txBody>
          <a:bodyPr wrap="square" lIns="0" tIns="0" rIns="0" bIns="0" rtlCol="0" anchor="t"/>
          <a:lstStyle/>
          <a:p>
            <a:pPr algn="l" indent="0" marL="0">
              <a:lnSpc>
                <a:spcPts val="2940"/>
              </a:lnSpc>
              <a:buNone/>
            </a:pPr>
            <a:r>
              <a:rPr lang="en-IN" altLang="en-US" sz="2800" b="1" spc="-65" kern="0" dirty="0">
                <a:solidFill>
                  <a:srgbClr val="2A1830"/>
                </a:solidFill>
                <a:latin typeface="+mj-lt" pitchFamily="34" charset="0"/>
                <a:ea typeface="+mj-ea" pitchFamily="34" charset="-122"/>
                <a:cs typeface="+mj-cs" pitchFamily="34" charset="-120"/>
              </a:rPr>
              <a:t>Going live takes four phases, and the degree register is the one to ask for first.</a:t>
            </a:r>
            <a:endParaRPr lang="en-US" sz="2800" dirty="0"/>
          </a:p>
        </p:txBody>
      </p:sp>
      <p:sp>
        <p:nvSpPr>
          <p:cNvPr id="4" name="Text 2"/>
          <p:cNvSpPr txBox="1"/>
          <p:nvPr/>
        </p:nvSpPr>
        <p:spPr>
          <a:xfrm>
            <a:off x="761970" y="1988363"/>
            <a:ext cx="4063959" cy="247620"/>
          </a:xfrm>
          <a:prstGeom prst="rect">
            <a:avLst/>
          </a:prstGeom>
          <a:noFill/>
          <a:ln/>
        </p:spPr>
        <p:txBody>
          <a:bodyPr wrap="none" lIns="0" tIns="0" rIns="0" bIns="0" rtlCol="0" anchor="t"/>
          <a:lstStyle/>
          <a:p>
            <a:pPr algn="l" indent="0" marL="0">
              <a:lnSpc>
                <a:spcPts val="1920"/>
              </a:lnSpc>
              <a:buNone/>
            </a:pPr>
            <a:r>
              <a:rPr lang="en-IN" altLang="en-US" sz="1600" b="1" spc="-28" kern="0" dirty="0">
                <a:solidFill>
                  <a:srgbClr val="2A1830"/>
                </a:solidFill>
                <a:latin typeface="+mj-lt" pitchFamily="34" charset="0"/>
                <a:ea typeface="+mj-ea" pitchFamily="34" charset="-122"/>
                <a:cs typeface="+mj-cs" pitchFamily="34" charset="-120"/>
              </a:rPr>
              <a:t>What your college supplies</a:t>
            </a:r>
            <a:endParaRPr lang="en-US" sz="1600" dirty="0"/>
          </a:p>
        </p:txBody>
      </p:sp>
      <p:sp>
        <p:nvSpPr>
          <p:cNvPr id="5" name="Shape 3"/>
          <p:cNvSpPr/>
          <p:nvPr/>
        </p:nvSpPr>
        <p:spPr>
          <a:xfrm>
            <a:off x="761970" y="5420380"/>
            <a:ext cx="4063959" cy="0"/>
          </a:xfrm>
          <a:prstGeom prst="line">
            <a:avLst/>
          </a:prstGeom>
          <a:noFill/>
          <a:ln w="6350">
            <a:solidFill>
              <a:srgbClr val="E8DED6"/>
            </a:solidFill>
            <a:prstDash val="solid"/>
          </a:ln>
        </p:spPr>
      </p:sp>
      <p:sp>
        <p:nvSpPr>
          <p:cNvPr id="6" name="Shape 4"/>
          <p:cNvSpPr/>
          <p:nvPr/>
        </p:nvSpPr>
        <p:spPr>
          <a:xfrm>
            <a:off x="761970" y="2315352"/>
            <a:ext cx="4063959" cy="0"/>
          </a:xfrm>
          <a:prstGeom prst="line">
            <a:avLst/>
          </a:prstGeom>
          <a:noFill/>
          <a:ln w="6350">
            <a:solidFill>
              <a:srgbClr val="E8DED6"/>
            </a:solidFill>
            <a:prstDash val="solid"/>
          </a:ln>
        </p:spPr>
      </p:sp>
      <p:sp>
        <p:nvSpPr>
          <p:cNvPr id="7" name="Text 5"/>
          <p:cNvSpPr txBox="1"/>
          <p:nvPr/>
        </p:nvSpPr>
        <p:spPr>
          <a:xfrm>
            <a:off x="761970" y="2388413"/>
            <a:ext cx="4345960" cy="630753"/>
          </a:xfrm>
          <a:prstGeom prst="rect">
            <a:avLst/>
          </a:prstGeom>
          <a:noFill/>
          <a:ln/>
        </p:spPr>
        <p:txBody>
          <a:bodyPr wrap="squar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The degree register from the examinations branch: roll number, name as printed, branch and year of passing, for every batch on record</a:t>
            </a:r>
            <a:endParaRPr lang="en-US" sz="1200" dirty="0"/>
          </a:p>
        </p:txBody>
      </p:sp>
      <p:sp>
        <p:nvSpPr>
          <p:cNvPr id="8" name="Shape 6"/>
          <p:cNvSpPr/>
          <p:nvPr/>
        </p:nvSpPr>
        <p:spPr>
          <a:xfrm>
            <a:off x="761970" y="3104845"/>
            <a:ext cx="4063959" cy="0"/>
          </a:xfrm>
          <a:prstGeom prst="line">
            <a:avLst/>
          </a:prstGeom>
          <a:noFill/>
          <a:ln w="6350">
            <a:solidFill>
              <a:srgbClr val="E8DED6"/>
            </a:solidFill>
            <a:prstDash val="solid"/>
          </a:ln>
        </p:spPr>
      </p:sp>
      <p:sp>
        <p:nvSpPr>
          <p:cNvPr id="9" name="Text 7"/>
          <p:cNvSpPr txBox="1"/>
          <p:nvPr/>
        </p:nvSpPr>
        <p:spPr>
          <a:xfrm>
            <a:off x="761970" y="3177906"/>
            <a:ext cx="4063959" cy="210312"/>
          </a:xfrm>
          <a:prstGeom prst="rect">
            <a:avLst/>
          </a:prstGeom>
          <a:noFill/>
          <a:ln/>
        </p:spPr>
        <p:txBody>
          <a:bodyPr wrap="non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The crest in vector, and the official colour values</a:t>
            </a:r>
            <a:endParaRPr lang="en-US" sz="1200" dirty="0"/>
          </a:p>
        </p:txBody>
      </p:sp>
      <p:sp>
        <p:nvSpPr>
          <p:cNvPr id="10" name="Shape 8"/>
          <p:cNvSpPr/>
          <p:nvPr/>
        </p:nvSpPr>
        <p:spPr>
          <a:xfrm>
            <a:off x="761970" y="3473806"/>
            <a:ext cx="4063959" cy="0"/>
          </a:xfrm>
          <a:prstGeom prst="line">
            <a:avLst/>
          </a:prstGeom>
          <a:noFill/>
          <a:ln w="6350">
            <a:solidFill>
              <a:srgbClr val="E8DED6"/>
            </a:solidFill>
            <a:prstDash val="solid"/>
          </a:ln>
        </p:spPr>
      </p:sp>
      <p:sp>
        <p:nvSpPr>
          <p:cNvPr id="11" name="Text 9"/>
          <p:cNvSpPr txBox="1"/>
          <p:nvPr/>
        </p:nvSpPr>
        <p:spPr>
          <a:xfrm>
            <a:off x="761970" y="3546866"/>
            <a:ext cx="4063959" cy="210312"/>
          </a:xfrm>
          <a:prstGeom prst="rect">
            <a:avLst/>
          </a:prstGeom>
          <a:noFill/>
          <a:ln/>
        </p:spPr>
        <p:txBody>
          <a:bodyPr wrap="non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Campus photos and a short video, if you have them</a:t>
            </a:r>
            <a:endParaRPr lang="en-US" sz="1200" dirty="0"/>
          </a:p>
        </p:txBody>
      </p:sp>
      <p:sp>
        <p:nvSpPr>
          <p:cNvPr id="12" name="Shape 10"/>
          <p:cNvSpPr/>
          <p:nvPr/>
        </p:nvSpPr>
        <p:spPr>
          <a:xfrm>
            <a:off x="761970" y="3842857"/>
            <a:ext cx="4063959" cy="0"/>
          </a:xfrm>
          <a:prstGeom prst="line">
            <a:avLst/>
          </a:prstGeom>
          <a:noFill/>
          <a:ln w="6350">
            <a:solidFill>
              <a:srgbClr val="E8DED6"/>
            </a:solidFill>
            <a:prstDash val="solid"/>
          </a:ln>
        </p:spPr>
      </p:sp>
      <p:sp>
        <p:nvSpPr>
          <p:cNvPr id="13" name="Text 11"/>
          <p:cNvSpPr txBox="1"/>
          <p:nvPr/>
        </p:nvSpPr>
        <p:spPr>
          <a:xfrm>
            <a:off x="761970" y="3915827"/>
            <a:ext cx="4345960" cy="420533"/>
          </a:xfrm>
          <a:prstGeom prst="rect">
            <a:avLst/>
          </a:prstGeom>
          <a:noFill/>
          <a:ln/>
        </p:spPr>
        <p:txBody>
          <a:bodyPr wrap="squar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The trust’s FCRA registration status, before any giving is switched on</a:t>
            </a:r>
            <a:endParaRPr lang="en-US" sz="1200" dirty="0"/>
          </a:p>
        </p:txBody>
      </p:sp>
      <p:sp>
        <p:nvSpPr>
          <p:cNvPr id="14" name="Shape 12"/>
          <p:cNvSpPr/>
          <p:nvPr/>
        </p:nvSpPr>
        <p:spPr>
          <a:xfrm>
            <a:off x="761970" y="4422038"/>
            <a:ext cx="4063959" cy="0"/>
          </a:xfrm>
          <a:prstGeom prst="line">
            <a:avLst/>
          </a:prstGeom>
          <a:noFill/>
          <a:ln w="6350">
            <a:solidFill>
              <a:srgbClr val="E8DED6"/>
            </a:solidFill>
            <a:prstDash val="solid"/>
          </a:ln>
        </p:spPr>
      </p:sp>
      <p:sp>
        <p:nvSpPr>
          <p:cNvPr id="15" name="Text 13"/>
          <p:cNvSpPr txBox="1"/>
          <p:nvPr/>
        </p:nvSpPr>
        <p:spPr>
          <a:xfrm>
            <a:off x="761970" y="4495099"/>
            <a:ext cx="4063959" cy="470550"/>
          </a:xfrm>
          <a:prstGeom prst="rect">
            <a:avLst/>
          </a:prstGeom>
          <a:noFill/>
          <a:ln/>
        </p:spPr>
        <p:txBody>
          <a:bodyPr wrap="non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The export from any previous alumni platform</a:t>
            </a:r>
            <a:endParaRPr lang="en-US" sz="1200" dirty="0"/>
          </a:p>
        </p:txBody>
      </p:sp>
      <p:sp>
        <p:nvSpPr>
          <p:cNvPr id="16" name="Text 14"/>
          <p:cNvSpPr txBox="1"/>
          <p:nvPr/>
        </p:nvSpPr>
        <p:spPr>
          <a:xfrm>
            <a:off x="761970" y="4756160"/>
            <a:ext cx="2169688"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Import tool: coming next</a:t>
            </a:r>
            <a:endParaRPr lang="en-US" sz="900" dirty="0"/>
          </a:p>
        </p:txBody>
      </p:sp>
      <p:sp>
        <p:nvSpPr>
          <p:cNvPr id="17" name="Shape 15"/>
          <p:cNvSpPr/>
          <p:nvPr/>
        </p:nvSpPr>
        <p:spPr>
          <a:xfrm>
            <a:off x="761970" y="5051420"/>
            <a:ext cx="4063959" cy="0"/>
          </a:xfrm>
          <a:prstGeom prst="line">
            <a:avLst/>
          </a:prstGeom>
          <a:noFill/>
          <a:ln w="6350">
            <a:solidFill>
              <a:srgbClr val="E8DED6"/>
            </a:solidFill>
            <a:prstDash val="solid"/>
          </a:ln>
        </p:spPr>
      </p:sp>
      <p:sp>
        <p:nvSpPr>
          <p:cNvPr id="18" name="Text 16"/>
          <p:cNvSpPr txBox="1"/>
          <p:nvPr/>
        </p:nvSpPr>
        <p:spPr>
          <a:xfrm>
            <a:off x="761970" y="5124480"/>
            <a:ext cx="4063959" cy="210312"/>
          </a:xfrm>
          <a:prstGeom prst="rect">
            <a:avLst/>
          </a:prstGeom>
          <a:noFill/>
          <a:ln/>
        </p:spPr>
        <p:txBody>
          <a:bodyPr wrap="none" lIns="0" tIns="0" rIns="0" bIns="0" rtlCol="0" anchor="t"/>
          <a:lstStyle/>
          <a:p>
            <a:pPr algn="l" indent="0" marL="0">
              <a:lnSpc>
                <a:spcPts val="1656"/>
              </a:lnSpc>
              <a:buNone/>
            </a:pPr>
            <a:r>
              <a:rPr lang="en-IN" altLang="en-US" sz="1200" dirty="0">
                <a:solidFill>
                  <a:srgbClr val="54455C"/>
                </a:solidFill>
                <a:latin typeface="+mn-lt" pitchFamily="34" charset="0"/>
                <a:ea typeface="+mn-ea" pitchFamily="34" charset="-122"/>
                <a:cs typeface="+mn-cs" pitchFamily="34" charset="-120"/>
              </a:rPr>
              <a:t>A named contact in the alumni cell</a:t>
            </a:r>
            <a:endParaRPr lang="en-US" sz="1200" dirty="0"/>
          </a:p>
        </p:txBody>
      </p:sp>
      <p:sp>
        <p:nvSpPr>
          <p:cNvPr id="19" name="Text 17"/>
          <p:cNvSpPr txBox="1"/>
          <p:nvPr/>
        </p:nvSpPr>
        <p:spPr>
          <a:xfrm>
            <a:off x="5232380" y="1988363"/>
            <a:ext cx="6197620" cy="247620"/>
          </a:xfrm>
          <a:prstGeom prst="rect">
            <a:avLst/>
          </a:prstGeom>
          <a:noFill/>
          <a:ln/>
        </p:spPr>
        <p:txBody>
          <a:bodyPr wrap="none" lIns="0" tIns="0" rIns="0" bIns="0" rtlCol="0" anchor="t"/>
          <a:lstStyle/>
          <a:p>
            <a:pPr algn="l" indent="0" marL="0">
              <a:lnSpc>
                <a:spcPts val="1920"/>
              </a:lnSpc>
              <a:buNone/>
            </a:pPr>
            <a:r>
              <a:rPr lang="en-IN" altLang="en-US" sz="1600" b="1" spc="-28" kern="0" dirty="0">
                <a:solidFill>
                  <a:srgbClr val="2A1830"/>
                </a:solidFill>
                <a:latin typeface="+mj-lt" pitchFamily="34" charset="0"/>
                <a:ea typeface="+mj-ea" pitchFamily="34" charset="-122"/>
                <a:cs typeface="+mj-cs" pitchFamily="34" charset="-120"/>
              </a:rPr>
              <a:t>Four phases, no dates</a:t>
            </a:r>
            <a:endParaRPr lang="en-US" sz="1600" dirty="0"/>
          </a:p>
        </p:txBody>
      </p:sp>
      <p:sp>
        <p:nvSpPr>
          <p:cNvPr id="20" name="Shape 18"/>
          <p:cNvSpPr/>
          <p:nvPr/>
        </p:nvSpPr>
        <p:spPr>
          <a:xfrm>
            <a:off x="5232380" y="5543367"/>
            <a:ext cx="6197620" cy="0"/>
          </a:xfrm>
          <a:prstGeom prst="line">
            <a:avLst/>
          </a:prstGeom>
          <a:noFill/>
          <a:ln w="6350">
            <a:solidFill>
              <a:srgbClr val="E8DED6"/>
            </a:solidFill>
            <a:prstDash val="solid"/>
          </a:ln>
        </p:spPr>
      </p:sp>
      <p:sp>
        <p:nvSpPr>
          <p:cNvPr id="21" name="Shape 19"/>
          <p:cNvSpPr/>
          <p:nvPr/>
        </p:nvSpPr>
        <p:spPr>
          <a:xfrm>
            <a:off x="5232380" y="2315352"/>
            <a:ext cx="6197620" cy="0"/>
          </a:xfrm>
          <a:prstGeom prst="line">
            <a:avLst/>
          </a:prstGeom>
          <a:noFill/>
          <a:ln w="6350">
            <a:solidFill>
              <a:srgbClr val="E8DED6"/>
            </a:solidFill>
            <a:prstDash val="solid"/>
          </a:ln>
        </p:spPr>
      </p:sp>
      <p:sp>
        <p:nvSpPr>
          <p:cNvPr id="22" name="Text 20"/>
          <p:cNvSpPr txBox="1"/>
          <p:nvPr/>
        </p:nvSpPr>
        <p:spPr>
          <a:xfrm>
            <a:off x="5232380" y="2407432"/>
            <a:ext cx="457200" cy="426659"/>
          </a:xfrm>
          <a:prstGeom prst="rect">
            <a:avLst/>
          </a:prstGeom>
          <a:noFill/>
          <a:ln/>
        </p:spPr>
        <p:txBody>
          <a:bodyPr wrap="none" lIns="0" tIns="0" rIns="0" bIns="0" rtlCol="0" anchor="t"/>
          <a:lstStyle/>
          <a:p>
            <a:pPr algn="l" indent="0" marL="0">
              <a:lnSpc>
                <a:spcPts val="1800"/>
              </a:lnSpc>
              <a:buNone/>
            </a:pPr>
            <a:r>
              <a:rPr lang="en-IN" altLang="en-US" sz="1500" dirty="0">
                <a:solidFill>
                  <a:srgbClr val="2E6A55"/>
                </a:solidFill>
                <a:latin typeface="Consolas" pitchFamily="34" charset="0"/>
                <a:ea typeface="Consolas" pitchFamily="34" charset="-122"/>
                <a:cs typeface="Consolas" pitchFamily="34" charset="-120"/>
              </a:rPr>
              <a:t>01</a:t>
            </a:r>
            <a:endParaRPr lang="en-US" sz="1500" dirty="0"/>
          </a:p>
        </p:txBody>
      </p:sp>
      <p:sp>
        <p:nvSpPr>
          <p:cNvPr id="23" name="Text 21"/>
          <p:cNvSpPr txBox="1"/>
          <p:nvPr/>
        </p:nvSpPr>
        <p:spPr>
          <a:xfrm>
            <a:off x="5689580" y="2407432"/>
            <a:ext cx="6121359" cy="426659"/>
          </a:xfrm>
          <a:prstGeom prst="rect">
            <a:avLst/>
          </a:prstGeom>
          <a:noFill/>
          <a:ln/>
        </p:spPr>
        <p:txBody>
          <a:bodyPr wrap="square" lIns="0" tIns="0" rIns="0" bIns="0" rtlCol="0" anchor="t"/>
          <a:lstStyle/>
          <a:p>
            <a:pPr algn="l" indent="0" marL="0">
              <a:lnSpc>
                <a:spcPts val="1680"/>
              </a:lnSpc>
              <a:buNone/>
            </a:pPr>
            <a:r>
              <a:rPr lang="en-IN" altLang="en-US" sz="1200" b="1" dirty="0">
                <a:solidFill>
                  <a:srgbClr val="2A1830"/>
                </a:solidFill>
                <a:latin typeface="+mn-lt" pitchFamily="34" charset="0"/>
                <a:ea typeface="+mn-ea" pitchFamily="34" charset="-122"/>
                <a:cs typeface="+mn-cs" pitchFamily="34" charset="-120"/>
              </a:rPr>
              <a:t>Brand file and register import.</a:t>
            </a:r>
            <a:pPr algn="l" indent="0" marL="0">
              <a:lnSpc>
                <a:spcPts val="1680"/>
              </a:lnSpc>
              <a:buNone/>
            </a:pPr>
            <a:r>
              <a:rPr lang="en-IN" altLang="en-US" sz="1200" dirty="0">
                <a:solidFill>
                  <a:srgbClr val="54455C"/>
                </a:solidFill>
                <a:latin typeface="+mn-lt" pitchFamily="34" charset="0"/>
                <a:ea typeface="+mn-ea" pitchFamily="34" charset="-122"/>
                <a:cs typeface="+mn-cs" pitchFamily="34" charset="-120"/>
              </a:rPr>
              <a:t> We write your college’s file. You review the portal on its own address before anyone else sees it. The register loads with a dry run first.</a:t>
            </a:r>
            <a:endParaRPr lang="en-US" sz="1200" dirty="0"/>
          </a:p>
        </p:txBody>
      </p:sp>
      <p:sp>
        <p:nvSpPr>
          <p:cNvPr id="24" name="Shape 22"/>
          <p:cNvSpPr/>
          <p:nvPr/>
        </p:nvSpPr>
        <p:spPr>
          <a:xfrm>
            <a:off x="5232380" y="2938882"/>
            <a:ext cx="6197620" cy="0"/>
          </a:xfrm>
          <a:prstGeom prst="line">
            <a:avLst/>
          </a:prstGeom>
          <a:noFill/>
          <a:ln w="6350">
            <a:solidFill>
              <a:srgbClr val="E8DED6"/>
            </a:solidFill>
            <a:prstDash val="solid"/>
          </a:ln>
        </p:spPr>
      </p:sp>
      <p:sp>
        <p:nvSpPr>
          <p:cNvPr id="25" name="Text 23"/>
          <p:cNvSpPr txBox="1"/>
          <p:nvPr/>
        </p:nvSpPr>
        <p:spPr>
          <a:xfrm>
            <a:off x="5232380" y="3030962"/>
            <a:ext cx="457200" cy="639989"/>
          </a:xfrm>
          <a:prstGeom prst="rect">
            <a:avLst/>
          </a:prstGeom>
          <a:noFill/>
          <a:ln/>
        </p:spPr>
        <p:txBody>
          <a:bodyPr wrap="none" lIns="0" tIns="0" rIns="0" bIns="0" rtlCol="0" anchor="t"/>
          <a:lstStyle/>
          <a:p>
            <a:pPr algn="l" indent="0" marL="0">
              <a:lnSpc>
                <a:spcPts val="1800"/>
              </a:lnSpc>
              <a:buNone/>
            </a:pPr>
            <a:r>
              <a:rPr lang="en-IN" altLang="en-US" sz="1500" dirty="0">
                <a:solidFill>
                  <a:srgbClr val="2E6A55"/>
                </a:solidFill>
                <a:latin typeface="Consolas" pitchFamily="34" charset="0"/>
                <a:ea typeface="Consolas" pitchFamily="34" charset="-122"/>
                <a:cs typeface="Consolas" pitchFamily="34" charset="-120"/>
              </a:rPr>
              <a:t>02</a:t>
            </a:r>
            <a:endParaRPr lang="en-US" sz="1500" dirty="0"/>
          </a:p>
        </p:txBody>
      </p:sp>
      <p:sp>
        <p:nvSpPr>
          <p:cNvPr id="26" name="Text 24"/>
          <p:cNvSpPr txBox="1"/>
          <p:nvPr/>
        </p:nvSpPr>
        <p:spPr>
          <a:xfrm>
            <a:off x="5689580" y="3030962"/>
            <a:ext cx="6121359" cy="639989"/>
          </a:xfrm>
          <a:prstGeom prst="rect">
            <a:avLst/>
          </a:prstGeom>
          <a:noFill/>
          <a:ln/>
        </p:spPr>
        <p:txBody>
          <a:bodyPr wrap="square" lIns="0" tIns="0" rIns="0" bIns="0" rtlCol="0" anchor="t"/>
          <a:lstStyle/>
          <a:p>
            <a:pPr algn="l" indent="0" marL="0">
              <a:lnSpc>
                <a:spcPts val="1680"/>
              </a:lnSpc>
              <a:buNone/>
            </a:pPr>
            <a:r>
              <a:rPr lang="en-IN" altLang="en-US" sz="1200" b="1" dirty="0">
                <a:solidFill>
                  <a:srgbClr val="2A1830"/>
                </a:solidFill>
                <a:latin typeface="+mn-lt" pitchFamily="34" charset="0"/>
                <a:ea typeface="+mn-ea" pitchFamily="34" charset="-122"/>
                <a:cs typeface="+mn-cs" pitchFamily="34" charset="-120"/>
              </a:rPr>
              <a:t>Pilot with one batch.</a:t>
            </a:r>
            <a:pPr algn="l" indent="0" marL="0">
              <a:lnSpc>
                <a:spcPts val="1680"/>
              </a:lnSpc>
              <a:buNone/>
            </a:pPr>
            <a:r>
              <a:rPr lang="en-IN" altLang="en-US" sz="1200" dirty="0">
                <a:solidFill>
                  <a:srgbClr val="54455C"/>
                </a:solidFill>
                <a:latin typeface="+mn-lt" pitchFamily="34" charset="0"/>
                <a:ea typeface="+mn-ea" pitchFamily="34" charset="-122"/>
                <a:cs typeface="+mn-cs" pitchFamily="34" charset="-120"/>
              </a:rPr>
              <a:t> One batch registers. The alumni cell works the queue and corrects member records. Errors in the register go back to the examinations branch as a corrected file.</a:t>
            </a:r>
            <a:endParaRPr lang="en-US" sz="1200" dirty="0"/>
          </a:p>
        </p:txBody>
      </p:sp>
      <p:sp>
        <p:nvSpPr>
          <p:cNvPr id="27" name="Shape 25"/>
          <p:cNvSpPr/>
          <p:nvPr/>
        </p:nvSpPr>
        <p:spPr>
          <a:xfrm>
            <a:off x="5232380" y="3775649"/>
            <a:ext cx="6197620" cy="0"/>
          </a:xfrm>
          <a:prstGeom prst="line">
            <a:avLst/>
          </a:prstGeom>
          <a:noFill/>
          <a:ln w="6350">
            <a:solidFill>
              <a:srgbClr val="E8DED6"/>
            </a:solidFill>
            <a:prstDash val="solid"/>
          </a:ln>
        </p:spPr>
      </p:sp>
      <p:sp>
        <p:nvSpPr>
          <p:cNvPr id="28" name="Text 26"/>
          <p:cNvSpPr txBox="1"/>
          <p:nvPr/>
        </p:nvSpPr>
        <p:spPr>
          <a:xfrm>
            <a:off x="5232380" y="3867729"/>
            <a:ext cx="457200" cy="686989"/>
          </a:xfrm>
          <a:prstGeom prst="rect">
            <a:avLst/>
          </a:prstGeom>
          <a:noFill/>
          <a:ln/>
        </p:spPr>
        <p:txBody>
          <a:bodyPr wrap="none" lIns="0" tIns="0" rIns="0" bIns="0" rtlCol="0" anchor="t"/>
          <a:lstStyle/>
          <a:p>
            <a:pPr algn="l" indent="0" marL="0">
              <a:lnSpc>
                <a:spcPts val="1800"/>
              </a:lnSpc>
              <a:buNone/>
            </a:pPr>
            <a:r>
              <a:rPr lang="en-IN" altLang="en-US" sz="1500" dirty="0">
                <a:solidFill>
                  <a:srgbClr val="2E6A55"/>
                </a:solidFill>
                <a:latin typeface="Consolas" pitchFamily="34" charset="0"/>
                <a:ea typeface="Consolas" pitchFamily="34" charset="-122"/>
                <a:cs typeface="Consolas" pitchFamily="34" charset="-120"/>
              </a:rPr>
              <a:t>03</a:t>
            </a:r>
            <a:endParaRPr lang="en-US" sz="1500" dirty="0"/>
          </a:p>
        </p:txBody>
      </p:sp>
      <p:sp>
        <p:nvSpPr>
          <p:cNvPr id="29" name="Text 27"/>
          <p:cNvSpPr txBox="1"/>
          <p:nvPr/>
        </p:nvSpPr>
        <p:spPr>
          <a:xfrm>
            <a:off x="5689580" y="3867729"/>
            <a:ext cx="6121359" cy="686989"/>
          </a:xfrm>
          <a:prstGeom prst="rect">
            <a:avLst/>
          </a:prstGeom>
          <a:noFill/>
          <a:ln/>
        </p:spPr>
        <p:txBody>
          <a:bodyPr wrap="square" lIns="0" tIns="0" rIns="0" bIns="0" rtlCol="0" anchor="t"/>
          <a:lstStyle/>
          <a:p>
            <a:pPr algn="l" indent="0" marL="0">
              <a:lnSpc>
                <a:spcPts val="1680"/>
              </a:lnSpc>
              <a:buNone/>
            </a:pPr>
            <a:r>
              <a:rPr lang="en-IN" altLang="en-US" sz="1200" b="1" dirty="0">
                <a:solidFill>
                  <a:srgbClr val="2A1830"/>
                </a:solidFill>
                <a:latin typeface="+mn-lt" pitchFamily="34" charset="0"/>
                <a:ea typeface="+mn-ea" pitchFamily="34" charset="-122"/>
                <a:cs typeface="+mn-cs" pitchFamily="34" charset="-120"/>
              </a:rPr>
              <a:t>Final-year invitation through the placement cell.</a:t>
            </a:r>
            <a:pPr algn="l" indent="0" marL="0">
              <a:lnSpc>
                <a:spcPts val="1680"/>
              </a:lnSpc>
              <a:buNone/>
            </a:pPr>
            <a:r>
              <a:rPr lang="en-IN" altLang="en-US" sz="1200" dirty="0">
                <a:solidFill>
                  <a:srgbClr val="54455C"/>
                </a:solidFill>
                <a:latin typeface="+mn-lt" pitchFamily="34" charset="0"/>
                <a:ea typeface="+mn-ea" pitchFamily="34" charset="-122"/>
                <a:cs typeface="+mn-cs" pitchFamily="34" charset="-120"/>
              </a:rPr>
              <a:t> The placement cell’s final-year roll list becomes the student accounts.</a:t>
            </a:r>
            <a:endParaRPr lang="en-US" sz="1200" dirty="0"/>
          </a:p>
        </p:txBody>
      </p:sp>
      <p:sp>
        <p:nvSpPr>
          <p:cNvPr id="30" name="Text 28"/>
          <p:cNvSpPr txBox="1"/>
          <p:nvPr/>
        </p:nvSpPr>
        <p:spPr>
          <a:xfrm>
            <a:off x="5689580" y="4345229"/>
            <a:ext cx="2169688"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Import tool: coming next</a:t>
            </a:r>
            <a:endParaRPr lang="en-US" sz="900" dirty="0"/>
          </a:p>
        </p:txBody>
      </p:sp>
      <p:sp>
        <p:nvSpPr>
          <p:cNvPr id="31" name="Shape 29"/>
          <p:cNvSpPr/>
          <p:nvPr/>
        </p:nvSpPr>
        <p:spPr>
          <a:xfrm>
            <a:off x="5232380" y="4659508"/>
            <a:ext cx="6197620" cy="0"/>
          </a:xfrm>
          <a:prstGeom prst="line">
            <a:avLst/>
          </a:prstGeom>
          <a:noFill/>
          <a:ln w="6350">
            <a:solidFill>
              <a:srgbClr val="E8DED6"/>
            </a:solidFill>
            <a:prstDash val="solid"/>
          </a:ln>
        </p:spPr>
      </p:sp>
      <p:sp>
        <p:nvSpPr>
          <p:cNvPr id="32" name="Text 30"/>
          <p:cNvSpPr txBox="1"/>
          <p:nvPr/>
        </p:nvSpPr>
        <p:spPr>
          <a:xfrm>
            <a:off x="5232380" y="4751588"/>
            <a:ext cx="457200" cy="686989"/>
          </a:xfrm>
          <a:prstGeom prst="rect">
            <a:avLst/>
          </a:prstGeom>
          <a:noFill/>
          <a:ln/>
        </p:spPr>
        <p:txBody>
          <a:bodyPr wrap="none" lIns="0" tIns="0" rIns="0" bIns="0" rtlCol="0" anchor="t"/>
          <a:lstStyle/>
          <a:p>
            <a:pPr algn="l" indent="0" marL="0">
              <a:lnSpc>
                <a:spcPts val="1800"/>
              </a:lnSpc>
              <a:buNone/>
            </a:pPr>
            <a:r>
              <a:rPr lang="en-IN" altLang="en-US" sz="1500" dirty="0">
                <a:solidFill>
                  <a:srgbClr val="2E6A55"/>
                </a:solidFill>
                <a:latin typeface="Consolas" pitchFamily="34" charset="0"/>
                <a:ea typeface="Consolas" pitchFamily="34" charset="-122"/>
                <a:cs typeface="Consolas" pitchFamily="34" charset="-120"/>
              </a:rPr>
              <a:t>04</a:t>
            </a:r>
            <a:endParaRPr lang="en-US" sz="1500" dirty="0"/>
          </a:p>
        </p:txBody>
      </p:sp>
      <p:sp>
        <p:nvSpPr>
          <p:cNvPr id="33" name="Text 31"/>
          <p:cNvSpPr txBox="1"/>
          <p:nvPr/>
        </p:nvSpPr>
        <p:spPr>
          <a:xfrm>
            <a:off x="5689580" y="4751588"/>
            <a:ext cx="6121359" cy="686989"/>
          </a:xfrm>
          <a:prstGeom prst="rect">
            <a:avLst/>
          </a:prstGeom>
          <a:noFill/>
          <a:ln/>
        </p:spPr>
        <p:txBody>
          <a:bodyPr wrap="square" lIns="0" tIns="0" rIns="0" bIns="0" rtlCol="0" anchor="t"/>
          <a:lstStyle/>
          <a:p>
            <a:pPr algn="l" indent="0" marL="0">
              <a:lnSpc>
                <a:spcPts val="1680"/>
              </a:lnSpc>
              <a:buNone/>
            </a:pPr>
            <a:r>
              <a:rPr lang="en-IN" altLang="en-US" sz="1200" b="1" dirty="0">
                <a:solidFill>
                  <a:srgbClr val="2A1830"/>
                </a:solidFill>
                <a:latin typeface="+mn-lt" pitchFamily="34" charset="0"/>
                <a:ea typeface="+mn-ea" pitchFamily="34" charset="-122"/>
                <a:cs typeface="+mn-cs" pitchFamily="34" charset="-120"/>
              </a:rPr>
              <a:t>Alumni registration drive over WhatsApp groups.</a:t>
            </a:r>
            <a:pPr algn="l" indent="0" marL="0">
              <a:lnSpc>
                <a:spcPts val="1680"/>
              </a:lnSpc>
              <a:buNone/>
            </a:pPr>
            <a:r>
              <a:rPr lang="en-IN" altLang="en-US" sz="1200" dirty="0">
                <a:solidFill>
                  <a:srgbClr val="54455C"/>
                </a:solidFill>
                <a:latin typeface="+mn-lt" pitchFamily="34" charset="0"/>
                <a:ea typeface="+mn-ea" pitchFamily="34" charset="-122"/>
                <a:cs typeface="+mn-cs" pitchFamily="34" charset="-120"/>
              </a:rPr>
              <a:t> Batch representatives share the registration link in their own groups.</a:t>
            </a:r>
            <a:endParaRPr lang="en-US" sz="1200" dirty="0"/>
          </a:p>
        </p:txBody>
      </p:sp>
      <p:sp>
        <p:nvSpPr>
          <p:cNvPr id="34" name="Text 32"/>
          <p:cNvSpPr txBox="1"/>
          <p:nvPr/>
        </p:nvSpPr>
        <p:spPr>
          <a:xfrm>
            <a:off x="5689580" y="5228996"/>
            <a:ext cx="2169688"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API sending: coming next</a:t>
            </a:r>
            <a:endParaRPr lang="en-US" sz="900" dirty="0"/>
          </a:p>
        </p:txBody>
      </p:sp>
      <p:sp>
        <p:nvSpPr>
          <p:cNvPr id="35" name="Shape 33"/>
          <p:cNvSpPr/>
          <p:nvPr/>
        </p:nvSpPr>
        <p:spPr>
          <a:xfrm>
            <a:off x="761970" y="5915071"/>
            <a:ext cx="10668030" cy="0"/>
          </a:xfrm>
          <a:prstGeom prst="line">
            <a:avLst/>
          </a:prstGeom>
          <a:noFill/>
          <a:ln w="6350">
            <a:solidFill>
              <a:srgbClr val="E8DED6"/>
            </a:solidFill>
            <a:prstDash val="solid"/>
          </a:ln>
        </p:spPr>
      </p:sp>
      <p:pic>
        <p:nvPicPr>
          <p:cNvPr id="36" name="Image 0" descr="ifBash">    </p:cNvPr>
          <p:cNvPicPr>
            <a:picLocks noChangeAspect="1"/>
          </p:cNvPicPr>
          <p:nvPr/>
        </p:nvPicPr>
        <p:blipFill>
          <a:blip r:embed="rId1"/>
          <a:stretch>
            <a:fillRect/>
          </a:stretch>
        </p:blipFill>
        <p:spPr>
          <a:xfrm>
            <a:off x="761970" y="6045190"/>
            <a:ext cx="254020" cy="254020"/>
          </a:xfrm>
          <a:prstGeom prst="rect">
            <a:avLst/>
          </a:prstGeom>
        </p:spPr>
      </p:pic>
      <p:sp>
        <p:nvSpPr>
          <p:cNvPr id="37" name="Text 34"/>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Deployment · To decide together</a:t>
            </a:r>
            <a:endParaRPr lang="en-US" sz="1200" dirty="0"/>
          </a:p>
        </p:txBody>
      </p:sp>
      <p:sp>
        <p:nvSpPr>
          <p:cNvPr id="3" name="Text 1"/>
          <p:cNvSpPr txBox="1"/>
          <p:nvPr/>
        </p:nvSpPr>
        <p:spPr>
          <a:xfrm>
            <a:off x="761970" y="901690"/>
            <a:ext cx="8632210" cy="853318"/>
          </a:xfrm>
          <a:prstGeom prst="rect">
            <a:avLst/>
          </a:prstGeom>
          <a:noFill/>
          <a:ln/>
        </p:spPr>
        <p:txBody>
          <a:bodyPr wrap="square" lIns="0" tIns="0" rIns="0" bIns="0" rtlCol="0" anchor="t"/>
          <a:lstStyle/>
          <a:p>
            <a:pPr algn="l" indent="0" marL="0">
              <a:lnSpc>
                <a:spcPts val="3360"/>
              </a:lnSpc>
              <a:buNone/>
            </a:pPr>
            <a:r>
              <a:rPr lang="en-IN" altLang="en-US" sz="3200" b="1" spc="-74" kern="0" dirty="0">
                <a:solidFill>
                  <a:srgbClr val="2A1830"/>
                </a:solidFill>
                <a:latin typeface="+mj-lt" pitchFamily="34" charset="0"/>
                <a:ea typeface="+mj-ea" pitchFamily="34" charset="-122"/>
                <a:cs typeface="+mj-cs" pitchFamily="34" charset="-120"/>
              </a:rPr>
              <a:t>Where the portal runs is a choice we make with you, not for you.</a:t>
            </a:r>
            <a:endParaRPr lang="en-US" sz="3200" dirty="0"/>
          </a:p>
        </p:txBody>
      </p:sp>
      <p:sp>
        <p:nvSpPr>
          <p:cNvPr id="4" name="Shape 2"/>
          <p:cNvSpPr/>
          <p:nvPr/>
        </p:nvSpPr>
        <p:spPr>
          <a:xfrm>
            <a:off x="761970" y="2067733"/>
            <a:ext cx="10668030" cy="0"/>
          </a:xfrm>
          <a:prstGeom prst="line">
            <a:avLst/>
          </a:prstGeom>
          <a:noFill/>
          <a:ln w="6350">
            <a:solidFill>
              <a:srgbClr val="E8DED6"/>
            </a:solidFill>
            <a:prstDash val="solid"/>
          </a:ln>
        </p:spPr>
      </p:sp>
      <p:sp>
        <p:nvSpPr>
          <p:cNvPr id="5" name="Shape 3"/>
          <p:cNvSpPr/>
          <p:nvPr/>
        </p:nvSpPr>
        <p:spPr>
          <a:xfrm>
            <a:off x="761970" y="5051511"/>
            <a:ext cx="10668030" cy="0"/>
          </a:xfrm>
          <a:prstGeom prst="line">
            <a:avLst/>
          </a:prstGeom>
          <a:noFill/>
          <a:ln w="6350">
            <a:solidFill>
              <a:srgbClr val="E8DED6"/>
            </a:solidFill>
            <a:prstDash val="solid"/>
          </a:ln>
        </p:spPr>
      </p:sp>
      <p:sp>
        <p:nvSpPr>
          <p:cNvPr id="6" name="Text 4"/>
          <p:cNvSpPr txBox="1"/>
          <p:nvPr/>
        </p:nvSpPr>
        <p:spPr>
          <a:xfrm>
            <a:off x="761970" y="2274113"/>
            <a:ext cx="871698" cy="184160"/>
          </a:xfrm>
          <a:prstGeom prst="rect">
            <a:avLst/>
          </a:prstGeom>
          <a:noFill/>
          <a:ln/>
        </p:spPr>
        <p:txBody>
          <a:bodyPr wrap="none" lIns="0" tIns="0" rIns="0" bIns="0" rtlCol="0" anchor="t"/>
          <a:lstStyle/>
          <a:p>
            <a:pPr algn="l" indent="0" marL="0">
              <a:lnSpc>
                <a:spcPts val="1320"/>
              </a:lnSpc>
              <a:buNone/>
            </a:pPr>
            <a:r>
              <a:rPr lang="en-IN" altLang="en-US" cap="all" sz="1100" spc="198" kern="0" dirty="0">
                <a:solidFill>
                  <a:srgbClr val="54455C"/>
                </a:solidFill>
                <a:latin typeface="Consolas" pitchFamily="34" charset="0"/>
                <a:ea typeface="Consolas" pitchFamily="34" charset="-122"/>
                <a:cs typeface="Consolas" pitchFamily="34" charset="-120"/>
              </a:rPr>
              <a:t>Option A</a:t>
            </a:r>
            <a:endParaRPr lang="en-US" sz="1100" dirty="0"/>
          </a:p>
        </p:txBody>
      </p:sp>
      <p:sp>
        <p:nvSpPr>
          <p:cNvPr id="7" name="Text 5"/>
          <p:cNvSpPr txBox="1"/>
          <p:nvPr/>
        </p:nvSpPr>
        <p:spPr>
          <a:xfrm>
            <a:off x="1735348" y="2261403"/>
            <a:ext cx="985540"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To discuss</a:t>
            </a:r>
            <a:endParaRPr lang="en-US" sz="900" dirty="0"/>
          </a:p>
        </p:txBody>
      </p:sp>
      <p:sp>
        <p:nvSpPr>
          <p:cNvPr id="8" name="Text 6"/>
          <p:cNvSpPr txBox="1"/>
          <p:nvPr/>
        </p:nvSpPr>
        <p:spPr>
          <a:xfrm>
            <a:off x="761970" y="2597902"/>
            <a:ext cx="4975250" cy="320040"/>
          </a:xfrm>
          <a:prstGeom prst="rect">
            <a:avLst/>
          </a:prstGeom>
          <a:noFill/>
          <a:ln/>
        </p:spPr>
        <p:txBody>
          <a:bodyPr wrap="none" lIns="0" tIns="0" rIns="0" bIns="0" rtlCol="0" anchor="t"/>
          <a:lstStyle/>
          <a:p>
            <a:pPr algn="l" indent="0" marL="0">
              <a:lnSpc>
                <a:spcPts val="2520"/>
              </a:lnSpc>
              <a:buNone/>
            </a:pPr>
            <a:r>
              <a:rPr lang="en-IN" altLang="en-US" sz="2400" b="1" spc="-50" kern="0" dirty="0">
                <a:solidFill>
                  <a:srgbClr val="2A1830"/>
                </a:solidFill>
                <a:latin typeface="+mj-lt" pitchFamily="34" charset="0"/>
                <a:ea typeface="+mj-ea" pitchFamily="34" charset="-122"/>
                <a:cs typeface="+mj-cs" pitchFamily="34" charset="-120"/>
              </a:rPr>
              <a:t>Hosted by ifBash</a:t>
            </a:r>
            <a:endParaRPr lang="en-US" sz="2400" dirty="0"/>
          </a:p>
        </p:txBody>
      </p:sp>
      <p:sp>
        <p:nvSpPr>
          <p:cNvPr id="9" name="Shape 7"/>
          <p:cNvSpPr/>
          <p:nvPr/>
        </p:nvSpPr>
        <p:spPr>
          <a:xfrm>
            <a:off x="761970" y="3048061"/>
            <a:ext cx="4975250" cy="0"/>
          </a:xfrm>
          <a:prstGeom prst="line">
            <a:avLst/>
          </a:prstGeom>
          <a:noFill/>
          <a:ln w="6350">
            <a:solidFill>
              <a:srgbClr val="E8DED6"/>
            </a:solidFill>
            <a:prstDash val="solid"/>
          </a:ln>
        </p:spPr>
      </p:sp>
      <p:sp>
        <p:nvSpPr>
          <p:cNvPr id="10" name="Text 8"/>
          <p:cNvSpPr txBox="1"/>
          <p:nvPr/>
        </p:nvSpPr>
        <p:spPr>
          <a:xfrm>
            <a:off x="761970" y="3127431"/>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We run the portal and keep it up to date. Your IT team runs nothing.</a:t>
            </a:r>
            <a:endParaRPr lang="en-US" sz="1250" dirty="0"/>
          </a:p>
        </p:txBody>
      </p:sp>
      <p:sp>
        <p:nvSpPr>
          <p:cNvPr id="11" name="Shape 9"/>
          <p:cNvSpPr/>
          <p:nvPr/>
        </p:nvSpPr>
        <p:spPr>
          <a:xfrm>
            <a:off x="761970" y="3445002"/>
            <a:ext cx="4975250" cy="0"/>
          </a:xfrm>
          <a:prstGeom prst="line">
            <a:avLst/>
          </a:prstGeom>
          <a:noFill/>
          <a:ln w="6350">
            <a:solidFill>
              <a:srgbClr val="E8DED6"/>
            </a:solidFill>
            <a:prstDash val="solid"/>
          </a:ln>
        </p:spPr>
      </p:sp>
      <p:sp>
        <p:nvSpPr>
          <p:cNvPr id="12" name="Text 10"/>
          <p:cNvSpPr txBox="1"/>
          <p:nvPr/>
        </p:nvSpPr>
        <p:spPr>
          <a:xfrm>
            <a:off x="761970" y="3524372"/>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It is designed to keep data in India.</a:t>
            </a:r>
            <a:endParaRPr lang="en-US" sz="1250" dirty="0"/>
          </a:p>
        </p:txBody>
      </p:sp>
      <p:sp>
        <p:nvSpPr>
          <p:cNvPr id="13" name="Shape 11"/>
          <p:cNvSpPr/>
          <p:nvPr/>
        </p:nvSpPr>
        <p:spPr>
          <a:xfrm>
            <a:off x="761970" y="3841852"/>
            <a:ext cx="4975250" cy="0"/>
          </a:xfrm>
          <a:prstGeom prst="line">
            <a:avLst/>
          </a:prstGeom>
          <a:noFill/>
          <a:ln w="6350">
            <a:solidFill>
              <a:srgbClr val="E8DED6"/>
            </a:solidFill>
            <a:prstDash val="solid"/>
          </a:ln>
        </p:spPr>
      </p:sp>
      <p:sp>
        <p:nvSpPr>
          <p:cNvPr id="14" name="Text 12"/>
          <p:cNvSpPr txBox="1"/>
          <p:nvPr/>
        </p:nvSpPr>
        <p:spPr>
          <a:xfrm>
            <a:off x="761970" y="3921222"/>
            <a:ext cx="5311841" cy="450891"/>
          </a:xfrm>
          <a:prstGeom prst="rect">
            <a:avLst/>
          </a:prstGeom>
          <a:noFill/>
          <a:ln/>
        </p:spPr>
        <p:txBody>
          <a:bodyPr wrap="squar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Your college administrator holds the member-data permissions. ifBash’s account reads the audit log, not the directory.</a:t>
            </a:r>
            <a:endParaRPr lang="en-US" sz="1250" dirty="0"/>
          </a:p>
        </p:txBody>
      </p:sp>
      <p:sp>
        <p:nvSpPr>
          <p:cNvPr id="15" name="Shape 13"/>
          <p:cNvSpPr/>
          <p:nvPr/>
        </p:nvSpPr>
        <p:spPr>
          <a:xfrm>
            <a:off x="761970" y="4464192"/>
            <a:ext cx="4975250" cy="0"/>
          </a:xfrm>
          <a:prstGeom prst="line">
            <a:avLst/>
          </a:prstGeom>
          <a:noFill/>
          <a:ln w="6350">
            <a:solidFill>
              <a:srgbClr val="E8DED6"/>
            </a:solidFill>
            <a:prstDash val="solid"/>
          </a:ln>
        </p:spPr>
      </p:sp>
      <p:sp>
        <p:nvSpPr>
          <p:cNvPr id="16" name="Text 14"/>
          <p:cNvSpPr txBox="1"/>
          <p:nvPr/>
        </p:nvSpPr>
        <p:spPr>
          <a:xfrm>
            <a:off x="761970" y="4543562"/>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Updates reach every college at once.</a:t>
            </a:r>
            <a:endParaRPr lang="en-US" sz="1250" dirty="0"/>
          </a:p>
        </p:txBody>
      </p:sp>
      <p:sp>
        <p:nvSpPr>
          <p:cNvPr id="17" name="Shape 15"/>
          <p:cNvSpPr/>
          <p:nvPr/>
        </p:nvSpPr>
        <p:spPr>
          <a:xfrm>
            <a:off x="6096030" y="2070933"/>
            <a:ext cx="0" cy="2977469"/>
          </a:xfrm>
          <a:prstGeom prst="line">
            <a:avLst/>
          </a:prstGeom>
          <a:noFill/>
          <a:ln w="6350">
            <a:solidFill>
              <a:srgbClr val="E8DED6"/>
            </a:solidFill>
            <a:prstDash val="solid"/>
          </a:ln>
        </p:spPr>
      </p:sp>
      <p:sp>
        <p:nvSpPr>
          <p:cNvPr id="18" name="Text 16"/>
          <p:cNvSpPr txBox="1"/>
          <p:nvPr/>
        </p:nvSpPr>
        <p:spPr>
          <a:xfrm>
            <a:off x="6454750" y="2274113"/>
            <a:ext cx="871698" cy="184160"/>
          </a:xfrm>
          <a:prstGeom prst="rect">
            <a:avLst/>
          </a:prstGeom>
          <a:noFill/>
          <a:ln/>
        </p:spPr>
        <p:txBody>
          <a:bodyPr wrap="none" lIns="0" tIns="0" rIns="0" bIns="0" rtlCol="0" anchor="t"/>
          <a:lstStyle/>
          <a:p>
            <a:pPr algn="l" indent="0" marL="0">
              <a:lnSpc>
                <a:spcPts val="1320"/>
              </a:lnSpc>
              <a:buNone/>
            </a:pPr>
            <a:r>
              <a:rPr lang="en-IN" altLang="en-US" cap="all" sz="1100" spc="198" kern="0" dirty="0">
                <a:solidFill>
                  <a:srgbClr val="54455C"/>
                </a:solidFill>
                <a:latin typeface="Consolas" pitchFamily="34" charset="0"/>
                <a:ea typeface="Consolas" pitchFamily="34" charset="-122"/>
                <a:cs typeface="Consolas" pitchFamily="34" charset="-120"/>
              </a:rPr>
              <a:t>Option B</a:t>
            </a:r>
            <a:endParaRPr lang="en-US" sz="1100" dirty="0"/>
          </a:p>
        </p:txBody>
      </p:sp>
      <p:sp>
        <p:nvSpPr>
          <p:cNvPr id="19" name="Text 17"/>
          <p:cNvSpPr txBox="1"/>
          <p:nvPr/>
        </p:nvSpPr>
        <p:spPr>
          <a:xfrm>
            <a:off x="7428128" y="2261403"/>
            <a:ext cx="985540"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To discuss</a:t>
            </a:r>
            <a:endParaRPr lang="en-US" sz="900" dirty="0"/>
          </a:p>
        </p:txBody>
      </p:sp>
      <p:sp>
        <p:nvSpPr>
          <p:cNvPr id="20" name="Text 18"/>
          <p:cNvSpPr txBox="1"/>
          <p:nvPr/>
        </p:nvSpPr>
        <p:spPr>
          <a:xfrm>
            <a:off x="6454750" y="2597902"/>
            <a:ext cx="4975250" cy="320040"/>
          </a:xfrm>
          <a:prstGeom prst="rect">
            <a:avLst/>
          </a:prstGeom>
          <a:noFill/>
          <a:ln/>
        </p:spPr>
        <p:txBody>
          <a:bodyPr wrap="none" lIns="0" tIns="0" rIns="0" bIns="0" rtlCol="0" anchor="t"/>
          <a:lstStyle/>
          <a:p>
            <a:pPr algn="l" indent="0" marL="0">
              <a:lnSpc>
                <a:spcPts val="2520"/>
              </a:lnSpc>
              <a:buNone/>
            </a:pPr>
            <a:r>
              <a:rPr lang="en-IN" altLang="en-US" sz="2400" b="1" spc="-50" kern="0" dirty="0">
                <a:solidFill>
                  <a:srgbClr val="2A1830"/>
                </a:solidFill>
                <a:latin typeface="+mj-lt" pitchFamily="34" charset="0"/>
                <a:ea typeface="+mj-ea" pitchFamily="34" charset="-122"/>
                <a:cs typeface="+mj-cs" pitchFamily="34" charset="-120"/>
              </a:rPr>
              <a:t>On your own infrastructure</a:t>
            </a:r>
            <a:endParaRPr lang="en-US" sz="2400" dirty="0"/>
          </a:p>
        </p:txBody>
      </p:sp>
      <p:sp>
        <p:nvSpPr>
          <p:cNvPr id="21" name="Shape 19"/>
          <p:cNvSpPr/>
          <p:nvPr/>
        </p:nvSpPr>
        <p:spPr>
          <a:xfrm>
            <a:off x="6454750" y="3048061"/>
            <a:ext cx="4975250" cy="0"/>
          </a:xfrm>
          <a:prstGeom prst="line">
            <a:avLst/>
          </a:prstGeom>
          <a:noFill/>
          <a:ln w="6350">
            <a:solidFill>
              <a:srgbClr val="E8DED6"/>
            </a:solidFill>
            <a:prstDash val="solid"/>
          </a:ln>
        </p:spPr>
      </p:sp>
      <p:sp>
        <p:nvSpPr>
          <p:cNvPr id="22" name="Text 20"/>
          <p:cNvSpPr txBox="1"/>
          <p:nvPr/>
        </p:nvSpPr>
        <p:spPr>
          <a:xfrm>
            <a:off x="6454750" y="3127431"/>
            <a:ext cx="5311841" cy="450891"/>
          </a:xfrm>
          <a:prstGeom prst="rect">
            <a:avLst/>
          </a:prstGeom>
          <a:noFill/>
          <a:ln/>
        </p:spPr>
        <p:txBody>
          <a:bodyPr wrap="squar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We hand the portal’s front end to your IT team, to run against your college’s own backend and servers.</a:t>
            </a:r>
            <a:endParaRPr lang="en-US" sz="1250" dirty="0"/>
          </a:p>
        </p:txBody>
      </p:sp>
      <p:sp>
        <p:nvSpPr>
          <p:cNvPr id="23" name="Shape 21"/>
          <p:cNvSpPr/>
          <p:nvPr/>
        </p:nvSpPr>
        <p:spPr>
          <a:xfrm>
            <a:off x="6454750" y="3670402"/>
            <a:ext cx="4975250" cy="0"/>
          </a:xfrm>
          <a:prstGeom prst="line">
            <a:avLst/>
          </a:prstGeom>
          <a:noFill/>
          <a:ln w="6350">
            <a:solidFill>
              <a:srgbClr val="E8DED6"/>
            </a:solidFill>
            <a:prstDash val="solid"/>
          </a:ln>
        </p:spPr>
      </p:sp>
      <p:sp>
        <p:nvSpPr>
          <p:cNvPr id="24" name="Text 22"/>
          <p:cNvSpPr txBox="1"/>
          <p:nvPr/>
        </p:nvSpPr>
        <p:spPr>
          <a:xfrm>
            <a:off x="6454750" y="3749772"/>
            <a:ext cx="5311841" cy="450891"/>
          </a:xfrm>
          <a:prstGeom prst="rect">
            <a:avLst/>
          </a:prstGeom>
          <a:noFill/>
          <a:ln/>
        </p:spPr>
        <p:txBody>
          <a:bodyPr wrap="squar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Your backend must enforce the same privacy rules (slide 10). We scope that work with your IT team before you choose.</a:t>
            </a:r>
            <a:endParaRPr lang="en-US" sz="1250" dirty="0"/>
          </a:p>
        </p:txBody>
      </p:sp>
      <p:sp>
        <p:nvSpPr>
          <p:cNvPr id="25" name="Shape 23"/>
          <p:cNvSpPr/>
          <p:nvPr/>
        </p:nvSpPr>
        <p:spPr>
          <a:xfrm>
            <a:off x="6454750" y="4292742"/>
            <a:ext cx="4975250" cy="0"/>
          </a:xfrm>
          <a:prstGeom prst="line">
            <a:avLst/>
          </a:prstGeom>
          <a:noFill/>
          <a:ln w="6350">
            <a:solidFill>
              <a:srgbClr val="E8DED6"/>
            </a:solidFill>
            <a:prstDash val="solid"/>
          </a:ln>
        </p:spPr>
      </p:sp>
      <p:sp>
        <p:nvSpPr>
          <p:cNvPr id="26" name="Text 24"/>
          <p:cNvSpPr txBox="1"/>
          <p:nvPr/>
        </p:nvSpPr>
        <p:spPr>
          <a:xfrm>
            <a:off x="6454750" y="4372112"/>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The same brand file sets your name and colours.</a:t>
            </a:r>
            <a:endParaRPr lang="en-US" sz="1250" dirty="0"/>
          </a:p>
        </p:txBody>
      </p:sp>
      <p:sp>
        <p:nvSpPr>
          <p:cNvPr id="27" name="Shape 25"/>
          <p:cNvSpPr/>
          <p:nvPr/>
        </p:nvSpPr>
        <p:spPr>
          <a:xfrm>
            <a:off x="771571" y="5364145"/>
            <a:ext cx="0" cy="238110"/>
          </a:xfrm>
          <a:prstGeom prst="line">
            <a:avLst/>
          </a:prstGeom>
          <a:noFill/>
          <a:ln w="19050">
            <a:solidFill>
              <a:srgbClr val="C2856A"/>
            </a:solidFill>
            <a:prstDash val="solid"/>
          </a:ln>
        </p:spPr>
      </p:sp>
      <p:sp>
        <p:nvSpPr>
          <p:cNvPr id="28" name="Text 26"/>
          <p:cNvSpPr txBox="1"/>
          <p:nvPr/>
        </p:nvSpPr>
        <p:spPr>
          <a:xfrm>
            <a:off x="920709" y="5364145"/>
            <a:ext cx="10509291" cy="238110"/>
          </a:xfrm>
          <a:prstGeom prst="rect">
            <a:avLst/>
          </a:prstGeom>
          <a:noFill/>
          <a:ln/>
        </p:spPr>
        <p:txBody>
          <a:bodyPr wrap="none" lIns="0" tIns="0" rIns="0" bIns="0" rtlCol="0" anchor="t"/>
          <a:lstStyle/>
          <a:p>
            <a:pPr algn="l" indent="0" marL="0">
              <a:lnSpc>
                <a:spcPts val="1875"/>
              </a:lnSpc>
              <a:buNone/>
            </a:pPr>
            <a:r>
              <a:rPr lang="en-IN" altLang="en-US" sz="1250" b="1" dirty="0">
                <a:solidFill>
                  <a:srgbClr val="2A1830"/>
                </a:solidFill>
                <a:latin typeface="+mn-lt" pitchFamily="34" charset="0"/>
                <a:ea typeface="+mn-ea" pitchFamily="34" charset="-122"/>
                <a:cs typeface="+mn-cs" pitchFamily="34" charset="-120"/>
              </a:rPr>
              <a:t>Hosting is not live yet for either option.</a:t>
            </a:r>
            <a:endParaRPr lang="en-US" sz="1250" dirty="0"/>
          </a:p>
        </p:txBody>
      </p:sp>
      <p:sp>
        <p:nvSpPr>
          <p:cNvPr id="29" name="Shape 27"/>
          <p:cNvSpPr/>
          <p:nvPr/>
        </p:nvSpPr>
        <p:spPr>
          <a:xfrm>
            <a:off x="761970" y="5915071"/>
            <a:ext cx="10668030" cy="0"/>
          </a:xfrm>
          <a:prstGeom prst="line">
            <a:avLst/>
          </a:prstGeom>
          <a:noFill/>
          <a:ln w="6350">
            <a:solidFill>
              <a:srgbClr val="E8DED6"/>
            </a:solidFill>
            <a:prstDash val="solid"/>
          </a:ln>
        </p:spPr>
      </p:sp>
      <p:pic>
        <p:nvPicPr>
          <p:cNvPr id="30" name="Image 0" descr="ifBash">    </p:cNvPr>
          <p:cNvPicPr>
            <a:picLocks noChangeAspect="1"/>
          </p:cNvPicPr>
          <p:nvPr/>
        </p:nvPicPr>
        <p:blipFill>
          <a:blip r:embed="rId1"/>
          <a:stretch>
            <a:fillRect/>
          </a:stretch>
        </p:blipFill>
        <p:spPr>
          <a:xfrm>
            <a:off x="761970" y="6045190"/>
            <a:ext cx="254020" cy="254020"/>
          </a:xfrm>
          <a:prstGeom prst="rect">
            <a:avLst/>
          </a:prstGeom>
        </p:spPr>
      </p:pic>
      <p:sp>
        <p:nvSpPr>
          <p:cNvPr id="31" name="Text 28"/>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2132A"/>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E88AA3"/>
                </a:solidFill>
                <a:latin typeface="Consolas" pitchFamily="34" charset="0"/>
                <a:ea typeface="Consolas" pitchFamily="34" charset="-122"/>
                <a:cs typeface="Consolas" pitchFamily="34" charset="-120"/>
              </a:rPr>
              <a:t>Where it stands</a:t>
            </a:r>
            <a:endParaRPr lang="en-US" sz="1200" dirty="0"/>
          </a:p>
        </p:txBody>
      </p:sp>
      <p:sp>
        <p:nvSpPr>
          <p:cNvPr id="3" name="Text 1"/>
          <p:cNvSpPr txBox="1"/>
          <p:nvPr/>
        </p:nvSpPr>
        <p:spPr>
          <a:xfrm>
            <a:off x="761970" y="876270"/>
            <a:ext cx="9706447" cy="719907"/>
          </a:xfrm>
          <a:prstGeom prst="rect">
            <a:avLst/>
          </a:prstGeom>
          <a:noFill/>
          <a:ln/>
        </p:spPr>
        <p:txBody>
          <a:bodyPr wrap="square" lIns="0" tIns="0" rIns="0" bIns="0" rtlCol="0" anchor="t"/>
          <a:lstStyle/>
          <a:p>
            <a:pPr algn="l" indent="0" marL="0">
              <a:lnSpc>
                <a:spcPts val="2835"/>
              </a:lnSpc>
              <a:buNone/>
            </a:pPr>
            <a:r>
              <a:rPr lang="en-IN" altLang="en-US" sz="2700" b="1" spc="-62" kern="0" dirty="0">
                <a:solidFill>
                  <a:srgbClr val="FBF8F4"/>
                </a:solidFill>
                <a:latin typeface="+mj-lt" pitchFamily="34" charset="0"/>
                <a:ea typeface="+mj-ea" pitchFamily="34" charset="-122"/>
                <a:cs typeface="+mj-cs" pitchFamily="34" charset="-120"/>
              </a:rPr>
              <a:t>What you have seen runs today on sample data. These are the main pieces still to build before you go live.</a:t>
            </a:r>
            <a:endParaRPr lang="en-US" sz="2700" dirty="0"/>
          </a:p>
        </p:txBody>
      </p:sp>
      <p:sp>
        <p:nvSpPr>
          <p:cNvPr id="4" name="Text 2"/>
          <p:cNvSpPr txBox="1"/>
          <p:nvPr/>
        </p:nvSpPr>
        <p:spPr>
          <a:xfrm>
            <a:off x="761970" y="1849831"/>
            <a:ext cx="1892168" cy="247620"/>
          </a:xfrm>
          <a:prstGeom prst="rect">
            <a:avLst/>
          </a:prstGeom>
          <a:noFill/>
          <a:ln/>
        </p:spPr>
        <p:txBody>
          <a:bodyPr wrap="none" lIns="0" tIns="0" rIns="0" bIns="0" rtlCol="0" anchor="t"/>
          <a:lstStyle/>
          <a:p>
            <a:pPr algn="l" indent="0" marL="0">
              <a:lnSpc>
                <a:spcPts val="1920"/>
              </a:lnSpc>
              <a:buNone/>
            </a:pPr>
            <a:r>
              <a:rPr lang="en-IN" altLang="en-US" sz="1600" b="1" spc="-28" kern="0" dirty="0">
                <a:solidFill>
                  <a:srgbClr val="FBF8F4"/>
                </a:solidFill>
                <a:latin typeface="+mj-lt" pitchFamily="34" charset="0"/>
                <a:ea typeface="+mj-ea" pitchFamily="34" charset="-122"/>
                <a:cs typeface="+mj-cs" pitchFamily="34" charset="-120"/>
              </a:rPr>
              <a:t>In the product today</a:t>
            </a:r>
            <a:endParaRPr lang="en-US" sz="1600" dirty="0"/>
          </a:p>
        </p:txBody>
      </p:sp>
      <p:sp>
        <p:nvSpPr>
          <p:cNvPr id="5" name="Text 3"/>
          <p:cNvSpPr txBox="1"/>
          <p:nvPr/>
        </p:nvSpPr>
        <p:spPr>
          <a:xfrm>
            <a:off x="2755819" y="1868851"/>
            <a:ext cx="562630" cy="209580"/>
          </a:xfrm>
          <a:prstGeom prst="rect">
            <a:avLst/>
          </a:prstGeom>
          <a:noFill/>
          <a:ln w="6350">
            <a:solidFill>
              <a:srgbClr val="7FC4A8"/>
            </a:solidFill>
          </a:ln>
        </p:spPr>
        <p:txBody>
          <a:bodyPr wrap="none" lIns="63500" tIns="44450" rIns="63500" bIns="38100" rtlCol="0" anchor="ctr"/>
          <a:lstStyle/>
          <a:p>
            <a:pPr algn="ctr" indent="0" marL="0">
              <a:buNone/>
            </a:pPr>
            <a:r>
              <a:rPr lang="en-IN" altLang="en-US" cap="all" sz="900" spc="126" kern="0" dirty="0">
                <a:solidFill>
                  <a:srgbClr val="7FC4A8"/>
                </a:solidFill>
                <a:latin typeface="Consolas" pitchFamily="34" charset="0"/>
                <a:ea typeface="Consolas" pitchFamily="34" charset="-122"/>
                <a:cs typeface="Consolas" pitchFamily="34" charset="-120"/>
              </a:rPr>
              <a:t>Built</a:t>
            </a:r>
            <a:endParaRPr lang="en-US" sz="900" dirty="0"/>
          </a:p>
        </p:txBody>
      </p:sp>
      <p:sp>
        <p:nvSpPr>
          <p:cNvPr id="6" name="Shape 4"/>
          <p:cNvSpPr/>
          <p:nvPr/>
        </p:nvSpPr>
        <p:spPr>
          <a:xfrm>
            <a:off x="761970" y="5312938"/>
            <a:ext cx="5130790" cy="0"/>
          </a:xfrm>
          <a:prstGeom prst="line">
            <a:avLst/>
          </a:prstGeom>
          <a:noFill/>
          <a:ln w="6350">
            <a:solidFill>
              <a:srgbClr val="3A2842"/>
            </a:solidFill>
            <a:prstDash val="solid"/>
          </a:ln>
        </p:spPr>
      </p:sp>
      <p:sp>
        <p:nvSpPr>
          <p:cNvPr id="7" name="Shape 5"/>
          <p:cNvSpPr/>
          <p:nvPr/>
        </p:nvSpPr>
        <p:spPr>
          <a:xfrm>
            <a:off x="761970" y="2189531"/>
            <a:ext cx="5130790" cy="0"/>
          </a:xfrm>
          <a:prstGeom prst="line">
            <a:avLst/>
          </a:prstGeom>
          <a:noFill/>
          <a:ln w="6350">
            <a:solidFill>
              <a:srgbClr val="3A2842"/>
            </a:solidFill>
            <a:prstDash val="solid"/>
          </a:ln>
        </p:spPr>
      </p:sp>
      <p:sp>
        <p:nvSpPr>
          <p:cNvPr id="8" name="Text 6"/>
          <p:cNvSpPr txBox="1"/>
          <p:nvPr/>
        </p:nvSpPr>
        <p:spPr>
          <a:xfrm>
            <a:off x="761970" y="2243572"/>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9" name="Text 7"/>
          <p:cNvSpPr txBox="1"/>
          <p:nvPr/>
        </p:nvSpPr>
        <p:spPr>
          <a:xfrm>
            <a:off x="977859" y="2243572"/>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Directory, profiles and the contact-release rules</a:t>
            </a:r>
            <a:endParaRPr lang="en-US" sz="1200" dirty="0"/>
          </a:p>
        </p:txBody>
      </p:sp>
      <p:sp>
        <p:nvSpPr>
          <p:cNvPr id="10" name="Shape 8"/>
          <p:cNvSpPr/>
          <p:nvPr/>
        </p:nvSpPr>
        <p:spPr>
          <a:xfrm>
            <a:off x="761970" y="2501890"/>
            <a:ext cx="5130790" cy="0"/>
          </a:xfrm>
          <a:prstGeom prst="line">
            <a:avLst/>
          </a:prstGeom>
          <a:noFill/>
          <a:ln w="6350">
            <a:solidFill>
              <a:srgbClr val="3A2842"/>
            </a:solidFill>
            <a:prstDash val="solid"/>
          </a:ln>
        </p:spPr>
      </p:sp>
      <p:sp>
        <p:nvSpPr>
          <p:cNvPr id="11" name="Text 9"/>
          <p:cNvSpPr txBox="1"/>
          <p:nvPr/>
        </p:nvSpPr>
        <p:spPr>
          <a:xfrm>
            <a:off x="761970" y="2555839"/>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12" name="Text 10"/>
          <p:cNvSpPr txBox="1"/>
          <p:nvPr/>
        </p:nvSpPr>
        <p:spPr>
          <a:xfrm>
            <a:off x="977859" y="2555839"/>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Mentorship and referral requests, with limits</a:t>
            </a:r>
            <a:endParaRPr lang="en-US" sz="1200" dirty="0"/>
          </a:p>
        </p:txBody>
      </p:sp>
      <p:sp>
        <p:nvSpPr>
          <p:cNvPr id="13" name="Shape 11"/>
          <p:cNvSpPr/>
          <p:nvPr/>
        </p:nvSpPr>
        <p:spPr>
          <a:xfrm>
            <a:off x="761970" y="2814249"/>
            <a:ext cx="5130790" cy="0"/>
          </a:xfrm>
          <a:prstGeom prst="line">
            <a:avLst/>
          </a:prstGeom>
          <a:noFill/>
          <a:ln w="6350">
            <a:solidFill>
              <a:srgbClr val="3A2842"/>
            </a:solidFill>
            <a:prstDash val="solid"/>
          </a:ln>
        </p:spPr>
      </p:sp>
      <p:sp>
        <p:nvSpPr>
          <p:cNvPr id="14" name="Text 12"/>
          <p:cNvSpPr txBox="1"/>
          <p:nvPr/>
        </p:nvSpPr>
        <p:spPr>
          <a:xfrm>
            <a:off x="761970" y="2868198"/>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15" name="Text 13"/>
          <p:cNvSpPr txBox="1"/>
          <p:nvPr/>
        </p:nvSpPr>
        <p:spPr>
          <a:xfrm>
            <a:off x="977859" y="2868198"/>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Jobs, checked by the placement cell</a:t>
            </a:r>
            <a:endParaRPr lang="en-US" sz="1200" dirty="0"/>
          </a:p>
        </p:txBody>
      </p:sp>
      <p:sp>
        <p:nvSpPr>
          <p:cNvPr id="16" name="Shape 14"/>
          <p:cNvSpPr/>
          <p:nvPr/>
        </p:nvSpPr>
        <p:spPr>
          <a:xfrm>
            <a:off x="761970" y="3126608"/>
            <a:ext cx="5130790" cy="0"/>
          </a:xfrm>
          <a:prstGeom prst="line">
            <a:avLst/>
          </a:prstGeom>
          <a:noFill/>
          <a:ln w="6350">
            <a:solidFill>
              <a:srgbClr val="3A2842"/>
            </a:solidFill>
            <a:prstDash val="solid"/>
          </a:ln>
        </p:spPr>
      </p:sp>
      <p:sp>
        <p:nvSpPr>
          <p:cNvPr id="17" name="Text 15"/>
          <p:cNvSpPr txBox="1"/>
          <p:nvPr/>
        </p:nvSpPr>
        <p:spPr>
          <a:xfrm>
            <a:off x="761970" y="3180558"/>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18" name="Text 16"/>
          <p:cNvSpPr txBox="1"/>
          <p:nvPr/>
        </p:nvSpPr>
        <p:spPr>
          <a:xfrm>
            <a:off x="977859" y="3180558"/>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Events with seats, tickets and check-in at the door</a:t>
            </a:r>
            <a:endParaRPr lang="en-US" sz="1200" dirty="0"/>
          </a:p>
        </p:txBody>
      </p:sp>
      <p:sp>
        <p:nvSpPr>
          <p:cNvPr id="19" name="Shape 17"/>
          <p:cNvSpPr/>
          <p:nvPr/>
        </p:nvSpPr>
        <p:spPr>
          <a:xfrm>
            <a:off x="761970" y="3438967"/>
            <a:ext cx="5130790" cy="0"/>
          </a:xfrm>
          <a:prstGeom prst="line">
            <a:avLst/>
          </a:prstGeom>
          <a:noFill/>
          <a:ln w="6350">
            <a:solidFill>
              <a:srgbClr val="3A2842"/>
            </a:solidFill>
            <a:prstDash val="solid"/>
          </a:ln>
        </p:spPr>
      </p:sp>
      <p:sp>
        <p:nvSpPr>
          <p:cNvPr id="20" name="Text 18"/>
          <p:cNvSpPr txBox="1"/>
          <p:nvPr/>
        </p:nvSpPr>
        <p:spPr>
          <a:xfrm>
            <a:off x="761970" y="3492917"/>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21" name="Text 19"/>
          <p:cNvSpPr txBox="1"/>
          <p:nvPr/>
        </p:nvSpPr>
        <p:spPr>
          <a:xfrm>
            <a:off x="977859" y="3492917"/>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News and photo galleries</a:t>
            </a:r>
            <a:endParaRPr lang="en-US" sz="1200" dirty="0"/>
          </a:p>
        </p:txBody>
      </p:sp>
      <p:sp>
        <p:nvSpPr>
          <p:cNvPr id="22" name="Shape 20"/>
          <p:cNvSpPr/>
          <p:nvPr/>
        </p:nvSpPr>
        <p:spPr>
          <a:xfrm>
            <a:off x="761970" y="3751235"/>
            <a:ext cx="5130790" cy="0"/>
          </a:xfrm>
          <a:prstGeom prst="line">
            <a:avLst/>
          </a:prstGeom>
          <a:noFill/>
          <a:ln w="6350">
            <a:solidFill>
              <a:srgbClr val="3A2842"/>
            </a:solidFill>
            <a:prstDash val="solid"/>
          </a:ln>
        </p:spPr>
      </p:sp>
      <p:sp>
        <p:nvSpPr>
          <p:cNvPr id="23" name="Text 21"/>
          <p:cNvSpPr txBox="1"/>
          <p:nvPr/>
        </p:nvSpPr>
        <p:spPr>
          <a:xfrm>
            <a:off x="761970" y="3805276"/>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24" name="Text 22"/>
          <p:cNvSpPr txBox="1"/>
          <p:nvPr/>
        </p:nvSpPr>
        <p:spPr>
          <a:xfrm>
            <a:off x="977859" y="3805276"/>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Degree-register import and the verification queue</a:t>
            </a:r>
            <a:endParaRPr lang="en-US" sz="1200" dirty="0"/>
          </a:p>
        </p:txBody>
      </p:sp>
      <p:sp>
        <p:nvSpPr>
          <p:cNvPr id="25" name="Shape 23"/>
          <p:cNvSpPr/>
          <p:nvPr/>
        </p:nvSpPr>
        <p:spPr>
          <a:xfrm>
            <a:off x="761970" y="4063594"/>
            <a:ext cx="5130790" cy="0"/>
          </a:xfrm>
          <a:prstGeom prst="line">
            <a:avLst/>
          </a:prstGeom>
          <a:noFill/>
          <a:ln w="6350">
            <a:solidFill>
              <a:srgbClr val="3A2842"/>
            </a:solidFill>
            <a:prstDash val="solid"/>
          </a:ln>
        </p:spPr>
      </p:sp>
      <p:sp>
        <p:nvSpPr>
          <p:cNvPr id="26" name="Text 24"/>
          <p:cNvSpPr txBox="1"/>
          <p:nvPr/>
        </p:nvSpPr>
        <p:spPr>
          <a:xfrm>
            <a:off x="761970" y="4117543"/>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27" name="Text 25"/>
          <p:cNvSpPr txBox="1"/>
          <p:nvPr/>
        </p:nvSpPr>
        <p:spPr>
          <a:xfrm>
            <a:off x="977859" y="4117543"/>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Roles, audit log, DPDP requests and branding in the admin console</a:t>
            </a:r>
            <a:endParaRPr lang="en-US" sz="1200" dirty="0"/>
          </a:p>
        </p:txBody>
      </p:sp>
      <p:sp>
        <p:nvSpPr>
          <p:cNvPr id="28" name="Shape 26"/>
          <p:cNvSpPr/>
          <p:nvPr/>
        </p:nvSpPr>
        <p:spPr>
          <a:xfrm>
            <a:off x="761970" y="4375953"/>
            <a:ext cx="5130790" cy="0"/>
          </a:xfrm>
          <a:prstGeom prst="line">
            <a:avLst/>
          </a:prstGeom>
          <a:noFill/>
          <a:ln w="6350">
            <a:solidFill>
              <a:srgbClr val="3A2842"/>
            </a:solidFill>
            <a:prstDash val="solid"/>
          </a:ln>
        </p:spPr>
      </p:sp>
      <p:sp>
        <p:nvSpPr>
          <p:cNvPr id="29" name="Text 27"/>
          <p:cNvSpPr txBox="1"/>
          <p:nvPr/>
        </p:nvSpPr>
        <p:spPr>
          <a:xfrm>
            <a:off x="761970" y="4429902"/>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30" name="Text 28"/>
          <p:cNvSpPr txBox="1"/>
          <p:nvPr/>
        </p:nvSpPr>
        <p:spPr>
          <a:xfrm>
            <a:off x="977859" y="4429902"/>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The yearly batch rollover, with a dry run</a:t>
            </a:r>
            <a:endParaRPr lang="en-US" sz="1200" dirty="0"/>
          </a:p>
        </p:txBody>
      </p:sp>
      <p:sp>
        <p:nvSpPr>
          <p:cNvPr id="31" name="Shape 29"/>
          <p:cNvSpPr/>
          <p:nvPr/>
        </p:nvSpPr>
        <p:spPr>
          <a:xfrm>
            <a:off x="761970" y="4688312"/>
            <a:ext cx="5130790" cy="0"/>
          </a:xfrm>
          <a:prstGeom prst="line">
            <a:avLst/>
          </a:prstGeom>
          <a:noFill/>
          <a:ln w="6350">
            <a:solidFill>
              <a:srgbClr val="3A2842"/>
            </a:solidFill>
            <a:prstDash val="solid"/>
          </a:ln>
        </p:spPr>
      </p:sp>
      <p:sp>
        <p:nvSpPr>
          <p:cNvPr id="32" name="Text 30"/>
          <p:cNvSpPr txBox="1"/>
          <p:nvPr/>
        </p:nvSpPr>
        <p:spPr>
          <a:xfrm>
            <a:off x="761970" y="4742261"/>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33" name="Text 31"/>
          <p:cNvSpPr txBox="1"/>
          <p:nvPr/>
        </p:nvSpPr>
        <p:spPr>
          <a:xfrm>
            <a:off x="977859" y="4742261"/>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Giving with FCRA fields, switched off until your FCRA status is confirmed</a:t>
            </a:r>
            <a:endParaRPr lang="en-US" sz="1200" dirty="0"/>
          </a:p>
        </p:txBody>
      </p:sp>
      <p:sp>
        <p:nvSpPr>
          <p:cNvPr id="34" name="Shape 32"/>
          <p:cNvSpPr/>
          <p:nvPr/>
        </p:nvSpPr>
        <p:spPr>
          <a:xfrm>
            <a:off x="761970" y="5000671"/>
            <a:ext cx="5130790" cy="0"/>
          </a:xfrm>
          <a:prstGeom prst="line">
            <a:avLst/>
          </a:prstGeom>
          <a:noFill/>
          <a:ln w="6350">
            <a:solidFill>
              <a:srgbClr val="3A2842"/>
            </a:solidFill>
            <a:prstDash val="solid"/>
          </a:ln>
        </p:spPr>
      </p:sp>
      <p:sp>
        <p:nvSpPr>
          <p:cNvPr id="35" name="Text 33"/>
          <p:cNvSpPr txBox="1"/>
          <p:nvPr/>
        </p:nvSpPr>
        <p:spPr>
          <a:xfrm>
            <a:off x="761970" y="5054620"/>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7FC4A8"/>
                </a:solidFill>
                <a:latin typeface="Consolas" pitchFamily="34" charset="0"/>
                <a:ea typeface="Consolas" pitchFamily="34" charset="-122"/>
                <a:cs typeface="Consolas" pitchFamily="34" charset="-120"/>
              </a:rPr>
              <a:t>+</a:t>
            </a:r>
            <a:endParaRPr lang="en-US" sz="1100" dirty="0"/>
          </a:p>
        </p:txBody>
      </p:sp>
      <p:sp>
        <p:nvSpPr>
          <p:cNvPr id="36" name="Text 34"/>
          <p:cNvSpPr txBox="1"/>
          <p:nvPr/>
        </p:nvSpPr>
        <p:spPr>
          <a:xfrm>
            <a:off x="977859" y="5054620"/>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FBF8F4"/>
                </a:solidFill>
                <a:latin typeface="+mn-lt" pitchFamily="34" charset="0"/>
                <a:ea typeface="+mn-ea" pitchFamily="34" charset="-122"/>
                <a:cs typeface="+mn-cs" pitchFamily="34" charset="-120"/>
              </a:rPr>
              <a:t>A demonstration mode that runs the whole portal without a database</a:t>
            </a:r>
            <a:endParaRPr lang="en-US" sz="1200" dirty="0"/>
          </a:p>
        </p:txBody>
      </p:sp>
      <p:sp>
        <p:nvSpPr>
          <p:cNvPr id="37" name="Text 35"/>
          <p:cNvSpPr txBox="1"/>
          <p:nvPr/>
        </p:nvSpPr>
        <p:spPr>
          <a:xfrm>
            <a:off x="6299210" y="1849831"/>
            <a:ext cx="1178204" cy="247620"/>
          </a:xfrm>
          <a:prstGeom prst="rect">
            <a:avLst/>
          </a:prstGeom>
          <a:noFill/>
          <a:ln/>
        </p:spPr>
        <p:txBody>
          <a:bodyPr wrap="none" lIns="0" tIns="0" rIns="0" bIns="0" rtlCol="0" anchor="t"/>
          <a:lstStyle/>
          <a:p>
            <a:pPr algn="l" indent="0" marL="0">
              <a:lnSpc>
                <a:spcPts val="1920"/>
              </a:lnSpc>
              <a:buNone/>
            </a:pPr>
            <a:r>
              <a:rPr lang="en-IN" altLang="en-US" sz="1600" b="1" spc="-28" kern="0" dirty="0">
                <a:solidFill>
                  <a:srgbClr val="FBF8F4"/>
                </a:solidFill>
                <a:latin typeface="+mj-lt" pitchFamily="34" charset="0"/>
                <a:ea typeface="+mj-ea" pitchFamily="34" charset="-122"/>
                <a:cs typeface="+mj-cs" pitchFamily="34" charset="-120"/>
              </a:rPr>
              <a:t>Coming next</a:t>
            </a:r>
            <a:endParaRPr lang="en-US" sz="1600" dirty="0"/>
          </a:p>
        </p:txBody>
      </p:sp>
      <p:sp>
        <p:nvSpPr>
          <p:cNvPr id="38" name="Text 36"/>
          <p:cNvSpPr txBox="1"/>
          <p:nvPr/>
        </p:nvSpPr>
        <p:spPr>
          <a:xfrm>
            <a:off x="7579004" y="1868851"/>
            <a:ext cx="1239378" cy="209580"/>
          </a:xfrm>
          <a:prstGeom prst="rect">
            <a:avLst/>
          </a:prstGeom>
          <a:noFill/>
          <a:ln w="6350">
            <a:solidFill>
              <a:srgbClr val="A9B0B8"/>
            </a:solidFill>
          </a:ln>
        </p:spPr>
        <p:txBody>
          <a:bodyPr wrap="none" lIns="63500" tIns="44450" rIns="63500" bIns="38100" rtlCol="0" anchor="ctr"/>
          <a:lstStyle/>
          <a:p>
            <a:pPr algn="ctr" indent="0" marL="0">
              <a:buNone/>
            </a:pPr>
            <a:r>
              <a:rPr lang="en-IN" altLang="en-US" cap="all" sz="900" spc="126" kern="0" dirty="0">
                <a:solidFill>
                  <a:srgbClr val="A9B0B8"/>
                </a:solidFill>
                <a:latin typeface="Consolas" pitchFamily="34" charset="0"/>
                <a:ea typeface="Consolas" pitchFamily="34" charset="-122"/>
                <a:cs typeface="Consolas" pitchFamily="34" charset="-120"/>
              </a:rPr>
              <a:t>Not built yet</a:t>
            </a:r>
            <a:endParaRPr lang="en-US" sz="900" dirty="0"/>
          </a:p>
        </p:txBody>
      </p:sp>
      <p:sp>
        <p:nvSpPr>
          <p:cNvPr id="39" name="Shape 37"/>
          <p:cNvSpPr/>
          <p:nvPr/>
        </p:nvSpPr>
        <p:spPr>
          <a:xfrm>
            <a:off x="6299210" y="5625297"/>
            <a:ext cx="5130790" cy="0"/>
          </a:xfrm>
          <a:prstGeom prst="line">
            <a:avLst/>
          </a:prstGeom>
          <a:noFill/>
          <a:ln w="6350">
            <a:solidFill>
              <a:srgbClr val="3A2842"/>
            </a:solidFill>
            <a:prstDash val="solid"/>
          </a:ln>
        </p:spPr>
      </p:sp>
      <p:sp>
        <p:nvSpPr>
          <p:cNvPr id="40" name="Shape 38"/>
          <p:cNvSpPr/>
          <p:nvPr/>
        </p:nvSpPr>
        <p:spPr>
          <a:xfrm>
            <a:off x="6299210" y="2189531"/>
            <a:ext cx="5130790" cy="0"/>
          </a:xfrm>
          <a:prstGeom prst="line">
            <a:avLst/>
          </a:prstGeom>
          <a:noFill/>
          <a:ln w="6350">
            <a:solidFill>
              <a:srgbClr val="3A2842"/>
            </a:solidFill>
            <a:prstDash val="solid"/>
          </a:ln>
        </p:spPr>
      </p:sp>
      <p:sp>
        <p:nvSpPr>
          <p:cNvPr id="41" name="Text 39"/>
          <p:cNvSpPr txBox="1"/>
          <p:nvPr/>
        </p:nvSpPr>
        <p:spPr>
          <a:xfrm>
            <a:off x="6299210" y="2243572"/>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42" name="Text 40"/>
          <p:cNvSpPr txBox="1"/>
          <p:nvPr/>
        </p:nvSpPr>
        <p:spPr>
          <a:xfrm>
            <a:off x="6515100" y="2243572"/>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Production hosting, with the live database behind every form</a:t>
            </a:r>
            <a:endParaRPr lang="en-US" sz="1200" dirty="0"/>
          </a:p>
        </p:txBody>
      </p:sp>
      <p:sp>
        <p:nvSpPr>
          <p:cNvPr id="43" name="Shape 41"/>
          <p:cNvSpPr/>
          <p:nvPr/>
        </p:nvSpPr>
        <p:spPr>
          <a:xfrm>
            <a:off x="6299210" y="2501890"/>
            <a:ext cx="5130790" cy="0"/>
          </a:xfrm>
          <a:prstGeom prst="line">
            <a:avLst/>
          </a:prstGeom>
          <a:noFill/>
          <a:ln w="6350">
            <a:solidFill>
              <a:srgbClr val="3A2842"/>
            </a:solidFill>
            <a:prstDash val="solid"/>
          </a:ln>
        </p:spPr>
      </p:sp>
      <p:sp>
        <p:nvSpPr>
          <p:cNvPr id="44" name="Text 42"/>
          <p:cNvSpPr txBox="1"/>
          <p:nvPr/>
        </p:nvSpPr>
        <p:spPr>
          <a:xfrm>
            <a:off x="6299210" y="2555839"/>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45" name="Text 43"/>
          <p:cNvSpPr txBox="1"/>
          <p:nvPr/>
        </p:nvSpPr>
        <p:spPr>
          <a:xfrm>
            <a:off x="6515100" y="2555839"/>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The portal on your college’s own domain</a:t>
            </a:r>
            <a:endParaRPr lang="en-US" sz="1200" dirty="0"/>
          </a:p>
        </p:txBody>
      </p:sp>
      <p:sp>
        <p:nvSpPr>
          <p:cNvPr id="46" name="Shape 44"/>
          <p:cNvSpPr/>
          <p:nvPr/>
        </p:nvSpPr>
        <p:spPr>
          <a:xfrm>
            <a:off x="6299210" y="2814249"/>
            <a:ext cx="5130790" cy="0"/>
          </a:xfrm>
          <a:prstGeom prst="line">
            <a:avLst/>
          </a:prstGeom>
          <a:noFill/>
          <a:ln w="6350">
            <a:solidFill>
              <a:srgbClr val="3A2842"/>
            </a:solidFill>
            <a:prstDash val="solid"/>
          </a:ln>
        </p:spPr>
      </p:sp>
      <p:sp>
        <p:nvSpPr>
          <p:cNvPr id="47" name="Text 45"/>
          <p:cNvSpPr txBox="1"/>
          <p:nvPr/>
        </p:nvSpPr>
        <p:spPr>
          <a:xfrm>
            <a:off x="6299210" y="2868198"/>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48" name="Text 46"/>
          <p:cNvSpPr txBox="1"/>
          <p:nvPr/>
        </p:nvSpPr>
        <p:spPr>
          <a:xfrm>
            <a:off x="6515100" y="2868198"/>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Final-year roll-list import and batch invitations</a:t>
            </a:r>
            <a:endParaRPr lang="en-US" sz="1200" dirty="0"/>
          </a:p>
        </p:txBody>
      </p:sp>
      <p:sp>
        <p:nvSpPr>
          <p:cNvPr id="49" name="Shape 47"/>
          <p:cNvSpPr/>
          <p:nvPr/>
        </p:nvSpPr>
        <p:spPr>
          <a:xfrm>
            <a:off x="6299210" y="3126608"/>
            <a:ext cx="5130790" cy="0"/>
          </a:xfrm>
          <a:prstGeom prst="line">
            <a:avLst/>
          </a:prstGeom>
          <a:noFill/>
          <a:ln w="6350">
            <a:solidFill>
              <a:srgbClr val="3A2842"/>
            </a:solidFill>
            <a:prstDash val="solid"/>
          </a:ln>
        </p:spPr>
      </p:sp>
      <p:sp>
        <p:nvSpPr>
          <p:cNvPr id="50" name="Text 48"/>
          <p:cNvSpPr txBox="1"/>
          <p:nvPr/>
        </p:nvSpPr>
        <p:spPr>
          <a:xfrm>
            <a:off x="6299210" y="3180558"/>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51" name="Text 49"/>
          <p:cNvSpPr txBox="1"/>
          <p:nvPr/>
        </p:nvSpPr>
        <p:spPr>
          <a:xfrm>
            <a:off x="6515100" y="3180558"/>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Import from your previous alumni platform</a:t>
            </a:r>
            <a:endParaRPr lang="en-US" sz="1200" dirty="0"/>
          </a:p>
        </p:txBody>
      </p:sp>
      <p:sp>
        <p:nvSpPr>
          <p:cNvPr id="52" name="Shape 50"/>
          <p:cNvSpPr/>
          <p:nvPr/>
        </p:nvSpPr>
        <p:spPr>
          <a:xfrm>
            <a:off x="6299210" y="3438967"/>
            <a:ext cx="5130790" cy="0"/>
          </a:xfrm>
          <a:prstGeom prst="line">
            <a:avLst/>
          </a:prstGeom>
          <a:noFill/>
          <a:ln w="6350">
            <a:solidFill>
              <a:srgbClr val="3A2842"/>
            </a:solidFill>
            <a:prstDash val="solid"/>
          </a:ln>
        </p:spPr>
      </p:sp>
      <p:sp>
        <p:nvSpPr>
          <p:cNvPr id="53" name="Text 51"/>
          <p:cNvSpPr txBox="1"/>
          <p:nvPr/>
        </p:nvSpPr>
        <p:spPr>
          <a:xfrm>
            <a:off x="6299210" y="3492917"/>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54" name="Text 52"/>
          <p:cNvSpPr txBox="1"/>
          <p:nvPr/>
        </p:nvSpPr>
        <p:spPr>
          <a:xfrm>
            <a:off x="6515100" y="3492917"/>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Email delivery, with bounce handling</a:t>
            </a:r>
            <a:endParaRPr lang="en-US" sz="1200" dirty="0"/>
          </a:p>
        </p:txBody>
      </p:sp>
      <p:sp>
        <p:nvSpPr>
          <p:cNvPr id="55" name="Shape 53"/>
          <p:cNvSpPr/>
          <p:nvPr/>
        </p:nvSpPr>
        <p:spPr>
          <a:xfrm>
            <a:off x="6299210" y="3751235"/>
            <a:ext cx="5130790" cy="0"/>
          </a:xfrm>
          <a:prstGeom prst="line">
            <a:avLst/>
          </a:prstGeom>
          <a:noFill/>
          <a:ln w="6350">
            <a:solidFill>
              <a:srgbClr val="3A2842"/>
            </a:solidFill>
            <a:prstDash val="solid"/>
          </a:ln>
        </p:spPr>
      </p:sp>
      <p:sp>
        <p:nvSpPr>
          <p:cNvPr id="56" name="Text 54"/>
          <p:cNvSpPr txBox="1"/>
          <p:nvPr/>
        </p:nvSpPr>
        <p:spPr>
          <a:xfrm>
            <a:off x="6299210" y="3805276"/>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57" name="Text 55"/>
          <p:cNvSpPr txBox="1"/>
          <p:nvPr/>
        </p:nvSpPr>
        <p:spPr>
          <a:xfrm>
            <a:off x="6515100" y="3805276"/>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WhatsApp Business API messages</a:t>
            </a:r>
            <a:endParaRPr lang="en-US" sz="1200" dirty="0"/>
          </a:p>
        </p:txBody>
      </p:sp>
      <p:sp>
        <p:nvSpPr>
          <p:cNvPr id="58" name="Shape 56"/>
          <p:cNvSpPr/>
          <p:nvPr/>
        </p:nvSpPr>
        <p:spPr>
          <a:xfrm>
            <a:off x="6299210" y="4063594"/>
            <a:ext cx="5130790" cy="0"/>
          </a:xfrm>
          <a:prstGeom prst="line">
            <a:avLst/>
          </a:prstGeom>
          <a:noFill/>
          <a:ln w="6350">
            <a:solidFill>
              <a:srgbClr val="3A2842"/>
            </a:solidFill>
            <a:prstDash val="solid"/>
          </a:ln>
        </p:spPr>
      </p:sp>
      <p:sp>
        <p:nvSpPr>
          <p:cNvPr id="59" name="Text 57"/>
          <p:cNvSpPr txBox="1"/>
          <p:nvPr/>
        </p:nvSpPr>
        <p:spPr>
          <a:xfrm>
            <a:off x="6299210" y="4117543"/>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60" name="Text 58"/>
          <p:cNvSpPr txBox="1"/>
          <p:nvPr/>
        </p:nvSpPr>
        <p:spPr>
          <a:xfrm>
            <a:off x="6515100" y="4117543"/>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Photo and file uploads to storage in India</a:t>
            </a:r>
            <a:endParaRPr lang="en-US" sz="1200" dirty="0"/>
          </a:p>
        </p:txBody>
      </p:sp>
      <p:sp>
        <p:nvSpPr>
          <p:cNvPr id="61" name="Shape 59"/>
          <p:cNvSpPr/>
          <p:nvPr/>
        </p:nvSpPr>
        <p:spPr>
          <a:xfrm>
            <a:off x="6299210" y="4375953"/>
            <a:ext cx="5130790" cy="0"/>
          </a:xfrm>
          <a:prstGeom prst="line">
            <a:avLst/>
          </a:prstGeom>
          <a:noFill/>
          <a:ln w="6350">
            <a:solidFill>
              <a:srgbClr val="3A2842"/>
            </a:solidFill>
            <a:prstDash val="solid"/>
          </a:ln>
        </p:spPr>
      </p:sp>
      <p:sp>
        <p:nvSpPr>
          <p:cNvPr id="62" name="Text 60"/>
          <p:cNvSpPr txBox="1"/>
          <p:nvPr/>
        </p:nvSpPr>
        <p:spPr>
          <a:xfrm>
            <a:off x="6299210" y="4429902"/>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63" name="Text 61"/>
          <p:cNvSpPr txBox="1"/>
          <p:nvPr/>
        </p:nvSpPr>
        <p:spPr>
          <a:xfrm>
            <a:off x="6515100" y="4429902"/>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Online payments through Razorpay, UPI first</a:t>
            </a:r>
            <a:endParaRPr lang="en-US" sz="1200" dirty="0"/>
          </a:p>
        </p:txBody>
      </p:sp>
      <p:sp>
        <p:nvSpPr>
          <p:cNvPr id="64" name="Shape 62"/>
          <p:cNvSpPr/>
          <p:nvPr/>
        </p:nvSpPr>
        <p:spPr>
          <a:xfrm>
            <a:off x="6299210" y="4688312"/>
            <a:ext cx="5130790" cy="0"/>
          </a:xfrm>
          <a:prstGeom prst="line">
            <a:avLst/>
          </a:prstGeom>
          <a:noFill/>
          <a:ln w="6350">
            <a:solidFill>
              <a:srgbClr val="3A2842"/>
            </a:solidFill>
            <a:prstDash val="solid"/>
          </a:ln>
        </p:spPr>
      </p:sp>
      <p:sp>
        <p:nvSpPr>
          <p:cNvPr id="65" name="Text 63"/>
          <p:cNvSpPr txBox="1"/>
          <p:nvPr/>
        </p:nvSpPr>
        <p:spPr>
          <a:xfrm>
            <a:off x="6299210" y="4742261"/>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66" name="Text 64"/>
          <p:cNvSpPr txBox="1"/>
          <p:nvPr/>
        </p:nvSpPr>
        <p:spPr>
          <a:xfrm>
            <a:off x="6515100" y="4742261"/>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Background jobs, such as closing unanswered requests</a:t>
            </a:r>
            <a:endParaRPr lang="en-US" sz="1200" dirty="0"/>
          </a:p>
        </p:txBody>
      </p:sp>
      <p:sp>
        <p:nvSpPr>
          <p:cNvPr id="67" name="Shape 65"/>
          <p:cNvSpPr/>
          <p:nvPr/>
        </p:nvSpPr>
        <p:spPr>
          <a:xfrm>
            <a:off x="6299210" y="5000671"/>
            <a:ext cx="5130790" cy="0"/>
          </a:xfrm>
          <a:prstGeom prst="line">
            <a:avLst/>
          </a:prstGeom>
          <a:noFill/>
          <a:ln w="6350">
            <a:solidFill>
              <a:srgbClr val="3A2842"/>
            </a:solidFill>
            <a:prstDash val="solid"/>
          </a:ln>
        </p:spPr>
      </p:sp>
      <p:sp>
        <p:nvSpPr>
          <p:cNvPr id="68" name="Text 66"/>
          <p:cNvSpPr txBox="1"/>
          <p:nvPr/>
        </p:nvSpPr>
        <p:spPr>
          <a:xfrm>
            <a:off x="6299210" y="5054620"/>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69" name="Text 67"/>
          <p:cNvSpPr txBox="1"/>
          <p:nvPr/>
        </p:nvSpPr>
        <p:spPr>
          <a:xfrm>
            <a:off x="6515100" y="5054620"/>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The complete browser test suite for permission boundaries</a:t>
            </a:r>
            <a:endParaRPr lang="en-US" sz="1200" dirty="0"/>
          </a:p>
        </p:txBody>
      </p:sp>
      <p:sp>
        <p:nvSpPr>
          <p:cNvPr id="70" name="Shape 68"/>
          <p:cNvSpPr/>
          <p:nvPr/>
        </p:nvSpPr>
        <p:spPr>
          <a:xfrm>
            <a:off x="6299210" y="5312938"/>
            <a:ext cx="5130790" cy="0"/>
          </a:xfrm>
          <a:prstGeom prst="line">
            <a:avLst/>
          </a:prstGeom>
          <a:noFill/>
          <a:ln w="6350">
            <a:solidFill>
              <a:srgbClr val="3A2842"/>
            </a:solidFill>
            <a:prstDash val="solid"/>
          </a:ln>
        </p:spPr>
      </p:sp>
      <p:sp>
        <p:nvSpPr>
          <p:cNvPr id="71" name="Text 69"/>
          <p:cNvSpPr txBox="1"/>
          <p:nvPr/>
        </p:nvSpPr>
        <p:spPr>
          <a:xfrm>
            <a:off x="6299210" y="5366979"/>
            <a:ext cx="254020" cy="198059"/>
          </a:xfrm>
          <a:prstGeom prst="rect">
            <a:avLst/>
          </a:prstGeom>
          <a:noFill/>
          <a:ln/>
        </p:spPr>
        <p:txBody>
          <a:bodyPr wrap="none" lIns="0" tIns="0" rIns="0" bIns="0" rtlCol="0" anchor="t"/>
          <a:lstStyle/>
          <a:p>
            <a:pPr algn="l" indent="0" marL="0">
              <a:lnSpc>
                <a:spcPts val="1430"/>
              </a:lnSpc>
              <a:buNone/>
            </a:pPr>
            <a:r>
              <a:rPr lang="en-IN" altLang="en-US" sz="1100" dirty="0">
                <a:solidFill>
                  <a:srgbClr val="A9B0B8"/>
                </a:solidFill>
                <a:latin typeface="Consolas" pitchFamily="34" charset="0"/>
                <a:ea typeface="Consolas" pitchFamily="34" charset="-122"/>
                <a:cs typeface="Consolas" pitchFamily="34" charset="-120"/>
              </a:rPr>
              <a:t>–</a:t>
            </a:r>
            <a:endParaRPr lang="en-US" sz="1100" dirty="0"/>
          </a:p>
        </p:txBody>
      </p:sp>
      <p:sp>
        <p:nvSpPr>
          <p:cNvPr id="72" name="Text 70"/>
          <p:cNvSpPr txBox="1"/>
          <p:nvPr/>
        </p:nvSpPr>
        <p:spPr>
          <a:xfrm>
            <a:off x="6515100" y="5366979"/>
            <a:ext cx="4914900" cy="198150"/>
          </a:xfrm>
          <a:prstGeom prst="rect">
            <a:avLst/>
          </a:prstGeom>
          <a:noFill/>
          <a:ln/>
        </p:spPr>
        <p:txBody>
          <a:bodyPr wrap="none" lIns="0" tIns="0" rIns="0" bIns="0" rtlCol="0" anchor="t"/>
          <a:lstStyle/>
          <a:p>
            <a:pPr algn="l" indent="0" marL="0">
              <a:lnSpc>
                <a:spcPts val="1560"/>
              </a:lnSpc>
              <a:buNone/>
            </a:pPr>
            <a:r>
              <a:rPr lang="en-IN" altLang="en-US" sz="1200" dirty="0">
                <a:solidFill>
                  <a:srgbClr val="A9B0B8"/>
                </a:solidFill>
                <a:latin typeface="+mn-lt" pitchFamily="34" charset="0"/>
                <a:ea typeface="+mn-ea" pitchFamily="34" charset="-122"/>
                <a:cs typeface="+mn-cs" pitchFamily="34" charset="-120"/>
              </a:rPr>
              <a:t>Database tests for the separation between colleges</a:t>
            </a:r>
            <a:endParaRPr lang="en-US" sz="1200" dirty="0"/>
          </a:p>
        </p:txBody>
      </p:sp>
      <p:sp>
        <p:nvSpPr>
          <p:cNvPr id="73" name="Shape 71"/>
          <p:cNvSpPr/>
          <p:nvPr/>
        </p:nvSpPr>
        <p:spPr>
          <a:xfrm>
            <a:off x="761970" y="5885261"/>
            <a:ext cx="10668030" cy="0"/>
          </a:xfrm>
          <a:prstGeom prst="line">
            <a:avLst/>
          </a:prstGeom>
          <a:noFill/>
          <a:ln w="6350">
            <a:solidFill>
              <a:srgbClr val="3A2842"/>
            </a:solidFill>
            <a:prstDash val="solid"/>
          </a:ln>
        </p:spPr>
      </p:sp>
      <p:pic>
        <p:nvPicPr>
          <p:cNvPr id="74" name="Image 0" descr="ifBash">    </p:cNvPr>
          <p:cNvPicPr>
            <a:picLocks noChangeAspect="1"/>
          </p:cNvPicPr>
          <p:nvPr/>
        </p:nvPicPr>
        <p:blipFill>
          <a:blip r:embed="rId1"/>
          <a:stretch>
            <a:fillRect/>
          </a:stretch>
        </p:blipFill>
        <p:spPr>
          <a:xfrm>
            <a:off x="761970" y="6015472"/>
            <a:ext cx="952530" cy="283738"/>
          </a:xfrm>
          <a:prstGeom prst="rect">
            <a:avLst/>
          </a:prstGeom>
        </p:spPr>
      </p:pic>
      <p:sp>
        <p:nvSpPr>
          <p:cNvPr id="75" name="Text 72"/>
          <p:cNvSpPr txBox="1"/>
          <p:nvPr/>
        </p:nvSpPr>
        <p:spPr>
          <a:xfrm>
            <a:off x="11262299" y="6065215"/>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A9B0B8"/>
                </a:solidFill>
                <a:latin typeface="Consolas" pitchFamily="34" charset="0"/>
                <a:ea typeface="Consolas" pitchFamily="34" charset="-122"/>
                <a:cs typeface="Consola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4"/>
        </a:solidFill>
      </p:bgPr>
    </p:bg>
    <p:spTree>
      <p:nvGrpSpPr>
        <p:cNvPr id="1" name=""/>
        <p:cNvGrpSpPr/>
        <p:nvPr/>
      </p:nvGrpSpPr>
      <p:grpSpPr>
        <a:xfrm>
          <a:off x="0" y="0"/>
          <a:ext cx="0" cy="0"/>
          <a:chOff x="0" y="0"/>
          <a:chExt cx="0" cy="0"/>
        </a:xfrm>
      </p:grpSpPr>
      <p:sp>
        <p:nvSpPr>
          <p:cNvPr id="2" name="Text 0"/>
          <p:cNvSpPr txBox="1"/>
          <p:nvPr/>
        </p:nvSpPr>
        <p:spPr>
          <a:xfrm>
            <a:off x="761970" y="558790"/>
            <a:ext cx="10668030" cy="203180"/>
          </a:xfrm>
          <a:prstGeom prst="rect">
            <a:avLst/>
          </a:prstGeom>
          <a:noFill/>
          <a:ln/>
        </p:spPr>
        <p:txBody>
          <a:bodyPr wrap="none" lIns="0" tIns="0" rIns="0" bIns="0" rtlCol="0" anchor="t"/>
          <a:lstStyle/>
          <a:p>
            <a:pPr algn="l" indent="0" marL="0">
              <a:lnSpc>
                <a:spcPts val="1440"/>
              </a:lnSpc>
              <a:buNone/>
            </a:pPr>
            <a:r>
              <a:rPr lang="en-IN" altLang="en-US" cap="all" sz="1200" spc="240" kern="0" dirty="0">
                <a:solidFill>
                  <a:srgbClr val="9E2A4B"/>
                </a:solidFill>
                <a:latin typeface="Consolas" pitchFamily="34" charset="0"/>
                <a:ea typeface="Consolas" pitchFamily="34" charset="-122"/>
                <a:cs typeface="Consolas" pitchFamily="34" charset="-120"/>
              </a:rPr>
              <a:t>Pricing</a:t>
            </a:r>
            <a:endParaRPr lang="en-US" sz="1200" dirty="0"/>
          </a:p>
        </p:txBody>
      </p:sp>
      <p:sp>
        <p:nvSpPr>
          <p:cNvPr id="3" name="Text 1"/>
          <p:cNvSpPr txBox="1"/>
          <p:nvPr/>
        </p:nvSpPr>
        <p:spPr>
          <a:xfrm>
            <a:off x="761970" y="876270"/>
            <a:ext cx="8560613" cy="746699"/>
          </a:xfrm>
          <a:prstGeom prst="rect">
            <a:avLst/>
          </a:prstGeom>
          <a:noFill/>
          <a:ln/>
        </p:spPr>
        <p:txBody>
          <a:bodyPr wrap="square" lIns="0" tIns="0" rIns="0" bIns="0" rtlCol="0" anchor="t"/>
          <a:lstStyle/>
          <a:p>
            <a:pPr algn="l" indent="0" marL="0">
              <a:lnSpc>
                <a:spcPts val="2940"/>
              </a:lnSpc>
              <a:buNone/>
            </a:pPr>
            <a:r>
              <a:rPr lang="en-IN" altLang="en-US" sz="2800" b="1" spc="-65" kern="0" dirty="0">
                <a:solidFill>
                  <a:srgbClr val="2A1830"/>
                </a:solidFill>
                <a:latin typeface="+mj-lt" pitchFamily="34" charset="0"/>
                <a:ea typeface="+mj-ea" pitchFamily="34" charset="-122"/>
                <a:cs typeface="+mj-cs" pitchFamily="34" charset="-120"/>
              </a:rPr>
              <a:t>One setup fee, then one subscription a year for each college.</a:t>
            </a:r>
            <a:endParaRPr lang="en-US" sz="2800" dirty="0"/>
          </a:p>
        </p:txBody>
      </p:sp>
      <p:sp>
        <p:nvSpPr>
          <p:cNvPr id="4" name="Shape 2"/>
          <p:cNvSpPr/>
          <p:nvPr/>
        </p:nvSpPr>
        <p:spPr>
          <a:xfrm>
            <a:off x="761970" y="1833463"/>
            <a:ext cx="10668030" cy="0"/>
          </a:xfrm>
          <a:prstGeom prst="line">
            <a:avLst/>
          </a:prstGeom>
          <a:noFill/>
          <a:ln w="6350">
            <a:solidFill>
              <a:srgbClr val="E8DED6"/>
            </a:solidFill>
            <a:prstDash val="solid"/>
          </a:ln>
        </p:spPr>
      </p:sp>
      <p:sp>
        <p:nvSpPr>
          <p:cNvPr id="5" name="Shape 3"/>
          <p:cNvSpPr/>
          <p:nvPr/>
        </p:nvSpPr>
        <p:spPr>
          <a:xfrm>
            <a:off x="761970" y="4427433"/>
            <a:ext cx="10668030" cy="0"/>
          </a:xfrm>
          <a:prstGeom prst="line">
            <a:avLst/>
          </a:prstGeom>
          <a:noFill/>
          <a:ln w="6350">
            <a:solidFill>
              <a:srgbClr val="E8DED6"/>
            </a:solidFill>
            <a:prstDash val="solid"/>
          </a:ln>
        </p:spPr>
      </p:sp>
      <p:sp>
        <p:nvSpPr>
          <p:cNvPr id="6" name="Text 4"/>
          <p:cNvSpPr txBox="1"/>
          <p:nvPr/>
        </p:nvSpPr>
        <p:spPr>
          <a:xfrm>
            <a:off x="761970" y="2001713"/>
            <a:ext cx="4975250" cy="184160"/>
          </a:xfrm>
          <a:prstGeom prst="rect">
            <a:avLst/>
          </a:prstGeom>
          <a:noFill/>
          <a:ln/>
        </p:spPr>
        <p:txBody>
          <a:bodyPr wrap="none" lIns="0" tIns="0" rIns="0" bIns="0" rtlCol="0" anchor="t"/>
          <a:lstStyle/>
          <a:p>
            <a:pPr algn="l" indent="0" marL="0">
              <a:lnSpc>
                <a:spcPts val="1320"/>
              </a:lnSpc>
              <a:buNone/>
            </a:pPr>
            <a:r>
              <a:rPr lang="en-IN" altLang="en-US" cap="all" sz="1100" spc="198" kern="0" dirty="0">
                <a:solidFill>
                  <a:srgbClr val="54455C"/>
                </a:solidFill>
                <a:latin typeface="Consolas" pitchFamily="34" charset="0"/>
                <a:ea typeface="Consolas" pitchFamily="34" charset="-122"/>
                <a:cs typeface="Consolas" pitchFamily="34" charset="-120"/>
              </a:rPr>
              <a:t>Setup · once</a:t>
            </a:r>
            <a:endParaRPr lang="en-US" sz="1100" dirty="0"/>
          </a:p>
        </p:txBody>
      </p:sp>
      <p:sp>
        <p:nvSpPr>
          <p:cNvPr id="7" name="Text 5"/>
          <p:cNvSpPr txBox="1"/>
          <p:nvPr/>
        </p:nvSpPr>
        <p:spPr>
          <a:xfrm>
            <a:off x="761970" y="2287463"/>
            <a:ext cx="4975250" cy="457200"/>
          </a:xfrm>
          <a:prstGeom prst="rect">
            <a:avLst/>
          </a:prstGeom>
          <a:noFill/>
          <a:ln/>
        </p:spPr>
        <p:txBody>
          <a:bodyPr wrap="none" lIns="0" tIns="0" rIns="0" bIns="0" rtlCol="0" anchor="t"/>
          <a:lstStyle/>
          <a:p>
            <a:pPr algn="l" indent="0" marL="0">
              <a:lnSpc>
                <a:spcPts val="3600"/>
              </a:lnSpc>
              <a:buNone/>
            </a:pPr>
            <a:r>
              <a:rPr lang="en-IN" altLang="en-US" sz="3600" b="1" spc="-59" kern="0" dirty="0">
                <a:solidFill>
                  <a:srgbClr val="9E2A4B"/>
                </a:solidFill>
                <a:latin typeface="+mj-lt" pitchFamily="34" charset="0"/>
                <a:ea typeface="+mj-ea" pitchFamily="34" charset="-122"/>
                <a:cs typeface="+mj-cs" pitchFamily="34" charset="-120"/>
              </a:rPr>
              <a:t>₹ ______</a:t>
            </a:r>
            <a:endParaRPr lang="en-US" sz="3600" dirty="0"/>
          </a:p>
        </p:txBody>
      </p:sp>
      <p:sp>
        <p:nvSpPr>
          <p:cNvPr id="8" name="Shape 6"/>
          <p:cNvSpPr/>
          <p:nvPr/>
        </p:nvSpPr>
        <p:spPr>
          <a:xfrm>
            <a:off x="761970" y="2887584"/>
            <a:ext cx="4975250" cy="0"/>
          </a:xfrm>
          <a:prstGeom prst="line">
            <a:avLst/>
          </a:prstGeom>
          <a:noFill/>
          <a:ln w="6350">
            <a:solidFill>
              <a:srgbClr val="E8DED6"/>
            </a:solidFill>
            <a:prstDash val="solid"/>
          </a:ln>
        </p:spPr>
      </p:sp>
      <p:sp>
        <p:nvSpPr>
          <p:cNvPr id="9" name="Text 7"/>
          <p:cNvSpPr txBox="1"/>
          <p:nvPr/>
        </p:nvSpPr>
        <p:spPr>
          <a:xfrm>
            <a:off x="761970" y="2954244"/>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Your brand file and a preview on its own address</a:t>
            </a:r>
            <a:endParaRPr lang="en-US" sz="1250" dirty="0"/>
          </a:p>
        </p:txBody>
      </p:sp>
      <p:sp>
        <p:nvSpPr>
          <p:cNvPr id="10" name="Shape 8"/>
          <p:cNvSpPr/>
          <p:nvPr/>
        </p:nvSpPr>
        <p:spPr>
          <a:xfrm>
            <a:off x="761970" y="3259013"/>
            <a:ext cx="4975250" cy="0"/>
          </a:xfrm>
          <a:prstGeom prst="line">
            <a:avLst/>
          </a:prstGeom>
          <a:noFill/>
          <a:ln w="6350">
            <a:solidFill>
              <a:srgbClr val="E8DED6"/>
            </a:solidFill>
            <a:prstDash val="solid"/>
          </a:ln>
        </p:spPr>
      </p:sp>
      <p:sp>
        <p:nvSpPr>
          <p:cNvPr id="11" name="Text 9"/>
          <p:cNvSpPr txBox="1"/>
          <p:nvPr/>
        </p:nvSpPr>
        <p:spPr>
          <a:xfrm>
            <a:off x="761970" y="3325673"/>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Degree-register import and checks</a:t>
            </a:r>
            <a:endParaRPr lang="en-US" sz="1250" dirty="0"/>
          </a:p>
        </p:txBody>
      </p:sp>
      <p:sp>
        <p:nvSpPr>
          <p:cNvPr id="12" name="Shape 10"/>
          <p:cNvSpPr/>
          <p:nvPr/>
        </p:nvSpPr>
        <p:spPr>
          <a:xfrm>
            <a:off x="761970" y="3630534"/>
            <a:ext cx="4975250" cy="0"/>
          </a:xfrm>
          <a:prstGeom prst="line">
            <a:avLst/>
          </a:prstGeom>
          <a:noFill/>
          <a:ln w="6350">
            <a:solidFill>
              <a:srgbClr val="E8DED6"/>
            </a:solidFill>
            <a:prstDash val="solid"/>
          </a:ln>
        </p:spPr>
      </p:sp>
      <p:sp>
        <p:nvSpPr>
          <p:cNvPr id="13" name="Text 11"/>
          <p:cNvSpPr txBox="1"/>
          <p:nvPr/>
        </p:nvSpPr>
        <p:spPr>
          <a:xfrm>
            <a:off x="761970" y="3697194"/>
            <a:ext cx="4975250" cy="485821"/>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Your first final-year batch, loaded by us</a:t>
            </a:r>
            <a:endParaRPr lang="en-US" sz="1250" dirty="0"/>
          </a:p>
        </p:txBody>
      </p:sp>
      <p:sp>
        <p:nvSpPr>
          <p:cNvPr id="14" name="Text 12"/>
          <p:cNvSpPr txBox="1"/>
          <p:nvPr/>
        </p:nvSpPr>
        <p:spPr>
          <a:xfrm>
            <a:off x="761970" y="3973434"/>
            <a:ext cx="2169688"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Import tool: coming next</a:t>
            </a:r>
            <a:endParaRPr lang="en-US" sz="900" dirty="0"/>
          </a:p>
        </p:txBody>
      </p:sp>
      <p:sp>
        <p:nvSpPr>
          <p:cNvPr id="15" name="Shape 13"/>
          <p:cNvSpPr/>
          <p:nvPr/>
        </p:nvSpPr>
        <p:spPr>
          <a:xfrm>
            <a:off x="6096030" y="1836664"/>
            <a:ext cx="0" cy="2587661"/>
          </a:xfrm>
          <a:prstGeom prst="line">
            <a:avLst/>
          </a:prstGeom>
          <a:noFill/>
          <a:ln w="6350">
            <a:solidFill>
              <a:srgbClr val="E8DED6"/>
            </a:solidFill>
            <a:prstDash val="solid"/>
          </a:ln>
        </p:spPr>
      </p:sp>
      <p:sp>
        <p:nvSpPr>
          <p:cNvPr id="16" name="Text 14"/>
          <p:cNvSpPr txBox="1"/>
          <p:nvPr/>
        </p:nvSpPr>
        <p:spPr>
          <a:xfrm>
            <a:off x="6454750" y="2001713"/>
            <a:ext cx="4975250" cy="184160"/>
          </a:xfrm>
          <a:prstGeom prst="rect">
            <a:avLst/>
          </a:prstGeom>
          <a:noFill/>
          <a:ln/>
        </p:spPr>
        <p:txBody>
          <a:bodyPr wrap="none" lIns="0" tIns="0" rIns="0" bIns="0" rtlCol="0" anchor="t"/>
          <a:lstStyle/>
          <a:p>
            <a:pPr algn="l" indent="0" marL="0">
              <a:lnSpc>
                <a:spcPts val="1320"/>
              </a:lnSpc>
              <a:buNone/>
            </a:pPr>
            <a:r>
              <a:rPr lang="en-IN" altLang="en-US" cap="all" sz="1100" spc="198" kern="0" dirty="0">
                <a:solidFill>
                  <a:srgbClr val="54455C"/>
                </a:solidFill>
                <a:latin typeface="Consolas" pitchFamily="34" charset="0"/>
                <a:ea typeface="Consolas" pitchFamily="34" charset="-122"/>
                <a:cs typeface="Consolas" pitchFamily="34" charset="-120"/>
              </a:rPr>
              <a:t>Subscription · every year, per college</a:t>
            </a:r>
            <a:endParaRPr lang="en-US" sz="1100" dirty="0"/>
          </a:p>
        </p:txBody>
      </p:sp>
      <p:sp>
        <p:nvSpPr>
          <p:cNvPr id="17" name="Text 15"/>
          <p:cNvSpPr txBox="1"/>
          <p:nvPr/>
        </p:nvSpPr>
        <p:spPr>
          <a:xfrm>
            <a:off x="6454750" y="2287463"/>
            <a:ext cx="4975250" cy="457200"/>
          </a:xfrm>
          <a:prstGeom prst="rect">
            <a:avLst/>
          </a:prstGeom>
          <a:noFill/>
          <a:ln/>
        </p:spPr>
        <p:txBody>
          <a:bodyPr wrap="none" lIns="0" tIns="0" rIns="0" bIns="0" rtlCol="0" anchor="t"/>
          <a:lstStyle/>
          <a:p>
            <a:pPr algn="l" indent="0" marL="0">
              <a:lnSpc>
                <a:spcPts val="3600"/>
              </a:lnSpc>
              <a:buNone/>
            </a:pPr>
            <a:r>
              <a:rPr lang="en-IN" altLang="en-US" sz="3600" b="1" spc="-59" kern="0" dirty="0">
                <a:solidFill>
                  <a:srgbClr val="9E2A4B"/>
                </a:solidFill>
                <a:latin typeface="+mj-lt" pitchFamily="34" charset="0"/>
                <a:ea typeface="+mj-ea" pitchFamily="34" charset="-122"/>
                <a:cs typeface="+mj-cs" pitchFamily="34" charset="-120"/>
              </a:rPr>
              <a:t>₹ ______</a:t>
            </a:r>
            <a:endParaRPr lang="en-US" sz="3600" dirty="0"/>
          </a:p>
        </p:txBody>
      </p:sp>
      <p:sp>
        <p:nvSpPr>
          <p:cNvPr id="18" name="Shape 16"/>
          <p:cNvSpPr/>
          <p:nvPr/>
        </p:nvSpPr>
        <p:spPr>
          <a:xfrm>
            <a:off x="6454750" y="2887584"/>
            <a:ext cx="4975250" cy="0"/>
          </a:xfrm>
          <a:prstGeom prst="line">
            <a:avLst/>
          </a:prstGeom>
          <a:noFill/>
          <a:ln w="6350">
            <a:solidFill>
              <a:srgbClr val="E8DED6"/>
            </a:solidFill>
            <a:prstDash val="solid"/>
          </a:ln>
        </p:spPr>
      </p:sp>
      <p:sp>
        <p:nvSpPr>
          <p:cNvPr id="19" name="Text 17"/>
          <p:cNvSpPr txBox="1"/>
          <p:nvPr/>
        </p:nvSpPr>
        <p:spPr>
          <a:xfrm>
            <a:off x="6454750" y="2954244"/>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The portal for your college</a:t>
            </a:r>
            <a:endParaRPr lang="en-US" sz="1250" dirty="0"/>
          </a:p>
        </p:txBody>
      </p:sp>
      <p:sp>
        <p:nvSpPr>
          <p:cNvPr id="20" name="Shape 18"/>
          <p:cNvSpPr/>
          <p:nvPr/>
        </p:nvSpPr>
        <p:spPr>
          <a:xfrm>
            <a:off x="6454750" y="3259013"/>
            <a:ext cx="4975250" cy="0"/>
          </a:xfrm>
          <a:prstGeom prst="line">
            <a:avLst/>
          </a:prstGeom>
          <a:noFill/>
          <a:ln w="6350">
            <a:solidFill>
              <a:srgbClr val="E8DED6"/>
            </a:solidFill>
            <a:prstDash val="solid"/>
          </a:ln>
        </p:spPr>
      </p:sp>
      <p:sp>
        <p:nvSpPr>
          <p:cNvPr id="21" name="Text 19"/>
          <p:cNvSpPr txBox="1"/>
          <p:nvPr/>
        </p:nvSpPr>
        <p:spPr>
          <a:xfrm>
            <a:off x="6454750" y="3325673"/>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Every update to it</a:t>
            </a:r>
            <a:endParaRPr lang="en-US" sz="1250" dirty="0"/>
          </a:p>
        </p:txBody>
      </p:sp>
      <p:sp>
        <p:nvSpPr>
          <p:cNvPr id="22" name="Shape 20"/>
          <p:cNvSpPr/>
          <p:nvPr/>
        </p:nvSpPr>
        <p:spPr>
          <a:xfrm>
            <a:off x="6454750" y="3630534"/>
            <a:ext cx="4975250" cy="0"/>
          </a:xfrm>
          <a:prstGeom prst="line">
            <a:avLst/>
          </a:prstGeom>
          <a:noFill/>
          <a:ln w="6350">
            <a:solidFill>
              <a:srgbClr val="E8DED6"/>
            </a:solidFill>
            <a:prstDash val="solid"/>
          </a:ln>
        </p:spPr>
      </p:sp>
      <p:sp>
        <p:nvSpPr>
          <p:cNvPr id="23" name="Text 21"/>
          <p:cNvSpPr txBox="1"/>
          <p:nvPr/>
        </p:nvSpPr>
        <p:spPr>
          <a:xfrm>
            <a:off x="6454750" y="3697194"/>
            <a:ext cx="4975250" cy="225400"/>
          </a:xfrm>
          <a:prstGeom prst="rect">
            <a:avLst/>
          </a:prstGeom>
          <a:noFill/>
          <a:ln/>
        </p:spPr>
        <p:txBody>
          <a:bodyPr wrap="none" lIns="0" tIns="0" rIns="0" bIns="0" rtlCol="0" anchor="t"/>
          <a:lstStyle/>
          <a:p>
            <a:pPr algn="l" indent="0" marL="0">
              <a:lnSpc>
                <a:spcPts val="1775"/>
              </a:lnSpc>
              <a:buNone/>
            </a:pPr>
            <a:r>
              <a:rPr lang="en-IN" altLang="en-US" sz="1250" dirty="0">
                <a:solidFill>
                  <a:srgbClr val="54455C"/>
                </a:solidFill>
                <a:latin typeface="+mn-lt" pitchFamily="34" charset="0"/>
                <a:ea typeface="+mn-ea" pitchFamily="34" charset="-122"/>
                <a:cs typeface="+mn-cs" pitchFamily="34" charset="-120"/>
              </a:rPr>
              <a:t>Support for your alumni cell and placement cell</a:t>
            </a:r>
            <a:endParaRPr lang="en-US" sz="1250" dirty="0"/>
          </a:p>
        </p:txBody>
      </p:sp>
      <p:sp>
        <p:nvSpPr>
          <p:cNvPr id="24" name="Shape 22"/>
          <p:cNvSpPr/>
          <p:nvPr/>
        </p:nvSpPr>
        <p:spPr>
          <a:xfrm>
            <a:off x="771571" y="4637745"/>
            <a:ext cx="0" cy="230154"/>
          </a:xfrm>
          <a:prstGeom prst="line">
            <a:avLst/>
          </a:prstGeom>
          <a:noFill/>
          <a:ln w="19050">
            <a:solidFill>
              <a:srgbClr val="C2856A"/>
            </a:solidFill>
            <a:prstDash val="solid"/>
          </a:ln>
        </p:spPr>
      </p:sp>
      <p:sp>
        <p:nvSpPr>
          <p:cNvPr id="25" name="Text 23"/>
          <p:cNvSpPr txBox="1"/>
          <p:nvPr/>
        </p:nvSpPr>
        <p:spPr>
          <a:xfrm>
            <a:off x="920709" y="4637745"/>
            <a:ext cx="10509291" cy="230154"/>
          </a:xfrm>
          <a:prstGeom prst="rect">
            <a:avLst/>
          </a:prstGeom>
          <a:noFill/>
          <a:ln/>
        </p:spPr>
        <p:txBody>
          <a:bodyPr wrap="none" lIns="0" tIns="0" rIns="0" bIns="0" rtlCol="0" anchor="t"/>
          <a:lstStyle/>
          <a:p>
            <a:pPr algn="l" indent="0" marL="0">
              <a:lnSpc>
                <a:spcPts val="1813"/>
              </a:lnSpc>
              <a:buNone/>
            </a:pPr>
            <a:r>
              <a:rPr lang="en-IN" altLang="en-US" sz="1250" b="1" dirty="0">
                <a:solidFill>
                  <a:srgbClr val="2A1830"/>
                </a:solidFill>
                <a:latin typeface="+mn-lt" pitchFamily="34" charset="0"/>
                <a:ea typeface="+mn-ea" pitchFamily="34" charset="-122"/>
                <a:cs typeface="+mn-cs" pitchFamily="34" charset="-120"/>
              </a:rPr>
              <a:t>Quoted for your college.</a:t>
            </a:r>
            <a:pPr algn="l" indent="0" marL="0">
              <a:lnSpc>
                <a:spcPts val="1813"/>
              </a:lnSpc>
              <a:buNone/>
            </a:pPr>
            <a:r>
              <a:rPr lang="en-IN" altLang="en-US" sz="1250" dirty="0">
                <a:solidFill>
                  <a:srgbClr val="54455C"/>
                </a:solidFill>
                <a:latin typeface="+mn-lt" pitchFamily="34" charset="0"/>
                <a:ea typeface="+mn-ea" pitchFamily="34" charset="-122"/>
                <a:cs typeface="+mn-cs" pitchFamily="34" charset="-120"/>
              </a:rPr>
              <a:t> The numbers depend on its size and how it is hosted.</a:t>
            </a:r>
            <a:endParaRPr lang="en-US" sz="1250" dirty="0"/>
          </a:p>
        </p:txBody>
      </p:sp>
      <p:sp>
        <p:nvSpPr>
          <p:cNvPr id="26" name="Shape 24"/>
          <p:cNvSpPr/>
          <p:nvPr/>
        </p:nvSpPr>
        <p:spPr>
          <a:xfrm>
            <a:off x="771571" y="4982291"/>
            <a:ext cx="0" cy="722285"/>
          </a:xfrm>
          <a:prstGeom prst="line">
            <a:avLst/>
          </a:prstGeom>
          <a:noFill/>
          <a:ln w="19050">
            <a:solidFill>
              <a:srgbClr val="C2856A"/>
            </a:solidFill>
            <a:prstDash val="solid"/>
          </a:ln>
        </p:spPr>
      </p:sp>
      <p:sp>
        <p:nvSpPr>
          <p:cNvPr id="27" name="Text 25"/>
          <p:cNvSpPr txBox="1"/>
          <p:nvPr/>
        </p:nvSpPr>
        <p:spPr>
          <a:xfrm>
            <a:off x="920709" y="4982291"/>
            <a:ext cx="10890230" cy="722285"/>
          </a:xfrm>
          <a:prstGeom prst="rect">
            <a:avLst/>
          </a:prstGeom>
          <a:noFill/>
          <a:ln/>
        </p:spPr>
        <p:txBody>
          <a:bodyPr wrap="square" lIns="0" tIns="0" rIns="0" bIns="0" rtlCol="0" anchor="t"/>
          <a:lstStyle/>
          <a:p>
            <a:pPr algn="l" indent="0" marL="0">
              <a:lnSpc>
                <a:spcPts val="1813"/>
              </a:lnSpc>
              <a:buNone/>
            </a:pPr>
            <a:r>
              <a:rPr lang="en-IN" altLang="en-US" sz="1250" b="1" dirty="0">
                <a:solidFill>
                  <a:srgbClr val="2A1830"/>
                </a:solidFill>
                <a:latin typeface="+mn-lt" pitchFamily="34" charset="0"/>
                <a:ea typeface="+mn-ea" pitchFamily="34" charset="-122"/>
                <a:cs typeface="+mn-cs" pitchFamily="34" charset="-120"/>
              </a:rPr>
              <a:t>If you stop, your members stay yours.</a:t>
            </a:r>
            <a:pPr algn="l" indent="0" marL="0">
              <a:lnSpc>
                <a:spcPts val="1813"/>
              </a:lnSpc>
              <a:buNone/>
            </a:pPr>
            <a:r>
              <a:rPr lang="en-IN" altLang="en-US" sz="1250" dirty="0">
                <a:solidFill>
                  <a:srgbClr val="54455C"/>
                </a:solidFill>
                <a:latin typeface="+mn-lt" pitchFamily="34" charset="0"/>
                <a:ea typeface="+mn-ea" pitchFamily="34" charset="-122"/>
                <a:cs typeface="+mn-cs" pitchFamily="34" charset="-120"/>
              </a:rPr>
              <a:t> Your college administrator can export the member list, with contact details, at any time, and every export is logged. What we hand over when a subscription ends is agreed before you sign.</a:t>
            </a:r>
            <a:endParaRPr lang="en-US" sz="1250" dirty="0"/>
          </a:p>
        </p:txBody>
      </p:sp>
      <p:sp>
        <p:nvSpPr>
          <p:cNvPr id="28" name="Text 26"/>
          <p:cNvSpPr txBox="1"/>
          <p:nvPr/>
        </p:nvSpPr>
        <p:spPr>
          <a:xfrm>
            <a:off x="920709" y="5493441"/>
            <a:ext cx="985540" cy="209580"/>
          </a:xfrm>
          <a:prstGeom prst="rect">
            <a:avLst/>
          </a:prstGeom>
          <a:noFill/>
          <a:ln w="6350">
            <a:solidFill>
              <a:srgbClr val="54455C"/>
            </a:solidFill>
          </a:ln>
        </p:spPr>
        <p:txBody>
          <a:bodyPr wrap="none" lIns="63500" tIns="44450" rIns="63500" bIns="38100" rtlCol="0" anchor="ctr"/>
          <a:lstStyle/>
          <a:p>
            <a:pPr algn="ctr" indent="0" marL="0">
              <a:buNone/>
            </a:pPr>
            <a:r>
              <a:rPr lang="en-IN" altLang="en-US" cap="all" sz="900" spc="126" kern="0" dirty="0">
                <a:solidFill>
                  <a:srgbClr val="54455C"/>
                </a:solidFill>
                <a:latin typeface="Consolas" pitchFamily="34" charset="0"/>
                <a:ea typeface="Consolas" pitchFamily="34" charset="-122"/>
                <a:cs typeface="Consolas" pitchFamily="34" charset="-120"/>
              </a:rPr>
              <a:t>To discuss</a:t>
            </a:r>
            <a:endParaRPr lang="en-US" sz="900" dirty="0"/>
          </a:p>
        </p:txBody>
      </p:sp>
      <p:sp>
        <p:nvSpPr>
          <p:cNvPr id="29" name="Shape 27"/>
          <p:cNvSpPr/>
          <p:nvPr/>
        </p:nvSpPr>
        <p:spPr>
          <a:xfrm>
            <a:off x="761970" y="5915071"/>
            <a:ext cx="10668030" cy="0"/>
          </a:xfrm>
          <a:prstGeom prst="line">
            <a:avLst/>
          </a:prstGeom>
          <a:noFill/>
          <a:ln w="6350">
            <a:solidFill>
              <a:srgbClr val="E8DED6"/>
            </a:solidFill>
            <a:prstDash val="solid"/>
          </a:ln>
        </p:spPr>
      </p:sp>
      <p:pic>
        <p:nvPicPr>
          <p:cNvPr id="30" name="Image 0" descr="ifBash">    </p:cNvPr>
          <p:cNvPicPr>
            <a:picLocks noChangeAspect="1"/>
          </p:cNvPicPr>
          <p:nvPr/>
        </p:nvPicPr>
        <p:blipFill>
          <a:blip r:embed="rId1"/>
          <a:stretch>
            <a:fillRect/>
          </a:stretch>
        </p:blipFill>
        <p:spPr>
          <a:xfrm>
            <a:off x="761970" y="6045190"/>
            <a:ext cx="254020" cy="254020"/>
          </a:xfrm>
          <a:prstGeom prst="rect">
            <a:avLst/>
          </a:prstGeom>
        </p:spPr>
      </p:pic>
      <p:sp>
        <p:nvSpPr>
          <p:cNvPr id="31" name="Text 28"/>
          <p:cNvSpPr txBox="1"/>
          <p:nvPr/>
        </p:nvSpPr>
        <p:spPr>
          <a:xfrm>
            <a:off x="11262299" y="6080120"/>
            <a:ext cx="254020" cy="184160"/>
          </a:xfrm>
          <a:prstGeom prst="rect">
            <a:avLst/>
          </a:prstGeom>
          <a:noFill/>
          <a:ln/>
        </p:spPr>
        <p:txBody>
          <a:bodyPr wrap="none" lIns="0" tIns="0" rIns="0" bIns="0" rtlCol="0" anchor="t"/>
          <a:lstStyle/>
          <a:p>
            <a:pPr algn="l" indent="0" marL="0">
              <a:lnSpc>
                <a:spcPts val="1320"/>
              </a:lnSpc>
              <a:buNone/>
            </a:pPr>
            <a:r>
              <a:rPr lang="en-IN" altLang="en-US" sz="1100" dirty="0">
                <a:solidFill>
                  <a:srgbClr val="54455C"/>
                </a:solidFill>
                <a:latin typeface="Consolas" pitchFamily="34" charset="0"/>
                <a:ea typeface="Consolas" pitchFamily="34" charset="-122"/>
                <a:cs typeface="Consola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132A"/>
        </a:solidFill>
      </p:bgPr>
    </p:bg>
    <p:spTree>
      <p:nvGrpSpPr>
        <p:cNvPr id="1" name=""/>
        <p:cNvGrpSpPr/>
        <p:nvPr/>
      </p:nvGrpSpPr>
      <p:grpSpPr>
        <a:xfrm>
          <a:off x="0" y="0"/>
          <a:ext cx="0" cy="0"/>
          <a:chOff x="0" y="0"/>
          <a:chExt cx="0" cy="0"/>
        </a:xfrm>
      </p:grpSpPr>
      <p:pic>
        <p:nvPicPr>
          <p:cNvPr id="2" name="Image 0" descr="ifBash">    </p:cNvPr>
          <p:cNvPicPr>
            <a:picLocks noChangeAspect="1"/>
          </p:cNvPicPr>
          <p:nvPr/>
        </p:nvPicPr>
        <p:blipFill>
          <a:blip r:embed="rId1"/>
          <a:stretch>
            <a:fillRect/>
          </a:stretch>
        </p:blipFill>
        <p:spPr>
          <a:xfrm>
            <a:off x="825520" y="761970"/>
            <a:ext cx="1777959" cy="529803"/>
          </a:xfrm>
          <a:prstGeom prst="rect">
            <a:avLst/>
          </a:prstGeom>
        </p:spPr>
      </p:pic>
      <p:sp>
        <p:nvSpPr>
          <p:cNvPr id="3" name="Text 0"/>
          <p:cNvSpPr txBox="1"/>
          <p:nvPr/>
        </p:nvSpPr>
        <p:spPr>
          <a:xfrm>
            <a:off x="825520" y="1722912"/>
            <a:ext cx="10541020" cy="215890"/>
          </a:xfrm>
          <a:prstGeom prst="rect">
            <a:avLst/>
          </a:prstGeom>
          <a:noFill/>
          <a:ln/>
        </p:spPr>
        <p:txBody>
          <a:bodyPr wrap="none" lIns="0" tIns="0" rIns="0" bIns="0" rtlCol="0" anchor="t"/>
          <a:lstStyle/>
          <a:p>
            <a:pPr algn="l" indent="0" marL="0">
              <a:lnSpc>
                <a:spcPts val="1560"/>
              </a:lnSpc>
              <a:buNone/>
            </a:pPr>
            <a:r>
              <a:rPr lang="en-IN" altLang="en-US" cap="all" sz="1300" spc="312" kern="0" dirty="0">
                <a:solidFill>
                  <a:srgbClr val="E88AA3"/>
                </a:solidFill>
                <a:latin typeface="Consolas" pitchFamily="34" charset="0"/>
                <a:ea typeface="Consolas" pitchFamily="34" charset="-122"/>
                <a:cs typeface="Consolas" pitchFamily="34" charset="-120"/>
              </a:rPr>
              <a:t>Next step</a:t>
            </a:r>
            <a:endParaRPr lang="en-US" sz="1300" dirty="0"/>
          </a:p>
        </p:txBody>
      </p:sp>
      <p:sp>
        <p:nvSpPr>
          <p:cNvPr id="4" name="Text 1"/>
          <p:cNvSpPr txBox="1"/>
          <p:nvPr/>
        </p:nvSpPr>
        <p:spPr>
          <a:xfrm>
            <a:off x="825520" y="2154692"/>
            <a:ext cx="8990289" cy="1270010"/>
          </a:xfrm>
          <a:prstGeom prst="rect">
            <a:avLst/>
          </a:prstGeom>
          <a:noFill/>
          <a:ln/>
        </p:spPr>
        <p:txBody>
          <a:bodyPr wrap="square" lIns="0" tIns="0" rIns="0" bIns="0" rtlCol="0" anchor="t"/>
          <a:lstStyle/>
          <a:p>
            <a:pPr algn="l" indent="0" marL="0">
              <a:lnSpc>
                <a:spcPts val="5000"/>
              </a:lnSpc>
              <a:buNone/>
            </a:pPr>
            <a:r>
              <a:rPr lang="en-IN" altLang="en-US" sz="5000" b="1" spc="-126" kern="0" dirty="0">
                <a:solidFill>
                  <a:srgbClr val="FBF8F4"/>
                </a:solidFill>
                <a:latin typeface="+mj-lt" pitchFamily="34" charset="0"/>
                <a:ea typeface="+mj-ea" pitchFamily="34" charset="-122"/>
                <a:cs typeface="+mj-cs" pitchFamily="34" charset="-120"/>
              </a:rPr>
              <a:t>See the portal in your college’s colours.</a:t>
            </a:r>
            <a:endParaRPr lang="en-US" sz="5000" dirty="0"/>
          </a:p>
        </p:txBody>
      </p:sp>
      <p:sp>
        <p:nvSpPr>
          <p:cNvPr id="5" name="Text 2"/>
          <p:cNvSpPr txBox="1"/>
          <p:nvPr/>
        </p:nvSpPr>
        <p:spPr>
          <a:xfrm>
            <a:off x="825520" y="3640592"/>
            <a:ext cx="6310274" cy="944758"/>
          </a:xfrm>
          <a:prstGeom prst="rect">
            <a:avLst/>
          </a:prstGeom>
          <a:noFill/>
          <a:ln/>
        </p:spPr>
        <p:txBody>
          <a:bodyPr wrap="square" lIns="0" tIns="0" rIns="0" bIns="0" rtlCol="0" anchor="t"/>
          <a:lstStyle/>
          <a:p>
            <a:pPr algn="l" indent="0" marL="0">
              <a:lnSpc>
                <a:spcPts val="2480"/>
              </a:lnSpc>
              <a:buNone/>
            </a:pPr>
            <a:r>
              <a:rPr lang="en-IN" altLang="en-US" sz="1600" dirty="0">
                <a:solidFill>
                  <a:srgbClr val="A9B0B8"/>
                </a:solidFill>
                <a:latin typeface="+mn-lt" pitchFamily="34" charset="0"/>
                <a:ea typeface="+mn-ea" pitchFamily="34" charset="-122"/>
                <a:cs typeface="+mn-cs" pitchFamily="34" charset="-120"/>
              </a:rPr>
              <a:t>Send us your college’s name, crest and colours. We will write its brand file and show you your own portal on the call. In the meantime, ask your examinations branch for the degree register.</a:t>
            </a:r>
            <a:endParaRPr lang="en-US" sz="1600" dirty="0"/>
          </a:p>
        </p:txBody>
      </p:sp>
      <p:sp>
        <p:nvSpPr>
          <p:cNvPr id="6" name="Text 3"/>
          <p:cNvSpPr txBox="1"/>
          <p:nvPr/>
        </p:nvSpPr>
        <p:spPr>
          <a:xfrm>
            <a:off x="825520" y="4839371"/>
            <a:ext cx="2075414" cy="495330"/>
          </a:xfrm>
          <a:prstGeom prst="rect">
            <a:avLst/>
          </a:prstGeom>
          <a:solidFill>
            <a:srgbClr val="F2865A"/>
          </a:solidFill>
          <a:ln/>
        </p:spPr>
        <p:txBody>
          <a:bodyPr wrap="none" lIns="215900" tIns="152400" rIns="215900" bIns="152400" rtlCol="0" anchor="ctr"/>
          <a:lstStyle/>
          <a:p>
            <a:pPr algn="ctr" indent="0" marL="0">
              <a:buNone/>
            </a:pPr>
            <a:r>
              <a:rPr lang="en-IN" altLang="en-US" sz="1500" b="1" dirty="0">
                <a:solidFill>
                  <a:srgbClr val="2A1830"/>
                </a:solidFill>
                <a:latin typeface="+mn-lt" pitchFamily="34" charset="0"/>
                <a:ea typeface="+mn-ea" pitchFamily="34" charset="-122"/>
                <a:cs typeface="+mn-cs" pitchFamily="34" charset="-120"/>
              </a:rPr>
              <a:t>Request a demo →</a:t>
            </a:r>
            <a:endParaRPr lang="en-US" sz="1500" dirty="0"/>
          </a:p>
        </p:txBody>
      </p:sp>
      <p:sp>
        <p:nvSpPr>
          <p:cNvPr id="7" name="Text 4"/>
          <p:cNvSpPr txBox="1"/>
          <p:nvPr/>
        </p:nvSpPr>
        <p:spPr>
          <a:xfrm>
            <a:off x="3154954" y="4979091"/>
            <a:ext cx="3159984" cy="215890"/>
          </a:xfrm>
          <a:prstGeom prst="rect">
            <a:avLst/>
          </a:prstGeom>
          <a:noFill/>
          <a:ln/>
        </p:spPr>
        <p:txBody>
          <a:bodyPr wrap="none" lIns="0" tIns="0" rIns="0" bIns="0" rtlCol="0" anchor="t"/>
          <a:lstStyle/>
          <a:p>
            <a:pPr algn="l" indent="0" marL="0">
              <a:lnSpc>
                <a:spcPts val="1560"/>
              </a:lnSpc>
              <a:buNone/>
            </a:pPr>
            <a:r>
              <a:rPr lang="en-IN" altLang="en-US" sz="1300" spc="78" kern="0" dirty="0">
                <a:solidFill>
                  <a:srgbClr val="FBF8F4"/>
                </a:solidFill>
                <a:latin typeface="Consolas" pitchFamily="34" charset="0"/>
                <a:ea typeface="Consolas" pitchFamily="34" charset="-122"/>
                <a:cs typeface="Consolas" pitchFamily="34" charset="-120"/>
              </a:rPr>
              <a:t>hello@ifbash.com · ifbash.com</a:t>
            </a:r>
            <a:endParaRPr lang="en-US" sz="1300" dirty="0"/>
          </a:p>
        </p:txBody>
      </p:sp>
      <p:sp>
        <p:nvSpPr>
          <p:cNvPr id="8" name="Shape 5"/>
          <p:cNvSpPr/>
          <p:nvPr/>
        </p:nvSpPr>
        <p:spPr>
          <a:xfrm>
            <a:off x="825520" y="5768950"/>
            <a:ext cx="10541020" cy="0"/>
          </a:xfrm>
          <a:prstGeom prst="line">
            <a:avLst/>
          </a:prstGeom>
          <a:noFill/>
          <a:ln w="6350">
            <a:solidFill>
              <a:srgbClr val="3A2842"/>
            </a:solidFill>
            <a:prstDash val="solid"/>
          </a:ln>
        </p:spPr>
      </p:sp>
      <p:sp>
        <p:nvSpPr>
          <p:cNvPr id="9" name="Text 6"/>
          <p:cNvSpPr txBox="1"/>
          <p:nvPr/>
        </p:nvSpPr>
        <p:spPr>
          <a:xfrm>
            <a:off x="825520" y="5975330"/>
            <a:ext cx="3503706" cy="184160"/>
          </a:xfrm>
          <a:prstGeom prst="rect">
            <a:avLst/>
          </a:prstGeom>
          <a:noFill/>
          <a:ln/>
        </p:spPr>
        <p:txBody>
          <a:bodyPr wrap="none" lIns="0" tIns="0" rIns="0" bIns="0" rtlCol="0" anchor="t"/>
          <a:lstStyle/>
          <a:p>
            <a:pPr algn="l" indent="0" marL="0">
              <a:lnSpc>
                <a:spcPts val="1320"/>
              </a:lnSpc>
              <a:buNone/>
            </a:pPr>
            <a:r>
              <a:rPr lang="en-IN" altLang="en-US" cap="all" sz="1100" spc="176" kern="0" dirty="0">
                <a:solidFill>
                  <a:srgbClr val="A9B0B8"/>
                </a:solidFill>
                <a:latin typeface="Consolas" pitchFamily="34" charset="0"/>
                <a:ea typeface="Consolas" pitchFamily="34" charset="-122"/>
                <a:cs typeface="Consolas" pitchFamily="34" charset="-120"/>
              </a:rPr>
              <a:t>[Presenter, role] · [DD Mon YYYY]</a:t>
            </a:r>
            <a:endParaRPr lang="en-US" sz="1100" dirty="0"/>
          </a:p>
        </p:txBody>
      </p:sp>
      <p:sp>
        <p:nvSpPr>
          <p:cNvPr id="10" name="Text 7"/>
          <p:cNvSpPr txBox="1"/>
          <p:nvPr/>
        </p:nvSpPr>
        <p:spPr>
          <a:xfrm>
            <a:off x="10304739" y="5975330"/>
            <a:ext cx="1061710" cy="184160"/>
          </a:xfrm>
          <a:prstGeom prst="rect">
            <a:avLst/>
          </a:prstGeom>
          <a:noFill/>
          <a:ln/>
        </p:spPr>
        <p:txBody>
          <a:bodyPr wrap="none" lIns="0" tIns="0" rIns="0" bIns="0" rtlCol="0" anchor="t"/>
          <a:lstStyle/>
          <a:p>
            <a:pPr algn="l" indent="0" marL="0">
              <a:lnSpc>
                <a:spcPts val="1320"/>
              </a:lnSpc>
              <a:buNone/>
            </a:pPr>
            <a:r>
              <a:rPr lang="en-IN" altLang="en-US" cap="all" sz="1100" spc="176" kern="0" dirty="0">
                <a:solidFill>
                  <a:srgbClr val="A9B0B8"/>
                </a:solidFill>
                <a:latin typeface="Consolas" pitchFamily="34" charset="0"/>
                <a:ea typeface="Consolas" pitchFamily="34" charset="-122"/>
                <a:cs typeface="Consolas" pitchFamily="34" charset="-120"/>
              </a:rPr>
              <a:t>ifbash.com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ifBash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Alumni portal</dc:title>
  <dc:subject>Alumni portal for Indian engineering colleges</dc:subject>
  <dc:creator>ifBash</dc:creator>
  <cp:lastModifiedBy>ifBash</cp:lastModifiedBy>
  <cp:revision>1</cp:revision>
  <dcterms:created xsi:type="dcterms:W3CDTF">2026-09-29T01:35:32Z</dcterms:created>
  <dcterms:modified xsi:type="dcterms:W3CDTF">2026-09-29T01:35:32Z</dcterms:modified>
</cp:coreProperties>
</file>